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Budget (₦m)</c:v>
                </c:pt>
              </c:strCache>
            </c:strRef>
          </c:tx>
          <c:dPt>
            <c:idx val="0"/>
            <c:spPr>
              <a:solidFill>
                <a:srgbClr val="00A86B"/>
              </a:solidFill>
            </c:spPr>
          </c:dPt>
          <c:dPt>
            <c:idx val="1"/>
            <c:spPr>
              <a:solidFill>
                <a:srgbClr val="0B1F3A"/>
              </a:solidFill>
            </c:spPr>
          </c:dPt>
          <c:dPt>
            <c:idx val="2"/>
            <c:spPr>
              <a:solidFill>
                <a:srgbClr val="5FD3A3"/>
              </a:solidFill>
            </c:spPr>
          </c:dPt>
          <c:dPt>
            <c:idx val="3"/>
            <c:spPr>
              <a:solidFill>
                <a:srgbClr val="F2B02E"/>
              </a:solidFill>
            </c:spPr>
          </c:dPt>
          <c:dPt>
            <c:idx val="4"/>
            <c:spPr>
              <a:solidFill>
                <a:srgbClr val="E86A5C"/>
              </a:solidFill>
            </c:spPr>
          </c:dPt>
          <c:dPt>
            <c:idx val="5"/>
            <c:spPr>
              <a:solidFill>
                <a:srgbClr val="122E52"/>
              </a:solidFill>
            </c:spPr>
          </c:dPt>
          <c:dPt>
            <c:idx val="6"/>
            <c:spPr>
              <a:solidFill>
                <a:srgbClr val="3D8B6E"/>
              </a:solidFill>
            </c:spPr>
          </c:dPt>
          <c:dPt>
            <c:idx val="7"/>
            <c:spPr>
              <a:solidFill>
                <a:srgbClr val="7A90A8"/>
              </a:solidFill>
            </c:spPr>
          </c:dPt>
          <c:dPt>
            <c:idx val="8"/>
            <c:spPr>
              <a:solidFill>
                <a:srgbClr val="C0CAC6"/>
              </a:solidFill>
            </c:spPr>
          </c:dPt>
          <c:cat>
            <c:strRef>
              <c:f>Sheet1!$A$2:$A$10</c:f>
              <c:strCache>
                <c:ptCount val="9"/>
                <c:pt idx="0">
                  <c:v>Referral rewards</c:v>
                </c:pt>
                <c:pt idx="1">
                  <c:v>Influencer marketing</c:v>
                </c:pt>
                <c:pt idx="2">
                  <c:v>Campus activations</c:v>
                </c:pt>
                <c:pt idx="3">
                  <c:v>TikTok ads</c:v>
                </c:pt>
                <c:pt idx="4">
                  <c:v>Instagram ads</c:v>
                </c:pt>
                <c:pt idx="5">
                  <c:v>Community marketing</c:v>
                </c:pt>
                <c:pt idx="6">
                  <c:v>X (Twitter)</c:v>
                </c:pt>
                <c:pt idx="7">
                  <c:v>PR &amp; media</c:v>
                </c:pt>
                <c:pt idx="8">
                  <c:v>OOH / offline</c:v>
                </c:pt>
              </c:strCache>
            </c:strRef>
          </c:cat>
          <c:val>
            <c:numRef>
              <c:f>Sheet1!$B$2:$B$10</c:f>
              <c:numCache>
                <c:formatCode>General</c:formatCode>
                <c:ptCount val="9"/>
                <c:pt idx="0">
                  <c:v>2.4</c:v>
                </c:pt>
                <c:pt idx="1">
                  <c:v>2.2</c:v>
                </c:pt>
                <c:pt idx="2">
                  <c:v>1.8</c:v>
                </c:pt>
                <c:pt idx="3">
                  <c:v>1.5</c:v>
                </c:pt>
                <c:pt idx="4">
                  <c:v>1.2</c:v>
                </c:pt>
                <c:pt idx="5">
                  <c:v>1.0</c:v>
                </c:pt>
                <c:pt idx="6">
                  <c:v>0.7</c:v>
                </c:pt>
                <c:pt idx="7">
                  <c:v>0.7</c:v>
                </c:pt>
                <c:pt idx="8">
                  <c:v>0.5</c:v>
                </c:pt>
              </c:numCache>
            </c:numRef>
          </c:val>
        </c:ser>
        <c:dLbls>
          <c:numFmt formatCode="0.0&quot;m&quot;" sourceLinked="0"/>
          <c:txPr>
            <a:bodyPr/>
            <a:lstStyle/>
            <a:p>
              <a:pPr>
                <a:defRPr sz="800" b="1">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Moni is a young Nigerian fintech with a strong product but a leaky funnel — 18% 30-day retention and a ₦4,200 CAC. This deck delivers a launch playbook to grow awareness, adoption, retention and trust while driving CAC down, all within the ₦12m budget.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whole deck here: acquisition isn't the bottleneck — 27% of beta users are weekly active, which is decent, but 82% churn by day 30. If we fix activation and retention first, every naira of acquisition spend works harder and CAC falls naturally. Targets are illustrative but grounded in realistic fintech benchmarks.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Moni as solving a behavioural problem, not just a feature gap. The market context numbers are illustrative but directionally accurate for Nigeria's youth-heavy, mobile-first fintech landscape. Key line: 18% retention is a fixable problem, and that's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USP must be repeatable in one breath: 'saves, reminds and rescues.' Competitors are point solutions — PiggyVest = savings vault, Opay = payments. Moni's wedge is the daily companion habit loop plus trust-first design. 'Why young Nigerians care': it removes money anxiety and rewards ambition.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claim Moni beats everyone on everything — that's not credible. Claim the white space: no competitor owns the integrated daily-companion + trust narrative. PiggyVest owns savings trust; Opay owns ubiquity. Moni must own habit + transparency for the irregular-income youth.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Segmentation by income pattern + life stage, not just demographics. Note the common thread: all four have IRREGULAR or CONSTRAINED income — that's Moni's unifying design principle and the reason 'flexible rules' beats rigid monthly debits.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2x2 makes the white-space argument visual and instantly memorable. X-axis = breadth (single job vs all-in-one companion); Y-axis = relationship depth (transactional vs trusted). Competitors cluster; the top-right corner is empty. Bubble placement is a strategic judgement, not precise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Tobi is the wedge user: high TikTok reach, refers friends, but extremely retention-fragile. Win Tobi with gamified, flexible, free, peer-driven design. He is also our cheapest acquisition channel — referrals — if the product is genuinely habit-forming.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Amaka is the value &amp; trust user — higher LTV, more skeptical, slower to convert. She validates the trust-first positioning and transparent-fee messaging. Tobi drives reach and referrals; Amaka drives revenue and credibility. The campaign must speak to both.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map exposes the single highest-leverage moment: ONBOARDING → FIRST SAVE. That is the activation cliff where most churn happens. The ₦500 instant-save bonus and sub-3-minute flow exist specifically to bridge it. Emotion row keeps us honest about how the user actually feels at each step.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AARRR / pirate-metrics funnel ties the whole strategy together: each stage has a tactic AND a measurable target from the metrics section. The narrowing shape visually argues the thesis — don't widen the top of a leaky funnel; fix activation and retention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Positioning follows the classic 'For/who/is/that/unlike' formula. Tagline 'Moni Don Set You' is culturally rooted, memorable, and works as a referral phrase. The trust angle is critical given sector scam anxiety — lead with insurance + fee transparency, proven by real receipts.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campaign converts a private, shameful problem (being broke) into a public, aspirational win (the glow-up). That's what makes it shareable. Note the referral mechanic only pays out on the referee's FIRST SAVE, not signup — this ties spend to activation, protecting CAC and filtering bonus-hunters.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Budget philosophy: paid ads rent attention and stop the moment you stop paying; referral, community and campus build owned, compounding assets that keep working. 61% goes to compounding/trust channels. All reach/outcome figures are illustrative planning estimates to be validated against early CAC data, then reallocated weekly toward winners.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the metrics as a funnel: CAC (acquire) → activation (first save) → retention/churn (habit) → DAU (engagement) → referral (compounding) → LTV:CAC (sustainability). Activation is the priority lever: fixing the first-save completion rate cascades into retention and lowers effective CAC. The 3:1 LTV:CAC rule is the standard for healthy fintech unit economics.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rigour: change one variable, pre-register the hypothesis and success threshold, run to 95% significance with adequate sample, avoid peeking. Each test names ONE primary KPI that decides the winner (guardrail metrics watched but not deciding). The referral test is highest-leverage because it directly attacks CAC. This is a continuous engine, not a one-off.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1 is about loud awareness + immediate activation (joining the challenge &amp; first save), with a deliberate trust beat on Friday to pre-empt scam skepticism. Mix of owned, influencer and community content so we're not reliant on paid reach alone.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2 shifts from awareness to conversion, referral and social proof. Thursday's referral push and Friday's receipts-based testimonials are the CAC-lowering and trust-building beats. Sunday closes the loop and recruits the next cohort — making the challenge evergreen.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directly answers the founders' core fear (users churn fast). The mechanism: reduce time-to-value (first save fast), then build habit via behavioural triggers (streaks, push, community), then convert habit to loyalty (referrals, perks). Each stage maps to a measured cohort in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plane: the strategy is coherent because every part serves one thesis — Moni doesn't have an acquisition problem, it has a retention &amp; trust problem, and fixing that is what makes acquisition cheap. Close with confidence on the targets.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778240" y="-2011680"/>
            <a:ext cx="5486400" cy="5486400"/>
          </a:xfrm>
          <a:prstGeom prst="ellipse">
            <a:avLst/>
          </a:prstGeom>
          <a:solidFill>
            <a:srgbClr val="1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058400" y="3291840"/>
            <a:ext cx="4572000" cy="4572000"/>
          </a:xfrm>
          <a:prstGeom prst="ellipse">
            <a:avLst/>
          </a:prstGeom>
          <a:solidFill>
            <a:srgbClr val="1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371600"/>
            <a:ext cx="146304" cy="2926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43000" y="1417320"/>
            <a:ext cx="1554480" cy="566928"/>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2400" b="1">
                <a:solidFill>
                  <a:srgbClr val="FFFFFF"/>
                </a:solidFill>
                <a:latin typeface="Calibri"/>
              </a:rPr>
              <a:t>moni</a:t>
            </a:r>
          </a:p>
        </p:txBody>
      </p:sp>
      <p:sp>
        <p:nvSpPr>
          <p:cNvPr id="8" name="TextBox 7"/>
          <p:cNvSpPr txBox="1"/>
          <p:nvPr/>
        </p:nvSpPr>
        <p:spPr>
          <a:xfrm>
            <a:off x="1143000" y="2331720"/>
            <a:ext cx="10058400" cy="2194560"/>
          </a:xfrm>
          <a:prstGeom prst="rect">
            <a:avLst/>
          </a:prstGeom>
          <a:noFill/>
        </p:spPr>
        <p:txBody>
          <a:bodyPr wrap="square" anchor="t" lIns="0" rIns="0" tIns="0" bIns="0">
            <a:spAutoFit/>
          </a:bodyPr>
          <a:lstStyle/>
          <a:p>
            <a:pPr algn="l">
              <a:lnSpc>
                <a:spcPct val="100000"/>
              </a:lnSpc>
              <a:spcBef>
                <a:spcPts val="0"/>
              </a:spcBef>
              <a:spcAft>
                <a:spcPts val="200"/>
              </a:spcAft>
            </a:pPr>
            <a:r>
              <a:rPr sz="4000" b="1" i="0">
                <a:solidFill>
                  <a:srgbClr val="FFFFFF"/>
                </a:solidFill>
                <a:latin typeface="Calibri"/>
              </a:rPr>
              <a:t>Launching a New Fintech Product</a:t>
            </a:r>
          </a:p>
          <a:p>
            <a:pPr algn="l">
              <a:lnSpc>
                <a:spcPct val="100000"/>
              </a:lnSpc>
              <a:spcBef>
                <a:spcPts val="0"/>
              </a:spcBef>
              <a:spcAft>
                <a:spcPts val="200"/>
              </a:spcAft>
            </a:pPr>
            <a:r>
              <a:rPr sz="4000" b="1" i="0">
                <a:solidFill>
                  <a:srgbClr val="5FD3A3"/>
                </a:solidFill>
                <a:latin typeface="Calibri"/>
              </a:rPr>
              <a:t>in Nigeria</a:t>
            </a:r>
          </a:p>
        </p:txBody>
      </p:sp>
      <p:sp>
        <p:nvSpPr>
          <p:cNvPr id="9" name="TextBox 8"/>
          <p:cNvSpPr txBox="1"/>
          <p:nvPr/>
        </p:nvSpPr>
        <p:spPr>
          <a:xfrm>
            <a:off x="1161288" y="4160520"/>
            <a:ext cx="10058400" cy="54864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D9E0DF"/>
                </a:solidFill>
                <a:latin typeface="Calibri"/>
              </a:rPr>
              <a:t>A Go-To-Market &amp; Product Marketing Strategy for Moni Microfinance App</a:t>
            </a:r>
          </a:p>
        </p:txBody>
      </p:sp>
      <p:sp>
        <p:nvSpPr>
          <p:cNvPr id="10" name="Rectangle 9"/>
          <p:cNvSpPr/>
          <p:nvPr/>
        </p:nvSpPr>
        <p:spPr>
          <a:xfrm>
            <a:off x="1161288" y="4892040"/>
            <a:ext cx="5669280" cy="18288"/>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61288" y="5074920"/>
            <a:ext cx="10058400" cy="1097280"/>
          </a:xfrm>
          <a:prstGeom prst="rect">
            <a:avLst/>
          </a:prstGeom>
          <a:noFill/>
        </p:spPr>
        <p:txBody>
          <a:bodyPr wrap="square" anchor="t" lIns="0" rIns="0" tIns="0" bIns="0">
            <a:spAutoFit/>
          </a:bodyPr>
          <a:lstStyle/>
          <a:p>
            <a:pPr algn="l">
              <a:lnSpc>
                <a:spcPct val="100000"/>
              </a:lnSpc>
              <a:spcBef>
                <a:spcPts val="0"/>
              </a:spcBef>
              <a:spcAft>
                <a:spcPts val="500"/>
              </a:spcAft>
            </a:pPr>
            <a:r>
              <a:rPr sz="1400" b="0" i="0">
                <a:solidFill>
                  <a:srgbClr val="D9E0DF"/>
                </a:solidFill>
                <a:latin typeface="Calibri"/>
              </a:rPr>
              <a:t>Prepared by:  </a:t>
            </a:r>
            <a:r>
              <a:rPr sz="1400" b="1" i="0">
                <a:solidFill>
                  <a:srgbClr val="FFFFFF"/>
                </a:solidFill>
                <a:latin typeface="Calibri"/>
              </a:rPr>
              <a:t>Samuel Oluwafemi Afariogun</a:t>
            </a:r>
          </a:p>
          <a:p>
            <a:pPr algn="l">
              <a:lnSpc>
                <a:spcPct val="100000"/>
              </a:lnSpc>
              <a:spcBef>
                <a:spcPts val="0"/>
              </a:spcBef>
              <a:spcAft>
                <a:spcPts val="500"/>
              </a:spcAft>
            </a:pPr>
            <a:r>
              <a:rPr sz="1400" b="0" i="0">
                <a:solidFill>
                  <a:srgbClr val="D9E0DF"/>
                </a:solidFill>
                <a:latin typeface="Calibri"/>
              </a:rPr>
              <a:t>Role:  </a:t>
            </a:r>
            <a:r>
              <a:rPr sz="1400" b="0" i="0">
                <a:solidFill>
                  <a:srgbClr val="FFFFFF"/>
                </a:solidFill>
                <a:latin typeface="Calibri"/>
              </a:rPr>
              <a:t>Product Marketing Consultant</a:t>
            </a:r>
          </a:p>
          <a:p>
            <a:pPr algn="l">
              <a:lnSpc>
                <a:spcPct val="100000"/>
              </a:lnSpc>
              <a:spcBef>
                <a:spcPts val="0"/>
              </a:spcBef>
              <a:spcAft>
                <a:spcPts val="500"/>
              </a:spcAft>
            </a:pPr>
            <a:r>
              <a:rPr sz="1250" b="0" i="0">
                <a:solidFill>
                  <a:srgbClr val="5FD3A3"/>
                </a:solidFill>
                <a:latin typeface="Calibri"/>
              </a:rPr>
              <a:t>AltSchool of Product Marketing, Karatu 2025  •  Third Semester Capstone (60 Marks)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CONTENTS</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What This Strategy Covers</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1</a:t>
            </a:r>
          </a:p>
        </p:txBody>
      </p:sp>
      <p:sp>
        <p:nvSpPr>
          <p:cNvPr id="9" name="Rounded Rectangle 8"/>
          <p:cNvSpPr/>
          <p:nvPr/>
        </p:nvSpPr>
        <p:spPr>
          <a:xfrm>
            <a:off x="640080" y="1600200"/>
            <a:ext cx="10927080" cy="86868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00200"/>
            <a:ext cx="146304" cy="8686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805940"/>
            <a:ext cx="566928" cy="4572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2000" b="1">
                <a:solidFill>
                  <a:srgbClr val="FFFFFF"/>
                </a:solidFill>
                <a:latin typeface="Calibri"/>
              </a:rPr>
              <a:t>A</a:t>
            </a:r>
          </a:p>
        </p:txBody>
      </p:sp>
      <p:sp>
        <p:nvSpPr>
          <p:cNvPr id="12" name="TextBox 11"/>
          <p:cNvSpPr txBox="1"/>
          <p:nvPr/>
        </p:nvSpPr>
        <p:spPr>
          <a:xfrm>
            <a:off x="1783080" y="1728216"/>
            <a:ext cx="7772400" cy="36576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0B1F3A"/>
                </a:solidFill>
                <a:latin typeface="Calibri"/>
              </a:rPr>
              <a:t>Product &amp; Market Understanding</a:t>
            </a:r>
          </a:p>
        </p:txBody>
      </p:sp>
      <p:sp>
        <p:nvSpPr>
          <p:cNvPr id="13" name="TextBox 12"/>
          <p:cNvSpPr txBox="1"/>
          <p:nvPr/>
        </p:nvSpPr>
        <p:spPr>
          <a:xfrm>
            <a:off x="1783080" y="2103120"/>
            <a:ext cx="941832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B6B73"/>
                </a:solidFill>
                <a:latin typeface="Calibri"/>
              </a:rPr>
              <a:t>Problem, USP, competitor intel, segmentation</a:t>
            </a:r>
          </a:p>
        </p:txBody>
      </p:sp>
      <p:sp>
        <p:nvSpPr>
          <p:cNvPr id="14" name="TextBox 13"/>
          <p:cNvSpPr txBox="1"/>
          <p:nvPr/>
        </p:nvSpPr>
        <p:spPr>
          <a:xfrm>
            <a:off x="10424160" y="1801368"/>
            <a:ext cx="1005840" cy="45720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A86B"/>
                </a:solidFill>
                <a:latin typeface="Calibri"/>
              </a:rPr>
              <a:t>10 marks</a:t>
            </a:r>
          </a:p>
        </p:txBody>
      </p:sp>
      <p:sp>
        <p:nvSpPr>
          <p:cNvPr id="15" name="Rounded Rectangle 14"/>
          <p:cNvSpPr/>
          <p:nvPr/>
        </p:nvSpPr>
        <p:spPr>
          <a:xfrm>
            <a:off x="640080" y="2569464"/>
            <a:ext cx="10927080" cy="86868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569464"/>
            <a:ext cx="146304" cy="8686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20" y="2775204"/>
            <a:ext cx="566928" cy="457200"/>
          </a:xfrm>
          <a:prstGeom prst="roundRect">
            <a:avLst>
              <a:gd name="adj" fmla="val 3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2000" b="1">
                <a:solidFill>
                  <a:srgbClr val="FFFFFF"/>
                </a:solidFill>
                <a:latin typeface="Calibri"/>
              </a:rPr>
              <a:t>B</a:t>
            </a:r>
          </a:p>
        </p:txBody>
      </p:sp>
      <p:sp>
        <p:nvSpPr>
          <p:cNvPr id="18" name="TextBox 17"/>
          <p:cNvSpPr txBox="1"/>
          <p:nvPr/>
        </p:nvSpPr>
        <p:spPr>
          <a:xfrm>
            <a:off x="1783080" y="2697480"/>
            <a:ext cx="7772400" cy="36576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0B1F3A"/>
                </a:solidFill>
                <a:latin typeface="Calibri"/>
              </a:rPr>
              <a:t>Customer Research &amp; Personas</a:t>
            </a:r>
          </a:p>
        </p:txBody>
      </p:sp>
      <p:sp>
        <p:nvSpPr>
          <p:cNvPr id="19" name="TextBox 18"/>
          <p:cNvSpPr txBox="1"/>
          <p:nvPr/>
        </p:nvSpPr>
        <p:spPr>
          <a:xfrm>
            <a:off x="1783080" y="3072384"/>
            <a:ext cx="941832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B6B73"/>
                </a:solidFill>
                <a:latin typeface="Calibri"/>
              </a:rPr>
              <a:t>Research plan, survey design, two personas</a:t>
            </a:r>
          </a:p>
        </p:txBody>
      </p:sp>
      <p:sp>
        <p:nvSpPr>
          <p:cNvPr id="20" name="TextBox 19"/>
          <p:cNvSpPr txBox="1"/>
          <p:nvPr/>
        </p:nvSpPr>
        <p:spPr>
          <a:xfrm>
            <a:off x="10424160" y="2770632"/>
            <a:ext cx="1005840" cy="45720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B1F3A"/>
                </a:solidFill>
                <a:latin typeface="Calibri"/>
              </a:rPr>
              <a:t>10 marks</a:t>
            </a:r>
          </a:p>
        </p:txBody>
      </p:sp>
      <p:sp>
        <p:nvSpPr>
          <p:cNvPr id="21" name="Rounded Rectangle 20"/>
          <p:cNvSpPr/>
          <p:nvPr/>
        </p:nvSpPr>
        <p:spPr>
          <a:xfrm>
            <a:off x="640080" y="3538728"/>
            <a:ext cx="10927080" cy="86868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538728"/>
            <a:ext cx="146304" cy="8686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0120" y="3744468"/>
            <a:ext cx="566928" cy="4572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2000" b="1">
                <a:solidFill>
                  <a:srgbClr val="FFFFFF"/>
                </a:solidFill>
                <a:latin typeface="Calibri"/>
              </a:rPr>
              <a:t>C</a:t>
            </a:r>
          </a:p>
        </p:txBody>
      </p:sp>
      <p:sp>
        <p:nvSpPr>
          <p:cNvPr id="24" name="TextBox 23"/>
          <p:cNvSpPr txBox="1"/>
          <p:nvPr/>
        </p:nvSpPr>
        <p:spPr>
          <a:xfrm>
            <a:off x="1783080" y="3666744"/>
            <a:ext cx="7772400" cy="36576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0B1F3A"/>
                </a:solidFill>
                <a:latin typeface="Calibri"/>
              </a:rPr>
              <a:t>Go-To-Market Strategy</a:t>
            </a:r>
          </a:p>
        </p:txBody>
      </p:sp>
      <p:sp>
        <p:nvSpPr>
          <p:cNvPr id="25" name="TextBox 24"/>
          <p:cNvSpPr txBox="1"/>
          <p:nvPr/>
        </p:nvSpPr>
        <p:spPr>
          <a:xfrm>
            <a:off x="1783080" y="4041648"/>
            <a:ext cx="941832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B6B73"/>
                </a:solidFill>
                <a:latin typeface="Calibri"/>
              </a:rPr>
              <a:t>Positioning, viral campaign, ₦12m budget split</a:t>
            </a:r>
          </a:p>
        </p:txBody>
      </p:sp>
      <p:sp>
        <p:nvSpPr>
          <p:cNvPr id="26" name="TextBox 25"/>
          <p:cNvSpPr txBox="1"/>
          <p:nvPr/>
        </p:nvSpPr>
        <p:spPr>
          <a:xfrm>
            <a:off x="10424160" y="3739896"/>
            <a:ext cx="1005840" cy="45720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A86B"/>
                </a:solidFill>
                <a:latin typeface="Calibri"/>
              </a:rPr>
              <a:t>15 marks</a:t>
            </a:r>
          </a:p>
        </p:txBody>
      </p:sp>
      <p:sp>
        <p:nvSpPr>
          <p:cNvPr id="27" name="Rounded Rectangle 26"/>
          <p:cNvSpPr/>
          <p:nvPr/>
        </p:nvSpPr>
        <p:spPr>
          <a:xfrm>
            <a:off x="640080" y="4507992"/>
            <a:ext cx="10927080" cy="86868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4507992"/>
            <a:ext cx="146304" cy="8686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0120" y="4713731"/>
            <a:ext cx="566928" cy="457200"/>
          </a:xfrm>
          <a:prstGeom prst="roundRect">
            <a:avLst>
              <a:gd name="adj" fmla="val 3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2000" b="1">
                <a:solidFill>
                  <a:srgbClr val="FFFFFF"/>
                </a:solidFill>
                <a:latin typeface="Calibri"/>
              </a:rPr>
              <a:t>D</a:t>
            </a:r>
          </a:p>
        </p:txBody>
      </p:sp>
      <p:sp>
        <p:nvSpPr>
          <p:cNvPr id="30" name="TextBox 29"/>
          <p:cNvSpPr txBox="1"/>
          <p:nvPr/>
        </p:nvSpPr>
        <p:spPr>
          <a:xfrm>
            <a:off x="1783080" y="4636007"/>
            <a:ext cx="7772400" cy="36576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0B1F3A"/>
                </a:solidFill>
                <a:latin typeface="Calibri"/>
              </a:rPr>
              <a:t>Metrics, Data &amp; Optimization</a:t>
            </a:r>
          </a:p>
        </p:txBody>
      </p:sp>
      <p:sp>
        <p:nvSpPr>
          <p:cNvPr id="31" name="TextBox 30"/>
          <p:cNvSpPr txBox="1"/>
          <p:nvPr/>
        </p:nvSpPr>
        <p:spPr>
          <a:xfrm>
            <a:off x="1783080" y="5010912"/>
            <a:ext cx="941832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B6B73"/>
                </a:solidFill>
                <a:latin typeface="Calibri"/>
              </a:rPr>
              <a:t>KPI dashboard + full A/B testing framework</a:t>
            </a:r>
          </a:p>
        </p:txBody>
      </p:sp>
      <p:sp>
        <p:nvSpPr>
          <p:cNvPr id="32" name="TextBox 31"/>
          <p:cNvSpPr txBox="1"/>
          <p:nvPr/>
        </p:nvSpPr>
        <p:spPr>
          <a:xfrm>
            <a:off x="10424160" y="4709159"/>
            <a:ext cx="1005840" cy="45720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B1F3A"/>
                </a:solidFill>
                <a:latin typeface="Calibri"/>
              </a:rPr>
              <a:t>15 marks</a:t>
            </a:r>
          </a:p>
        </p:txBody>
      </p:sp>
      <p:sp>
        <p:nvSpPr>
          <p:cNvPr id="33" name="Rounded Rectangle 32"/>
          <p:cNvSpPr/>
          <p:nvPr/>
        </p:nvSpPr>
        <p:spPr>
          <a:xfrm>
            <a:off x="640080" y="5477256"/>
            <a:ext cx="10927080" cy="86868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 y="5477256"/>
            <a:ext cx="146304" cy="8686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60120" y="5682996"/>
            <a:ext cx="566928" cy="4572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2000" b="1">
                <a:solidFill>
                  <a:srgbClr val="FFFFFF"/>
                </a:solidFill>
                <a:latin typeface="Calibri"/>
              </a:rPr>
              <a:t>E</a:t>
            </a:r>
          </a:p>
        </p:txBody>
      </p:sp>
      <p:sp>
        <p:nvSpPr>
          <p:cNvPr id="36" name="TextBox 35"/>
          <p:cNvSpPr txBox="1"/>
          <p:nvPr/>
        </p:nvSpPr>
        <p:spPr>
          <a:xfrm>
            <a:off x="1783080" y="5605272"/>
            <a:ext cx="7772400" cy="36576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0B1F3A"/>
                </a:solidFill>
                <a:latin typeface="Calibri"/>
              </a:rPr>
              <a:t>Execution &amp; Stakeholders</a:t>
            </a:r>
          </a:p>
        </p:txBody>
      </p:sp>
      <p:sp>
        <p:nvSpPr>
          <p:cNvPr id="37" name="TextBox 36"/>
          <p:cNvSpPr txBox="1"/>
          <p:nvPr/>
        </p:nvSpPr>
        <p:spPr>
          <a:xfrm>
            <a:off x="1783080" y="5980176"/>
            <a:ext cx="941832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B6B73"/>
                </a:solidFill>
                <a:latin typeface="Calibri"/>
              </a:rPr>
              <a:t>Content calendar, stakeholders, reporting</a:t>
            </a:r>
          </a:p>
        </p:txBody>
      </p:sp>
      <p:sp>
        <p:nvSpPr>
          <p:cNvPr id="38" name="TextBox 37"/>
          <p:cNvSpPr txBox="1"/>
          <p:nvPr/>
        </p:nvSpPr>
        <p:spPr>
          <a:xfrm>
            <a:off x="10424160" y="5678424"/>
            <a:ext cx="1005840" cy="45720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A86B"/>
                </a:solidFill>
                <a:latin typeface="Calibri"/>
              </a:rPr>
              <a:t>10 marks</a:t>
            </a:r>
          </a:p>
        </p:txBody>
      </p:sp>
      <p:sp>
        <p:nvSpPr>
          <p:cNvPr id="39" name="TextBox 38"/>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OVERVIEW</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Executive Summary</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2</a:t>
            </a:r>
          </a:p>
        </p:txBody>
      </p:sp>
      <p:sp>
        <p:nvSpPr>
          <p:cNvPr id="9" name="TextBox 8"/>
          <p:cNvSpPr txBox="1"/>
          <p:nvPr/>
        </p:nvSpPr>
        <p:spPr>
          <a:xfrm>
            <a:off x="640080" y="146304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1400" b="0" i="0">
                <a:solidFill>
                  <a:srgbClr val="1A2A33"/>
                </a:solidFill>
                <a:latin typeface="Calibri"/>
              </a:rPr>
              <a:t>Moni has product–market fit signals but a </a:t>
            </a:r>
            <a:r>
              <a:rPr sz="1400" b="1" i="0">
                <a:solidFill>
                  <a:srgbClr val="00A86B"/>
                </a:solidFill>
                <a:latin typeface="Calibri"/>
              </a:rPr>
              <a:t>leaky funnel</a:t>
            </a:r>
            <a:r>
              <a:rPr sz="1400" b="0" i="0">
                <a:solidFill>
                  <a:srgbClr val="1A2A33"/>
                </a:solidFill>
                <a:latin typeface="Calibri"/>
              </a:rPr>
              <a:t>. The growth problem is not acquisition — it is </a:t>
            </a:r>
            <a:r>
              <a:rPr sz="1400" b="1" i="0">
                <a:solidFill>
                  <a:srgbClr val="00A86B"/>
                </a:solidFill>
                <a:latin typeface="Calibri"/>
              </a:rPr>
              <a:t>activation, retention and trust</a:t>
            </a:r>
            <a:r>
              <a:rPr sz="1400" b="0" i="0">
                <a:solidFill>
                  <a:srgbClr val="1A2A33"/>
                </a:solidFill>
                <a:latin typeface="Calibri"/>
              </a:rPr>
              <a:t>. This strategy fixes the funnel before pouring budget into the top of it.</a:t>
            </a:r>
          </a:p>
        </p:txBody>
      </p:sp>
      <p:sp>
        <p:nvSpPr>
          <p:cNvPr id="10" name="Rounded Rectangle 9"/>
          <p:cNvSpPr/>
          <p:nvPr/>
        </p:nvSpPr>
        <p:spPr>
          <a:xfrm>
            <a:off x="640080" y="2331720"/>
            <a:ext cx="2075688" cy="105156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331720"/>
            <a:ext cx="2075688" cy="91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542032"/>
            <a:ext cx="2075688" cy="502920"/>
          </a:xfrm>
          <a:prstGeom prst="rect">
            <a:avLst/>
          </a:prstGeom>
          <a:noFill/>
        </p:spPr>
        <p:txBody>
          <a:bodyPr wrap="square" anchor="t" lIns="0" rIns="0" tIns="0" bIns="0">
            <a:spAutoFit/>
          </a:bodyPr>
          <a:lstStyle/>
          <a:p>
            <a:pPr algn="ctr">
              <a:lnSpc>
                <a:spcPct val="100000"/>
              </a:lnSpc>
              <a:spcBef>
                <a:spcPts val="0"/>
              </a:spcBef>
              <a:spcAft>
                <a:spcPts val="400"/>
              </a:spcAft>
            </a:pPr>
            <a:r>
              <a:rPr sz="2600" b="1" i="0">
                <a:solidFill>
                  <a:srgbClr val="0B1F3A"/>
                </a:solidFill>
                <a:latin typeface="Calibri"/>
              </a:rPr>
              <a:t>2,350</a:t>
            </a:r>
          </a:p>
        </p:txBody>
      </p:sp>
      <p:sp>
        <p:nvSpPr>
          <p:cNvPr id="13" name="TextBox 12"/>
          <p:cNvSpPr txBox="1"/>
          <p:nvPr/>
        </p:nvSpPr>
        <p:spPr>
          <a:xfrm>
            <a:off x="640080" y="3072384"/>
            <a:ext cx="2075688" cy="274320"/>
          </a:xfrm>
          <a:prstGeom prst="rect">
            <a:avLst/>
          </a:prstGeom>
          <a:noFill/>
        </p:spPr>
        <p:txBody>
          <a:bodyPr wrap="square" anchor="t" lIns="0" rIns="0" tIns="0" bIns="0">
            <a:spAutoFit/>
          </a:bodyPr>
          <a:lstStyle/>
          <a:p>
            <a:pPr algn="ctr">
              <a:lnSpc>
                <a:spcPct val="100000"/>
              </a:lnSpc>
              <a:spcBef>
                <a:spcPts val="0"/>
              </a:spcBef>
              <a:spcAft>
                <a:spcPts val="400"/>
              </a:spcAft>
            </a:pPr>
            <a:r>
              <a:rPr sz="1050" b="0" i="0">
                <a:solidFill>
                  <a:srgbClr val="5B6B73"/>
                </a:solidFill>
                <a:latin typeface="Calibri"/>
              </a:rPr>
              <a:t>beta users</a:t>
            </a:r>
          </a:p>
        </p:txBody>
      </p:sp>
      <p:sp>
        <p:nvSpPr>
          <p:cNvPr id="14" name="Rounded Rectangle 13"/>
          <p:cNvSpPr/>
          <p:nvPr/>
        </p:nvSpPr>
        <p:spPr>
          <a:xfrm>
            <a:off x="2852928" y="2331720"/>
            <a:ext cx="2075688" cy="105156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52928" y="2331720"/>
            <a:ext cx="2075688" cy="91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52928" y="2542032"/>
            <a:ext cx="2075688" cy="502920"/>
          </a:xfrm>
          <a:prstGeom prst="rect">
            <a:avLst/>
          </a:prstGeom>
          <a:noFill/>
        </p:spPr>
        <p:txBody>
          <a:bodyPr wrap="square" anchor="t" lIns="0" rIns="0" tIns="0" bIns="0">
            <a:spAutoFit/>
          </a:bodyPr>
          <a:lstStyle/>
          <a:p>
            <a:pPr algn="ctr">
              <a:lnSpc>
                <a:spcPct val="100000"/>
              </a:lnSpc>
              <a:spcBef>
                <a:spcPts val="0"/>
              </a:spcBef>
              <a:spcAft>
                <a:spcPts val="400"/>
              </a:spcAft>
            </a:pPr>
            <a:r>
              <a:rPr sz="2600" b="1" i="0">
                <a:solidFill>
                  <a:srgbClr val="0B1F3A"/>
                </a:solidFill>
                <a:latin typeface="Calibri"/>
              </a:rPr>
              <a:t>640</a:t>
            </a:r>
          </a:p>
        </p:txBody>
      </p:sp>
      <p:sp>
        <p:nvSpPr>
          <p:cNvPr id="17" name="TextBox 16"/>
          <p:cNvSpPr txBox="1"/>
          <p:nvPr/>
        </p:nvSpPr>
        <p:spPr>
          <a:xfrm>
            <a:off x="2852928" y="3072384"/>
            <a:ext cx="2075688" cy="274320"/>
          </a:xfrm>
          <a:prstGeom prst="rect">
            <a:avLst/>
          </a:prstGeom>
          <a:noFill/>
        </p:spPr>
        <p:txBody>
          <a:bodyPr wrap="square" anchor="t" lIns="0" rIns="0" tIns="0" bIns="0">
            <a:spAutoFit/>
          </a:bodyPr>
          <a:lstStyle/>
          <a:p>
            <a:pPr algn="ctr">
              <a:lnSpc>
                <a:spcPct val="100000"/>
              </a:lnSpc>
              <a:spcBef>
                <a:spcPts val="0"/>
              </a:spcBef>
              <a:spcAft>
                <a:spcPts val="400"/>
              </a:spcAft>
            </a:pPr>
            <a:r>
              <a:rPr sz="1050" b="0" i="0">
                <a:solidFill>
                  <a:srgbClr val="5B6B73"/>
                </a:solidFill>
                <a:latin typeface="Calibri"/>
              </a:rPr>
              <a:t>weekly actives (27%)</a:t>
            </a:r>
          </a:p>
        </p:txBody>
      </p:sp>
      <p:sp>
        <p:nvSpPr>
          <p:cNvPr id="18" name="Rounded Rectangle 17"/>
          <p:cNvSpPr/>
          <p:nvPr/>
        </p:nvSpPr>
        <p:spPr>
          <a:xfrm>
            <a:off x="5065776" y="2331720"/>
            <a:ext cx="2075688" cy="105156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65776" y="2331720"/>
            <a:ext cx="2075688" cy="9144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65776" y="2542032"/>
            <a:ext cx="2075688" cy="502920"/>
          </a:xfrm>
          <a:prstGeom prst="rect">
            <a:avLst/>
          </a:prstGeom>
          <a:noFill/>
        </p:spPr>
        <p:txBody>
          <a:bodyPr wrap="square" anchor="t" lIns="0" rIns="0" tIns="0" bIns="0">
            <a:spAutoFit/>
          </a:bodyPr>
          <a:lstStyle/>
          <a:p>
            <a:pPr algn="ctr">
              <a:lnSpc>
                <a:spcPct val="100000"/>
              </a:lnSpc>
              <a:spcBef>
                <a:spcPts val="0"/>
              </a:spcBef>
              <a:spcAft>
                <a:spcPts val="400"/>
              </a:spcAft>
            </a:pPr>
            <a:r>
              <a:rPr sz="2600" b="1" i="0">
                <a:solidFill>
                  <a:srgbClr val="E86A5C"/>
                </a:solidFill>
                <a:latin typeface="Calibri"/>
              </a:rPr>
              <a:t>₦4,200</a:t>
            </a:r>
          </a:p>
        </p:txBody>
      </p:sp>
      <p:sp>
        <p:nvSpPr>
          <p:cNvPr id="21" name="TextBox 20"/>
          <p:cNvSpPr txBox="1"/>
          <p:nvPr/>
        </p:nvSpPr>
        <p:spPr>
          <a:xfrm>
            <a:off x="5065776" y="3072384"/>
            <a:ext cx="2075688" cy="274320"/>
          </a:xfrm>
          <a:prstGeom prst="rect">
            <a:avLst/>
          </a:prstGeom>
          <a:noFill/>
        </p:spPr>
        <p:txBody>
          <a:bodyPr wrap="square" anchor="t" lIns="0" rIns="0" tIns="0" bIns="0">
            <a:spAutoFit/>
          </a:bodyPr>
          <a:lstStyle/>
          <a:p>
            <a:pPr algn="ctr">
              <a:lnSpc>
                <a:spcPct val="100000"/>
              </a:lnSpc>
              <a:spcBef>
                <a:spcPts val="0"/>
              </a:spcBef>
              <a:spcAft>
                <a:spcPts val="400"/>
              </a:spcAft>
            </a:pPr>
            <a:r>
              <a:rPr sz="1050" b="0" i="0">
                <a:solidFill>
                  <a:srgbClr val="5B6B73"/>
                </a:solidFill>
                <a:latin typeface="Calibri"/>
              </a:rPr>
              <a:t>CAC per user</a:t>
            </a:r>
          </a:p>
        </p:txBody>
      </p:sp>
      <p:sp>
        <p:nvSpPr>
          <p:cNvPr id="22" name="Rounded Rectangle 21"/>
          <p:cNvSpPr/>
          <p:nvPr/>
        </p:nvSpPr>
        <p:spPr>
          <a:xfrm>
            <a:off x="7278624" y="2331720"/>
            <a:ext cx="2075688" cy="105156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78624" y="2331720"/>
            <a:ext cx="2075688" cy="9144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2542032"/>
            <a:ext cx="2075688" cy="502920"/>
          </a:xfrm>
          <a:prstGeom prst="rect">
            <a:avLst/>
          </a:prstGeom>
          <a:noFill/>
        </p:spPr>
        <p:txBody>
          <a:bodyPr wrap="square" anchor="t" lIns="0" rIns="0" tIns="0" bIns="0">
            <a:spAutoFit/>
          </a:bodyPr>
          <a:lstStyle/>
          <a:p>
            <a:pPr algn="ctr">
              <a:lnSpc>
                <a:spcPct val="100000"/>
              </a:lnSpc>
              <a:spcBef>
                <a:spcPts val="0"/>
              </a:spcBef>
              <a:spcAft>
                <a:spcPts val="400"/>
              </a:spcAft>
            </a:pPr>
            <a:r>
              <a:rPr sz="2600" b="1" i="0">
                <a:solidFill>
                  <a:srgbClr val="E86A5C"/>
                </a:solidFill>
                <a:latin typeface="Calibri"/>
              </a:rPr>
              <a:t>18%</a:t>
            </a:r>
          </a:p>
        </p:txBody>
      </p:sp>
      <p:sp>
        <p:nvSpPr>
          <p:cNvPr id="25" name="TextBox 24"/>
          <p:cNvSpPr txBox="1"/>
          <p:nvPr/>
        </p:nvSpPr>
        <p:spPr>
          <a:xfrm>
            <a:off x="7278624" y="3072384"/>
            <a:ext cx="2075688" cy="274320"/>
          </a:xfrm>
          <a:prstGeom prst="rect">
            <a:avLst/>
          </a:prstGeom>
          <a:noFill/>
        </p:spPr>
        <p:txBody>
          <a:bodyPr wrap="square" anchor="t" lIns="0" rIns="0" tIns="0" bIns="0">
            <a:spAutoFit/>
          </a:bodyPr>
          <a:lstStyle/>
          <a:p>
            <a:pPr algn="ctr">
              <a:lnSpc>
                <a:spcPct val="100000"/>
              </a:lnSpc>
              <a:spcBef>
                <a:spcPts val="0"/>
              </a:spcBef>
              <a:spcAft>
                <a:spcPts val="400"/>
              </a:spcAft>
            </a:pPr>
            <a:r>
              <a:rPr sz="1050" b="0" i="0">
                <a:solidFill>
                  <a:srgbClr val="5B6B73"/>
                </a:solidFill>
                <a:latin typeface="Calibri"/>
              </a:rPr>
              <a:t>30-day retention</a:t>
            </a:r>
          </a:p>
        </p:txBody>
      </p:sp>
      <p:sp>
        <p:nvSpPr>
          <p:cNvPr id="26" name="Rounded Rectangle 25"/>
          <p:cNvSpPr/>
          <p:nvPr/>
        </p:nvSpPr>
        <p:spPr>
          <a:xfrm>
            <a:off x="9491472" y="2331720"/>
            <a:ext cx="2075688" cy="105156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491472" y="2331720"/>
            <a:ext cx="2075688" cy="9144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2542032"/>
            <a:ext cx="2075688" cy="502920"/>
          </a:xfrm>
          <a:prstGeom prst="rect">
            <a:avLst/>
          </a:prstGeom>
          <a:noFill/>
        </p:spPr>
        <p:txBody>
          <a:bodyPr wrap="square" anchor="t" lIns="0" rIns="0" tIns="0" bIns="0">
            <a:spAutoFit/>
          </a:bodyPr>
          <a:lstStyle/>
          <a:p>
            <a:pPr algn="ctr">
              <a:lnSpc>
                <a:spcPct val="100000"/>
              </a:lnSpc>
              <a:spcBef>
                <a:spcPts val="0"/>
              </a:spcBef>
              <a:spcAft>
                <a:spcPts val="400"/>
              </a:spcAft>
            </a:pPr>
            <a:r>
              <a:rPr sz="2600" b="1" i="0">
                <a:solidFill>
                  <a:srgbClr val="00A86B"/>
                </a:solidFill>
                <a:latin typeface="Calibri"/>
              </a:rPr>
              <a:t>₦12m</a:t>
            </a:r>
          </a:p>
        </p:txBody>
      </p:sp>
      <p:sp>
        <p:nvSpPr>
          <p:cNvPr id="29" name="TextBox 28"/>
          <p:cNvSpPr txBox="1"/>
          <p:nvPr/>
        </p:nvSpPr>
        <p:spPr>
          <a:xfrm>
            <a:off x="9491472" y="3072384"/>
            <a:ext cx="2075688" cy="274320"/>
          </a:xfrm>
          <a:prstGeom prst="rect">
            <a:avLst/>
          </a:prstGeom>
          <a:noFill/>
        </p:spPr>
        <p:txBody>
          <a:bodyPr wrap="square" anchor="t" lIns="0" rIns="0" tIns="0" bIns="0">
            <a:spAutoFit/>
          </a:bodyPr>
          <a:lstStyle/>
          <a:p>
            <a:pPr algn="ctr">
              <a:lnSpc>
                <a:spcPct val="100000"/>
              </a:lnSpc>
              <a:spcBef>
                <a:spcPts val="0"/>
              </a:spcBef>
              <a:spcAft>
                <a:spcPts val="400"/>
              </a:spcAft>
            </a:pPr>
            <a:r>
              <a:rPr sz="1050" b="0" i="0">
                <a:solidFill>
                  <a:srgbClr val="5B6B73"/>
                </a:solidFill>
                <a:latin typeface="Calibri"/>
              </a:rPr>
              <a:t>launch budget</a:t>
            </a:r>
          </a:p>
        </p:txBody>
      </p:sp>
      <p:sp>
        <p:nvSpPr>
          <p:cNvPr id="30" name="TextBox 29"/>
          <p:cNvSpPr txBox="1"/>
          <p:nvPr/>
        </p:nvSpPr>
        <p:spPr>
          <a:xfrm>
            <a:off x="640080" y="36118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B1F3A"/>
                </a:solidFill>
                <a:latin typeface="Calibri"/>
              </a:rPr>
              <a:t>90-DAY TARGETS POST-LAUNCH</a:t>
            </a:r>
          </a:p>
        </p:txBody>
      </p:sp>
      <p:sp>
        <p:nvSpPr>
          <p:cNvPr id="31" name="Rounded Rectangle 30"/>
          <p:cNvSpPr/>
          <p:nvPr/>
        </p:nvSpPr>
        <p:spPr>
          <a:xfrm>
            <a:off x="640080" y="4023360"/>
            <a:ext cx="2670048" cy="960120"/>
          </a:xfrm>
          <a:prstGeom prst="roundRect">
            <a:avLst>
              <a:gd name="adj" fmla="val 6000"/>
            </a:avLst>
          </a:prstGeom>
          <a:solidFill>
            <a:srgbClr val="E3F6ED"/>
          </a:solidFill>
          <a:ln w="12700">
            <a:solidFill>
              <a:srgbClr val="5FD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133087"/>
            <a:ext cx="237744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B6B73"/>
                </a:solidFill>
                <a:latin typeface="Calibri"/>
              </a:rPr>
              <a:t>CAC</a:t>
            </a:r>
          </a:p>
        </p:txBody>
      </p:sp>
      <p:sp>
        <p:nvSpPr>
          <p:cNvPr id="33" name="TextBox 32"/>
          <p:cNvSpPr txBox="1"/>
          <p:nvPr/>
        </p:nvSpPr>
        <p:spPr>
          <a:xfrm>
            <a:off x="777240" y="4389120"/>
            <a:ext cx="237744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B1F3A"/>
                </a:solidFill>
                <a:latin typeface="Calibri"/>
              </a:rPr>
              <a:t>₦4,200 → ₦2,600</a:t>
            </a:r>
          </a:p>
        </p:txBody>
      </p:sp>
      <p:sp>
        <p:nvSpPr>
          <p:cNvPr id="34" name="Rounded Rectangle 33"/>
          <p:cNvSpPr/>
          <p:nvPr/>
        </p:nvSpPr>
        <p:spPr>
          <a:xfrm>
            <a:off x="777240" y="4718304"/>
            <a:ext cx="868680" cy="201168"/>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950" b="1">
                <a:solidFill>
                  <a:srgbClr val="FFFFFF"/>
                </a:solidFill>
                <a:latin typeface="Calibri"/>
              </a:rPr>
              <a:t>-38%</a:t>
            </a:r>
          </a:p>
        </p:txBody>
      </p:sp>
      <p:sp>
        <p:nvSpPr>
          <p:cNvPr id="35" name="Rounded Rectangle 34"/>
          <p:cNvSpPr/>
          <p:nvPr/>
        </p:nvSpPr>
        <p:spPr>
          <a:xfrm>
            <a:off x="3429000" y="4023360"/>
            <a:ext cx="2670048" cy="960120"/>
          </a:xfrm>
          <a:prstGeom prst="roundRect">
            <a:avLst>
              <a:gd name="adj" fmla="val 6000"/>
            </a:avLst>
          </a:prstGeom>
          <a:solidFill>
            <a:srgbClr val="E3F6ED"/>
          </a:solidFill>
          <a:ln w="12700">
            <a:solidFill>
              <a:srgbClr val="5FD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66160" y="4133087"/>
            <a:ext cx="237744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B6B73"/>
                </a:solidFill>
                <a:latin typeface="Calibri"/>
              </a:rPr>
              <a:t>30-day retention</a:t>
            </a:r>
          </a:p>
        </p:txBody>
      </p:sp>
      <p:sp>
        <p:nvSpPr>
          <p:cNvPr id="37" name="TextBox 36"/>
          <p:cNvSpPr txBox="1"/>
          <p:nvPr/>
        </p:nvSpPr>
        <p:spPr>
          <a:xfrm>
            <a:off x="3566160" y="4389120"/>
            <a:ext cx="237744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B1F3A"/>
                </a:solidFill>
                <a:latin typeface="Calibri"/>
              </a:rPr>
              <a:t>18% → 35%</a:t>
            </a:r>
          </a:p>
        </p:txBody>
      </p:sp>
      <p:sp>
        <p:nvSpPr>
          <p:cNvPr id="38" name="Rounded Rectangle 37"/>
          <p:cNvSpPr/>
          <p:nvPr/>
        </p:nvSpPr>
        <p:spPr>
          <a:xfrm>
            <a:off x="3566160" y="4718304"/>
            <a:ext cx="868680" cy="201168"/>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950" b="1">
                <a:solidFill>
                  <a:srgbClr val="FFFFFF"/>
                </a:solidFill>
                <a:latin typeface="Calibri"/>
              </a:rPr>
              <a:t>+17pts</a:t>
            </a:r>
          </a:p>
        </p:txBody>
      </p:sp>
      <p:sp>
        <p:nvSpPr>
          <p:cNvPr id="39" name="Rounded Rectangle 38"/>
          <p:cNvSpPr/>
          <p:nvPr/>
        </p:nvSpPr>
        <p:spPr>
          <a:xfrm>
            <a:off x="6217920" y="4023360"/>
            <a:ext cx="2670048" cy="960120"/>
          </a:xfrm>
          <a:prstGeom prst="roundRect">
            <a:avLst>
              <a:gd name="adj" fmla="val 6000"/>
            </a:avLst>
          </a:prstGeom>
          <a:solidFill>
            <a:srgbClr val="E3F6ED"/>
          </a:solidFill>
          <a:ln w="12700">
            <a:solidFill>
              <a:srgbClr val="5FD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4133087"/>
            <a:ext cx="237744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B6B73"/>
                </a:solidFill>
                <a:latin typeface="Calibri"/>
              </a:rPr>
              <a:t>Weekly actives</a:t>
            </a:r>
          </a:p>
        </p:txBody>
      </p:sp>
      <p:sp>
        <p:nvSpPr>
          <p:cNvPr id="41" name="TextBox 40"/>
          <p:cNvSpPr txBox="1"/>
          <p:nvPr/>
        </p:nvSpPr>
        <p:spPr>
          <a:xfrm>
            <a:off x="6355080" y="4389120"/>
            <a:ext cx="237744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B1F3A"/>
                </a:solidFill>
                <a:latin typeface="Calibri"/>
              </a:rPr>
              <a:t>640 → 6,000+</a:t>
            </a:r>
          </a:p>
        </p:txBody>
      </p:sp>
      <p:sp>
        <p:nvSpPr>
          <p:cNvPr id="42" name="Rounded Rectangle 41"/>
          <p:cNvSpPr/>
          <p:nvPr/>
        </p:nvSpPr>
        <p:spPr>
          <a:xfrm>
            <a:off x="6355080" y="4718304"/>
            <a:ext cx="868680" cy="201168"/>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950" b="1">
                <a:solidFill>
                  <a:srgbClr val="FFFFFF"/>
                </a:solidFill>
                <a:latin typeface="Calibri"/>
              </a:rPr>
              <a:t>9x</a:t>
            </a:r>
          </a:p>
        </p:txBody>
      </p:sp>
      <p:sp>
        <p:nvSpPr>
          <p:cNvPr id="43" name="Rounded Rectangle 42"/>
          <p:cNvSpPr/>
          <p:nvPr/>
        </p:nvSpPr>
        <p:spPr>
          <a:xfrm>
            <a:off x="9006840" y="4023360"/>
            <a:ext cx="2670048" cy="960120"/>
          </a:xfrm>
          <a:prstGeom prst="roundRect">
            <a:avLst>
              <a:gd name="adj" fmla="val 6000"/>
            </a:avLst>
          </a:prstGeom>
          <a:solidFill>
            <a:srgbClr val="E3F6ED"/>
          </a:solidFill>
          <a:ln w="12700">
            <a:solidFill>
              <a:srgbClr val="5FD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0" y="4133087"/>
            <a:ext cx="237744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B6B73"/>
                </a:solidFill>
                <a:latin typeface="Calibri"/>
              </a:rPr>
              <a:t>Referral share of installs</a:t>
            </a:r>
          </a:p>
        </p:txBody>
      </p:sp>
      <p:sp>
        <p:nvSpPr>
          <p:cNvPr id="45" name="TextBox 44"/>
          <p:cNvSpPr txBox="1"/>
          <p:nvPr/>
        </p:nvSpPr>
        <p:spPr>
          <a:xfrm>
            <a:off x="9144000" y="4389120"/>
            <a:ext cx="237744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B1F3A"/>
                </a:solidFill>
                <a:latin typeface="Calibri"/>
              </a:rPr>
              <a:t>→ 30%</a:t>
            </a:r>
          </a:p>
        </p:txBody>
      </p:sp>
      <p:sp>
        <p:nvSpPr>
          <p:cNvPr id="46" name="Rounded Rectangle 45"/>
          <p:cNvSpPr/>
          <p:nvPr/>
        </p:nvSpPr>
        <p:spPr>
          <a:xfrm>
            <a:off x="9144000" y="4718304"/>
            <a:ext cx="868680" cy="201168"/>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950" b="1">
                <a:solidFill>
                  <a:srgbClr val="FFFFFF"/>
                </a:solidFill>
                <a:latin typeface="Calibri"/>
              </a:rPr>
              <a:t>new</a:t>
            </a:r>
          </a:p>
        </p:txBody>
      </p:sp>
      <p:sp>
        <p:nvSpPr>
          <p:cNvPr id="47" name="TextBox 46"/>
          <p:cNvSpPr txBox="1"/>
          <p:nvPr/>
        </p:nvSpPr>
        <p:spPr>
          <a:xfrm>
            <a:off x="640080" y="5257800"/>
            <a:ext cx="10972800" cy="12801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0A86B"/>
                </a:solidFill>
                <a:latin typeface="Calibri"/>
              </a:rPr>
              <a:t>The big idea:  </a:t>
            </a:r>
            <a:r>
              <a:rPr sz="1400" b="0" i="0">
                <a:solidFill>
                  <a:srgbClr val="1A2A33"/>
                </a:solidFill>
                <a:latin typeface="Calibri"/>
              </a:rPr>
              <a:t>Position Moni as the everyday money companion — not another savings app — and win on </a:t>
            </a:r>
            <a:r>
              <a:rPr sz="1400" b="1" i="0">
                <a:solidFill>
                  <a:srgbClr val="0B1F3A"/>
                </a:solidFill>
                <a:latin typeface="Calibri"/>
              </a:rPr>
              <a:t>trust, habit and community</a:t>
            </a:r>
            <a:r>
              <a:rPr sz="1400" b="0" i="0">
                <a:solidFill>
                  <a:srgbClr val="1A2A33"/>
                </a:solidFill>
                <a:latin typeface="Calibri"/>
              </a:rPr>
              <a:t>. Spend the ₦12m on channels that compound (referral + community + campus) rather than rented attention alone, and let an always-on A/B testing engine push CAC down week over week.</a:t>
            </a:r>
          </a:p>
        </p:txBody>
      </p:sp>
      <p:sp>
        <p:nvSpPr>
          <p:cNvPr id="48" name="TextBox 4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0" y="-1828800"/>
            <a:ext cx="5486400" cy="5486400"/>
          </a:xfrm>
          <a:prstGeom prst="ellipse">
            <a:avLst/>
          </a:prstGeom>
          <a:solidFill>
            <a:srgbClr val="1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164592" cy="310896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88720" y="1783080"/>
            <a:ext cx="1371600" cy="13716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6400" b="1">
                <a:solidFill>
                  <a:srgbClr val="FFFFFF"/>
                </a:solidFill>
                <a:latin typeface="Calibri"/>
              </a:rPr>
              <a:t>A</a:t>
            </a:r>
          </a:p>
        </p:txBody>
      </p:sp>
      <p:sp>
        <p:nvSpPr>
          <p:cNvPr id="7" name="TextBox 6"/>
          <p:cNvSpPr txBox="1"/>
          <p:nvPr/>
        </p:nvSpPr>
        <p:spPr>
          <a:xfrm>
            <a:off x="2834640" y="1828800"/>
            <a:ext cx="82296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D3A3"/>
                </a:solidFill>
                <a:latin typeface="Calibri"/>
              </a:rPr>
              <a:t>SECTION A   •   10 MARKS</a:t>
            </a:r>
          </a:p>
        </p:txBody>
      </p:sp>
      <p:sp>
        <p:nvSpPr>
          <p:cNvPr id="8" name="TextBox 7"/>
          <p:cNvSpPr txBox="1"/>
          <p:nvPr/>
        </p:nvSpPr>
        <p:spPr>
          <a:xfrm>
            <a:off x="2834640" y="2240280"/>
            <a:ext cx="8595360" cy="1097280"/>
          </a:xfrm>
          <a:prstGeom prst="rect">
            <a:avLst/>
          </a:prstGeom>
          <a:noFill/>
        </p:spPr>
        <p:txBody>
          <a:bodyPr wrap="square" anchor="t" lIns="0" rIns="0" tIns="0" bIns="0">
            <a:spAutoFit/>
          </a:bodyPr>
          <a:lstStyle/>
          <a:p>
            <a:pPr algn="l">
              <a:lnSpc>
                <a:spcPct val="100000"/>
              </a:lnSpc>
              <a:spcBef>
                <a:spcPts val="0"/>
              </a:spcBef>
              <a:spcAft>
                <a:spcPts val="400"/>
              </a:spcAft>
            </a:pPr>
            <a:r>
              <a:rPr sz="3400" b="1" i="0">
                <a:solidFill>
                  <a:srgbClr val="FFFFFF"/>
                </a:solidFill>
                <a:latin typeface="Calibri"/>
              </a:rPr>
              <a:t>Product &amp; Market Understanding</a:t>
            </a:r>
          </a:p>
        </p:txBody>
      </p:sp>
      <p:sp>
        <p:nvSpPr>
          <p:cNvPr id="9" name="TextBox 8"/>
          <p:cNvSpPr txBox="1"/>
          <p:nvPr/>
        </p:nvSpPr>
        <p:spPr>
          <a:xfrm>
            <a:off x="2862072" y="3429000"/>
            <a:ext cx="8229600"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0" i="1">
                <a:solidFill>
                  <a:srgbClr val="D9E0DF"/>
                </a:solidFill>
                <a:latin typeface="Calibri"/>
              </a:rPr>
              <a:t>What Moni solves, why it wins, and where competitors leave the door open.</a:t>
            </a:r>
          </a:p>
        </p:txBody>
      </p:sp>
      <p:sp>
        <p:nvSpPr>
          <p:cNvPr id="10" name="Oval 9"/>
          <p:cNvSpPr/>
          <p:nvPr/>
        </p:nvSpPr>
        <p:spPr>
          <a:xfrm>
            <a:off x="2862072" y="4224528"/>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4160520"/>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Product understanding, problem &amp; USP</a:t>
            </a:r>
          </a:p>
        </p:txBody>
      </p:sp>
      <p:sp>
        <p:nvSpPr>
          <p:cNvPr id="12" name="Oval 11"/>
          <p:cNvSpPr/>
          <p:nvPr/>
        </p:nvSpPr>
        <p:spPr>
          <a:xfrm>
            <a:off x="2862072" y="4645152"/>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54680" y="4581144"/>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Competitive intelligence vs. Opay, PiggyVest, Kuda &amp; PalmPay</a:t>
            </a:r>
          </a:p>
        </p:txBody>
      </p:sp>
      <p:sp>
        <p:nvSpPr>
          <p:cNvPr id="14" name="Oval 13"/>
          <p:cNvSpPr/>
          <p:nvPr/>
        </p:nvSpPr>
        <p:spPr>
          <a:xfrm>
            <a:off x="2862072" y="5065776"/>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5001768"/>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Four-segment market segmentation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A1 · PRODUCT UNDERSTANDING</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The Problem Moni Solves</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4</a:t>
            </a:r>
          </a:p>
        </p:txBody>
      </p:sp>
      <p:sp>
        <p:nvSpPr>
          <p:cNvPr id="9" name="TextBox 8"/>
          <p:cNvSpPr txBox="1"/>
          <p:nvPr/>
        </p:nvSpPr>
        <p:spPr>
          <a:xfrm>
            <a:off x="640080" y="1417320"/>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1400" b="0" i="0">
                <a:solidFill>
                  <a:srgbClr val="1A2A33"/>
                </a:solidFill>
                <a:latin typeface="Calibri"/>
              </a:rPr>
              <a:t>Young Nigerians earn irregularly, spend reactively, and save inconsistently — </a:t>
            </a:r>
            <a:r>
              <a:rPr sz="1400" b="1" i="0">
                <a:solidFill>
                  <a:srgbClr val="00A86B"/>
                </a:solidFill>
                <a:latin typeface="Calibri"/>
              </a:rPr>
              <a:t>the money runs before the month does.</a:t>
            </a:r>
          </a:p>
        </p:txBody>
      </p:sp>
      <p:sp>
        <p:nvSpPr>
          <p:cNvPr id="10" name="Rounded Rectangle 9"/>
          <p:cNvSpPr/>
          <p:nvPr/>
        </p:nvSpPr>
        <p:spPr>
          <a:xfrm>
            <a:off x="640080" y="2148840"/>
            <a:ext cx="2670048" cy="178308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148840"/>
            <a:ext cx="2670048" cy="9144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 y="2377440"/>
            <a:ext cx="2377440" cy="54864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B1F3A"/>
                </a:solidFill>
                <a:latin typeface="Calibri"/>
              </a:rPr>
              <a:t>Inconsistent saving</a:t>
            </a:r>
          </a:p>
        </p:txBody>
      </p:sp>
      <p:sp>
        <p:nvSpPr>
          <p:cNvPr id="13" name="TextBox 12"/>
          <p:cNvSpPr txBox="1"/>
          <p:nvPr/>
        </p:nvSpPr>
        <p:spPr>
          <a:xfrm>
            <a:off x="804671" y="2926080"/>
            <a:ext cx="2377440" cy="960120"/>
          </a:xfrm>
          <a:prstGeom prst="rect">
            <a:avLst/>
          </a:prstGeom>
          <a:noFill/>
        </p:spPr>
        <p:txBody>
          <a:bodyPr wrap="square" anchor="t" lIns="0" rIns="0" tIns="0" bIns="0">
            <a:spAutoFit/>
          </a:bodyPr>
          <a:lstStyle/>
          <a:p>
            <a:pPr algn="l">
              <a:lnSpc>
                <a:spcPct val="105000"/>
              </a:lnSpc>
              <a:spcBef>
                <a:spcPts val="0"/>
              </a:spcBef>
              <a:spcAft>
                <a:spcPts val="400"/>
              </a:spcAft>
            </a:pPr>
            <a:r>
              <a:rPr sz="1100" b="0" i="0">
                <a:solidFill>
                  <a:srgbClr val="5B6B73"/>
                </a:solidFill>
                <a:latin typeface="Calibri"/>
              </a:rPr>
              <a:t>Irregular income (allowances, gigs, stipends) makes disciplined saving feel impossible without automation.</a:t>
            </a:r>
          </a:p>
        </p:txBody>
      </p:sp>
      <p:sp>
        <p:nvSpPr>
          <p:cNvPr id="14" name="Rounded Rectangle 13"/>
          <p:cNvSpPr/>
          <p:nvPr/>
        </p:nvSpPr>
        <p:spPr>
          <a:xfrm>
            <a:off x="3429000" y="2148840"/>
            <a:ext cx="2670048" cy="178308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2148840"/>
            <a:ext cx="2670048" cy="9144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2377440"/>
            <a:ext cx="2377440" cy="54864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B1F3A"/>
                </a:solidFill>
                <a:latin typeface="Calibri"/>
              </a:rPr>
              <a:t>Reactive spending</a:t>
            </a:r>
          </a:p>
        </p:txBody>
      </p:sp>
      <p:sp>
        <p:nvSpPr>
          <p:cNvPr id="17" name="TextBox 16"/>
          <p:cNvSpPr txBox="1"/>
          <p:nvPr/>
        </p:nvSpPr>
        <p:spPr>
          <a:xfrm>
            <a:off x="3593592" y="2926080"/>
            <a:ext cx="2377440" cy="960120"/>
          </a:xfrm>
          <a:prstGeom prst="rect">
            <a:avLst/>
          </a:prstGeom>
          <a:noFill/>
        </p:spPr>
        <p:txBody>
          <a:bodyPr wrap="square" anchor="t" lIns="0" rIns="0" tIns="0" bIns="0">
            <a:spAutoFit/>
          </a:bodyPr>
          <a:lstStyle/>
          <a:p>
            <a:pPr algn="l">
              <a:lnSpc>
                <a:spcPct val="105000"/>
              </a:lnSpc>
              <a:spcBef>
                <a:spcPts val="0"/>
              </a:spcBef>
              <a:spcAft>
                <a:spcPts val="400"/>
              </a:spcAft>
            </a:pPr>
            <a:r>
              <a:rPr sz="1100" b="0" i="0">
                <a:solidFill>
                  <a:srgbClr val="5B6B73"/>
                </a:solidFill>
                <a:latin typeface="Calibri"/>
              </a:rPr>
              <a:t>No visibility into where money goes; 'where did my salary go?' by week two.</a:t>
            </a:r>
          </a:p>
        </p:txBody>
      </p:sp>
      <p:sp>
        <p:nvSpPr>
          <p:cNvPr id="18" name="Rounded Rectangle 17"/>
          <p:cNvSpPr/>
          <p:nvPr/>
        </p:nvSpPr>
        <p:spPr>
          <a:xfrm>
            <a:off x="6217920" y="2148840"/>
            <a:ext cx="2670048" cy="178308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148840"/>
            <a:ext cx="2670048" cy="9144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377440"/>
            <a:ext cx="2377440" cy="54864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B1F3A"/>
                </a:solidFill>
                <a:latin typeface="Calibri"/>
              </a:rPr>
              <a:t>Emergency cash gaps</a:t>
            </a:r>
          </a:p>
        </p:txBody>
      </p:sp>
      <p:sp>
        <p:nvSpPr>
          <p:cNvPr id="21" name="TextBox 20"/>
          <p:cNvSpPr txBox="1"/>
          <p:nvPr/>
        </p:nvSpPr>
        <p:spPr>
          <a:xfrm>
            <a:off x="6382512" y="2926080"/>
            <a:ext cx="2377440" cy="960120"/>
          </a:xfrm>
          <a:prstGeom prst="rect">
            <a:avLst/>
          </a:prstGeom>
          <a:noFill/>
        </p:spPr>
        <p:txBody>
          <a:bodyPr wrap="square" anchor="t" lIns="0" rIns="0" tIns="0" bIns="0">
            <a:spAutoFit/>
          </a:bodyPr>
          <a:lstStyle/>
          <a:p>
            <a:pPr algn="l">
              <a:lnSpc>
                <a:spcPct val="105000"/>
              </a:lnSpc>
              <a:spcBef>
                <a:spcPts val="0"/>
              </a:spcBef>
              <a:spcAft>
                <a:spcPts val="400"/>
              </a:spcAft>
            </a:pPr>
            <a:r>
              <a:rPr sz="1100" b="0" i="0">
                <a:solidFill>
                  <a:srgbClr val="5B6B73"/>
                </a:solidFill>
                <a:latin typeface="Calibri"/>
              </a:rPr>
              <a:t>An unexpected ₦15k expense forces borrowing from friends or loan-shark apps.</a:t>
            </a:r>
          </a:p>
        </p:txBody>
      </p:sp>
      <p:sp>
        <p:nvSpPr>
          <p:cNvPr id="22" name="Rounded Rectangle 21"/>
          <p:cNvSpPr/>
          <p:nvPr/>
        </p:nvSpPr>
        <p:spPr>
          <a:xfrm>
            <a:off x="9006840" y="2148840"/>
            <a:ext cx="2670048" cy="1783080"/>
          </a:xfrm>
          <a:prstGeom prst="roundRect">
            <a:avLst>
              <a:gd name="adj" fmla="val 6000"/>
            </a:avLst>
          </a:prstGeom>
          <a:solidFill>
            <a:srgbClr val="F4F7F6"/>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2148840"/>
            <a:ext cx="2670048" cy="9144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71432" y="2377440"/>
            <a:ext cx="2377440" cy="54864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B1F3A"/>
                </a:solidFill>
                <a:latin typeface="Calibri"/>
              </a:rPr>
              <a:t>Missed bills &amp; fees</a:t>
            </a:r>
          </a:p>
        </p:txBody>
      </p:sp>
      <p:sp>
        <p:nvSpPr>
          <p:cNvPr id="25" name="TextBox 24"/>
          <p:cNvSpPr txBox="1"/>
          <p:nvPr/>
        </p:nvSpPr>
        <p:spPr>
          <a:xfrm>
            <a:off x="9171432" y="2926080"/>
            <a:ext cx="2377440" cy="960120"/>
          </a:xfrm>
          <a:prstGeom prst="rect">
            <a:avLst/>
          </a:prstGeom>
          <a:noFill/>
        </p:spPr>
        <p:txBody>
          <a:bodyPr wrap="square" anchor="t" lIns="0" rIns="0" tIns="0" bIns="0">
            <a:spAutoFit/>
          </a:bodyPr>
          <a:lstStyle/>
          <a:p>
            <a:pPr algn="l">
              <a:lnSpc>
                <a:spcPct val="105000"/>
              </a:lnSpc>
              <a:spcBef>
                <a:spcPts val="0"/>
              </a:spcBef>
              <a:spcAft>
                <a:spcPts val="400"/>
              </a:spcAft>
            </a:pPr>
            <a:r>
              <a:rPr sz="1100" b="0" i="0">
                <a:solidFill>
                  <a:srgbClr val="5B6B73"/>
                </a:solidFill>
                <a:latin typeface="Calibri"/>
              </a:rPr>
              <a:t>Forgotten airtime, data, subscriptions and utility bills cause penalties and stress.</a:t>
            </a:r>
          </a:p>
        </p:txBody>
      </p:sp>
      <p:sp>
        <p:nvSpPr>
          <p:cNvPr id="26" name="Rounded Rectangle 25"/>
          <p:cNvSpPr/>
          <p:nvPr/>
        </p:nvSpPr>
        <p:spPr>
          <a:xfrm>
            <a:off x="640080" y="4206240"/>
            <a:ext cx="10927080" cy="178308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370832"/>
            <a:ext cx="104241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5FD3A3"/>
                </a:solidFill>
                <a:latin typeface="Calibri"/>
              </a:rPr>
              <a:t>WHY THIS MATTERS NOW  (illustrative market context)</a:t>
            </a:r>
          </a:p>
        </p:txBody>
      </p:sp>
      <p:sp>
        <p:nvSpPr>
          <p:cNvPr id="28" name="TextBox 27"/>
          <p:cNvSpPr txBox="1"/>
          <p:nvPr/>
        </p:nvSpPr>
        <p:spPr>
          <a:xfrm>
            <a:off x="914400" y="4800600"/>
            <a:ext cx="3291840"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5FD3A3"/>
                </a:solidFill>
                <a:latin typeface="Calibri"/>
              </a:rPr>
              <a:t>70%+</a:t>
            </a:r>
          </a:p>
        </p:txBody>
      </p:sp>
      <p:sp>
        <p:nvSpPr>
          <p:cNvPr id="29" name="TextBox 28"/>
          <p:cNvSpPr txBox="1"/>
          <p:nvPr/>
        </p:nvSpPr>
        <p:spPr>
          <a:xfrm>
            <a:off x="914400" y="5349240"/>
            <a:ext cx="3291840" cy="502920"/>
          </a:xfrm>
          <a:prstGeom prst="rect">
            <a:avLst/>
          </a:prstGeom>
          <a:noFill/>
        </p:spPr>
        <p:txBody>
          <a:bodyPr wrap="square" anchor="t" lIns="0" rIns="0" tIns="0" bIns="0">
            <a:spAutoFit/>
          </a:bodyPr>
          <a:lstStyle/>
          <a:p>
            <a:pPr algn="l">
              <a:lnSpc>
                <a:spcPct val="102000"/>
              </a:lnSpc>
              <a:spcBef>
                <a:spcPts val="0"/>
              </a:spcBef>
              <a:spcAft>
                <a:spcPts val="400"/>
              </a:spcAft>
            </a:pPr>
            <a:r>
              <a:rPr sz="1100" b="0" i="0">
                <a:solidFill>
                  <a:srgbClr val="FFFFFF"/>
                </a:solidFill>
                <a:latin typeface="Calibri"/>
              </a:rPr>
              <a:t>of Nigeria's ~220m population is under 35 — a vast, mobile-first youth market.</a:t>
            </a:r>
          </a:p>
        </p:txBody>
      </p:sp>
      <p:sp>
        <p:nvSpPr>
          <p:cNvPr id="30" name="TextBox 29"/>
          <p:cNvSpPr txBox="1"/>
          <p:nvPr/>
        </p:nvSpPr>
        <p:spPr>
          <a:xfrm>
            <a:off x="4434840" y="4800600"/>
            <a:ext cx="3291840"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5FD3A3"/>
                </a:solidFill>
                <a:latin typeface="Calibri"/>
              </a:rPr>
              <a:t>60m+</a:t>
            </a:r>
          </a:p>
        </p:txBody>
      </p:sp>
      <p:sp>
        <p:nvSpPr>
          <p:cNvPr id="31" name="TextBox 30"/>
          <p:cNvSpPr txBox="1"/>
          <p:nvPr/>
        </p:nvSpPr>
        <p:spPr>
          <a:xfrm>
            <a:off x="4434840" y="5349240"/>
            <a:ext cx="3291840" cy="502920"/>
          </a:xfrm>
          <a:prstGeom prst="rect">
            <a:avLst/>
          </a:prstGeom>
          <a:noFill/>
        </p:spPr>
        <p:txBody>
          <a:bodyPr wrap="square" anchor="t" lIns="0" rIns="0" tIns="0" bIns="0">
            <a:spAutoFit/>
          </a:bodyPr>
          <a:lstStyle/>
          <a:p>
            <a:pPr algn="l">
              <a:lnSpc>
                <a:spcPct val="102000"/>
              </a:lnSpc>
              <a:spcBef>
                <a:spcPts val="0"/>
              </a:spcBef>
              <a:spcAft>
                <a:spcPts val="400"/>
              </a:spcAft>
            </a:pPr>
            <a:r>
              <a:rPr sz="1100" b="0" i="0">
                <a:solidFill>
                  <a:srgbClr val="FFFFFF"/>
                </a:solidFill>
                <a:latin typeface="Calibri"/>
              </a:rPr>
              <a:t>Nigerians use a fintech app monthly; trust — not access — is now the battleground.</a:t>
            </a:r>
          </a:p>
        </p:txBody>
      </p:sp>
      <p:sp>
        <p:nvSpPr>
          <p:cNvPr id="32" name="TextBox 31"/>
          <p:cNvSpPr txBox="1"/>
          <p:nvPr/>
        </p:nvSpPr>
        <p:spPr>
          <a:xfrm>
            <a:off x="7955279" y="4800600"/>
            <a:ext cx="3291840"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5FD3A3"/>
                </a:solidFill>
                <a:latin typeface="Calibri"/>
              </a:rPr>
              <a:t>&lt;35%</a:t>
            </a:r>
          </a:p>
        </p:txBody>
      </p:sp>
      <p:sp>
        <p:nvSpPr>
          <p:cNvPr id="33" name="TextBox 32"/>
          <p:cNvSpPr txBox="1"/>
          <p:nvPr/>
        </p:nvSpPr>
        <p:spPr>
          <a:xfrm>
            <a:off x="7955279" y="5349240"/>
            <a:ext cx="3291840" cy="502920"/>
          </a:xfrm>
          <a:prstGeom prst="rect">
            <a:avLst/>
          </a:prstGeom>
          <a:noFill/>
        </p:spPr>
        <p:txBody>
          <a:bodyPr wrap="square" anchor="t" lIns="0" rIns="0" tIns="0" bIns="0">
            <a:spAutoFit/>
          </a:bodyPr>
          <a:lstStyle/>
          <a:p>
            <a:pPr algn="l">
              <a:lnSpc>
                <a:spcPct val="102000"/>
              </a:lnSpc>
              <a:spcBef>
                <a:spcPts val="0"/>
              </a:spcBef>
              <a:spcAft>
                <a:spcPts val="400"/>
              </a:spcAft>
            </a:pPr>
            <a:r>
              <a:rPr sz="1100" b="0" i="0">
                <a:solidFill>
                  <a:srgbClr val="FFFFFF"/>
                </a:solidFill>
                <a:latin typeface="Calibri"/>
              </a:rPr>
              <a:t>typical 30-day retention for Nigerian finance apps — Moni's 18% is fixable, not fatal.</a:t>
            </a:r>
          </a:p>
        </p:txBody>
      </p:sp>
      <p:sp>
        <p:nvSpPr>
          <p:cNvPr id="34" name="TextBox 33"/>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A1 · PRODUCT UNDERSTANDING</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The Product, USP &amp; Why Young Nigerians Care</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5</a:t>
            </a:r>
          </a:p>
        </p:txBody>
      </p:sp>
      <p:sp>
        <p:nvSpPr>
          <p:cNvPr id="9" name="TextBox 8"/>
          <p:cNvSpPr txBox="1"/>
          <p:nvPr/>
        </p:nvSpPr>
        <p:spPr>
          <a:xfrm>
            <a:off x="640080" y="1371600"/>
            <a:ext cx="1097280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B1F3A"/>
                </a:solidFill>
                <a:latin typeface="Calibri"/>
              </a:rPr>
              <a:t>FIVE FEATURES, ONE COMPANION</a:t>
            </a:r>
          </a:p>
        </p:txBody>
      </p:sp>
      <p:sp>
        <p:nvSpPr>
          <p:cNvPr id="10" name="Rounded Rectangle 9"/>
          <p:cNvSpPr/>
          <p:nvPr/>
        </p:nvSpPr>
        <p:spPr>
          <a:xfrm>
            <a:off x="640080" y="1737360"/>
            <a:ext cx="2075688" cy="16002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1874519"/>
            <a:ext cx="365760" cy="365760"/>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331720"/>
            <a:ext cx="1828800" cy="45720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B1F3A"/>
                </a:solidFill>
                <a:latin typeface="Calibri"/>
              </a:rPr>
              <a:t>Automated savings</a:t>
            </a:r>
          </a:p>
        </p:txBody>
      </p:sp>
      <p:sp>
        <p:nvSpPr>
          <p:cNvPr id="13" name="TextBox 12"/>
          <p:cNvSpPr txBox="1"/>
          <p:nvPr/>
        </p:nvSpPr>
        <p:spPr>
          <a:xfrm>
            <a:off x="777240" y="2761488"/>
            <a:ext cx="1828800" cy="548640"/>
          </a:xfrm>
          <a:prstGeom prst="rect">
            <a:avLst/>
          </a:prstGeom>
          <a:noFill/>
        </p:spPr>
        <p:txBody>
          <a:bodyPr wrap="square" anchor="t" lIns="0" rIns="0" tIns="0" bIns="0">
            <a:spAutoFit/>
          </a:bodyPr>
          <a:lstStyle/>
          <a:p>
            <a:pPr algn="l">
              <a:lnSpc>
                <a:spcPct val="100000"/>
              </a:lnSpc>
              <a:spcBef>
                <a:spcPts val="0"/>
              </a:spcBef>
              <a:spcAft>
                <a:spcPts val="400"/>
              </a:spcAft>
            </a:pPr>
            <a:r>
              <a:rPr sz="980" b="0" i="0">
                <a:solidFill>
                  <a:srgbClr val="5B6B73"/>
                </a:solidFill>
                <a:latin typeface="Calibri"/>
              </a:rPr>
              <a:t>Set-and-forget rules round up spend &amp; sweep cash on payday.</a:t>
            </a:r>
          </a:p>
        </p:txBody>
      </p:sp>
      <p:sp>
        <p:nvSpPr>
          <p:cNvPr id="14" name="Rounded Rectangle 13"/>
          <p:cNvSpPr/>
          <p:nvPr/>
        </p:nvSpPr>
        <p:spPr>
          <a:xfrm>
            <a:off x="2852928" y="1737360"/>
            <a:ext cx="2075688" cy="16002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90088" y="1874519"/>
            <a:ext cx="365760" cy="365760"/>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0088" y="2331720"/>
            <a:ext cx="1828800" cy="45720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B1F3A"/>
                </a:solidFill>
                <a:latin typeface="Calibri"/>
              </a:rPr>
              <a:t>Spend tracking</a:t>
            </a:r>
          </a:p>
        </p:txBody>
      </p:sp>
      <p:sp>
        <p:nvSpPr>
          <p:cNvPr id="17" name="TextBox 16"/>
          <p:cNvSpPr txBox="1"/>
          <p:nvPr/>
        </p:nvSpPr>
        <p:spPr>
          <a:xfrm>
            <a:off x="2990088" y="2761488"/>
            <a:ext cx="1828800" cy="548640"/>
          </a:xfrm>
          <a:prstGeom prst="rect">
            <a:avLst/>
          </a:prstGeom>
          <a:noFill/>
        </p:spPr>
        <p:txBody>
          <a:bodyPr wrap="square" anchor="t" lIns="0" rIns="0" tIns="0" bIns="0">
            <a:spAutoFit/>
          </a:bodyPr>
          <a:lstStyle/>
          <a:p>
            <a:pPr algn="l">
              <a:lnSpc>
                <a:spcPct val="100000"/>
              </a:lnSpc>
              <a:spcBef>
                <a:spcPts val="0"/>
              </a:spcBef>
              <a:spcAft>
                <a:spcPts val="400"/>
              </a:spcAft>
            </a:pPr>
            <a:r>
              <a:rPr sz="980" b="0" i="0">
                <a:solidFill>
                  <a:srgbClr val="5B6B73"/>
                </a:solidFill>
                <a:latin typeface="Calibri"/>
              </a:rPr>
              <a:t>Auto-categorised insights — see exactly where money goes.</a:t>
            </a:r>
          </a:p>
        </p:txBody>
      </p:sp>
      <p:sp>
        <p:nvSpPr>
          <p:cNvPr id="18" name="Rounded Rectangle 17"/>
          <p:cNvSpPr/>
          <p:nvPr/>
        </p:nvSpPr>
        <p:spPr>
          <a:xfrm>
            <a:off x="5065776" y="1737360"/>
            <a:ext cx="2075688" cy="16002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202936" y="1874519"/>
            <a:ext cx="365760" cy="365760"/>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02936" y="2331720"/>
            <a:ext cx="1828800" cy="45720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B1F3A"/>
                </a:solidFill>
                <a:latin typeface="Calibri"/>
              </a:rPr>
              <a:t>Bill reminders</a:t>
            </a:r>
          </a:p>
        </p:txBody>
      </p:sp>
      <p:sp>
        <p:nvSpPr>
          <p:cNvPr id="21" name="TextBox 20"/>
          <p:cNvSpPr txBox="1"/>
          <p:nvPr/>
        </p:nvSpPr>
        <p:spPr>
          <a:xfrm>
            <a:off x="5202936" y="2761488"/>
            <a:ext cx="1828800" cy="548640"/>
          </a:xfrm>
          <a:prstGeom prst="rect">
            <a:avLst/>
          </a:prstGeom>
          <a:noFill/>
        </p:spPr>
        <p:txBody>
          <a:bodyPr wrap="square" anchor="t" lIns="0" rIns="0" tIns="0" bIns="0">
            <a:spAutoFit/>
          </a:bodyPr>
          <a:lstStyle/>
          <a:p>
            <a:pPr algn="l">
              <a:lnSpc>
                <a:spcPct val="100000"/>
              </a:lnSpc>
              <a:spcBef>
                <a:spcPts val="0"/>
              </a:spcBef>
              <a:spcAft>
                <a:spcPts val="400"/>
              </a:spcAft>
            </a:pPr>
            <a:r>
              <a:rPr sz="980" b="0" i="0">
                <a:solidFill>
                  <a:srgbClr val="5B6B73"/>
                </a:solidFill>
                <a:latin typeface="Calibri"/>
              </a:rPr>
              <a:t>Never miss airtime, data, rent or subscriptions again.</a:t>
            </a:r>
          </a:p>
        </p:txBody>
      </p:sp>
      <p:sp>
        <p:nvSpPr>
          <p:cNvPr id="22" name="Rounded Rectangle 21"/>
          <p:cNvSpPr/>
          <p:nvPr/>
        </p:nvSpPr>
        <p:spPr>
          <a:xfrm>
            <a:off x="7278624" y="1737360"/>
            <a:ext cx="2075688" cy="16002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15783" y="1874519"/>
            <a:ext cx="365760" cy="365760"/>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2331720"/>
            <a:ext cx="1828800" cy="45720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B1F3A"/>
                </a:solidFill>
                <a:latin typeface="Calibri"/>
              </a:rPr>
              <a:t>Emergency advances</a:t>
            </a:r>
          </a:p>
        </p:txBody>
      </p:sp>
      <p:sp>
        <p:nvSpPr>
          <p:cNvPr id="25" name="TextBox 24"/>
          <p:cNvSpPr txBox="1"/>
          <p:nvPr/>
        </p:nvSpPr>
        <p:spPr>
          <a:xfrm>
            <a:off x="7415783" y="2761488"/>
            <a:ext cx="1828800" cy="548640"/>
          </a:xfrm>
          <a:prstGeom prst="rect">
            <a:avLst/>
          </a:prstGeom>
          <a:noFill/>
        </p:spPr>
        <p:txBody>
          <a:bodyPr wrap="square" anchor="t" lIns="0" rIns="0" tIns="0" bIns="0">
            <a:spAutoFit/>
          </a:bodyPr>
          <a:lstStyle/>
          <a:p>
            <a:pPr algn="l">
              <a:lnSpc>
                <a:spcPct val="100000"/>
              </a:lnSpc>
              <a:spcBef>
                <a:spcPts val="0"/>
              </a:spcBef>
              <a:spcAft>
                <a:spcPts val="400"/>
              </a:spcAft>
            </a:pPr>
            <a:r>
              <a:rPr sz="980" b="0" i="0">
                <a:solidFill>
                  <a:srgbClr val="5B6B73"/>
                </a:solidFill>
                <a:latin typeface="Calibri"/>
              </a:rPr>
              <a:t>Small, fair micro-advances to bridge cash-flow gaps.</a:t>
            </a:r>
          </a:p>
        </p:txBody>
      </p:sp>
      <p:sp>
        <p:nvSpPr>
          <p:cNvPr id="26" name="Rounded Rectangle 25"/>
          <p:cNvSpPr/>
          <p:nvPr/>
        </p:nvSpPr>
        <p:spPr>
          <a:xfrm>
            <a:off x="9491472" y="1737360"/>
            <a:ext cx="2075688" cy="16002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628632" y="1874519"/>
            <a:ext cx="365760" cy="365760"/>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28632" y="2331720"/>
            <a:ext cx="1828800" cy="45720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B1F3A"/>
                </a:solidFill>
                <a:latin typeface="Calibri"/>
              </a:rPr>
              <a:t>Goal challenges</a:t>
            </a:r>
          </a:p>
        </p:txBody>
      </p:sp>
      <p:sp>
        <p:nvSpPr>
          <p:cNvPr id="29" name="TextBox 28"/>
          <p:cNvSpPr txBox="1"/>
          <p:nvPr/>
        </p:nvSpPr>
        <p:spPr>
          <a:xfrm>
            <a:off x="9628632" y="2761488"/>
            <a:ext cx="1828800" cy="548640"/>
          </a:xfrm>
          <a:prstGeom prst="rect">
            <a:avLst/>
          </a:prstGeom>
          <a:noFill/>
        </p:spPr>
        <p:txBody>
          <a:bodyPr wrap="square" anchor="t" lIns="0" rIns="0" tIns="0" bIns="0">
            <a:spAutoFit/>
          </a:bodyPr>
          <a:lstStyle/>
          <a:p>
            <a:pPr algn="l">
              <a:lnSpc>
                <a:spcPct val="100000"/>
              </a:lnSpc>
              <a:spcBef>
                <a:spcPts val="0"/>
              </a:spcBef>
              <a:spcAft>
                <a:spcPts val="400"/>
              </a:spcAft>
            </a:pPr>
            <a:r>
              <a:rPr sz="980" b="0" i="0">
                <a:solidFill>
                  <a:srgbClr val="5B6B73"/>
                </a:solidFill>
                <a:latin typeface="Calibri"/>
              </a:rPr>
              <a:t>Gamified, social savings challenges that build habit.</a:t>
            </a:r>
          </a:p>
        </p:txBody>
      </p:sp>
      <p:sp>
        <p:nvSpPr>
          <p:cNvPr id="30" name="Rounded Rectangle 29"/>
          <p:cNvSpPr/>
          <p:nvPr/>
        </p:nvSpPr>
        <p:spPr>
          <a:xfrm>
            <a:off x="640080" y="3611880"/>
            <a:ext cx="5349240" cy="2377440"/>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3794760"/>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B1F3A"/>
                </a:solidFill>
                <a:latin typeface="Calibri"/>
              </a:rPr>
              <a:t>UNIQUE SELLING PROPOSITION</a:t>
            </a:r>
          </a:p>
        </p:txBody>
      </p:sp>
      <p:sp>
        <p:nvSpPr>
          <p:cNvPr id="32" name="TextBox 31"/>
          <p:cNvSpPr txBox="1"/>
          <p:nvPr/>
        </p:nvSpPr>
        <p:spPr>
          <a:xfrm>
            <a:off x="868680" y="4160520"/>
            <a:ext cx="4937760" cy="1737360"/>
          </a:xfrm>
          <a:prstGeom prst="rect">
            <a:avLst/>
          </a:prstGeom>
          <a:noFill/>
        </p:spPr>
        <p:txBody>
          <a:bodyPr wrap="square" anchor="t" lIns="0" rIns="0" tIns="0" bIns="0">
            <a:spAutoFit/>
          </a:bodyPr>
          <a:lstStyle/>
          <a:p>
            <a:pPr algn="l">
              <a:lnSpc>
                <a:spcPct val="105000"/>
              </a:lnSpc>
              <a:spcBef>
                <a:spcPts val="0"/>
              </a:spcBef>
              <a:spcAft>
                <a:spcPts val="400"/>
              </a:spcAft>
            </a:pPr>
            <a:r>
              <a:rPr sz="1600" b="1" i="0">
                <a:solidFill>
                  <a:srgbClr val="FFFFFF"/>
                </a:solidFill>
                <a:latin typeface="Calibri"/>
              </a:rPr>
              <a:t>“The everyday money companion that </a:t>
            </a:r>
            <a:r>
              <a:rPr sz="1600" b="1" i="0">
                <a:solidFill>
                  <a:srgbClr val="0B1F3A"/>
                </a:solidFill>
                <a:latin typeface="Calibri"/>
              </a:rPr>
              <a:t>saves, reminds and rescues</a:t>
            </a:r>
            <a:r>
              <a:rPr sz="1600" b="1" i="0">
                <a:solidFill>
                  <a:srgbClr val="FFFFFF"/>
                </a:solidFill>
                <a:latin typeface="Calibri"/>
              </a:rPr>
              <a:t> — automatically — so ambitious young Nigerians stay one step ahead of their money.”</a:t>
            </a:r>
          </a:p>
        </p:txBody>
      </p:sp>
      <p:sp>
        <p:nvSpPr>
          <p:cNvPr id="33" name="Rounded Rectangle 32"/>
          <p:cNvSpPr/>
          <p:nvPr/>
        </p:nvSpPr>
        <p:spPr>
          <a:xfrm>
            <a:off x="6172200" y="3611880"/>
            <a:ext cx="5394960" cy="2377440"/>
          </a:xfrm>
          <a:prstGeom prst="roundRect">
            <a:avLst>
              <a:gd name="adj" fmla="val 6000"/>
            </a:avLst>
          </a:prstGeom>
          <a:solidFill>
            <a:srgbClr val="0B1F3A"/>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3767328"/>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5FD3A3"/>
                </a:solidFill>
                <a:latin typeface="Calibri"/>
              </a:rPr>
              <a:t>WHAT MAKES MONI DIFFERENT</a:t>
            </a:r>
          </a:p>
        </p:txBody>
      </p:sp>
      <p:sp>
        <p:nvSpPr>
          <p:cNvPr id="35" name="TextBox 34"/>
          <p:cNvSpPr txBox="1"/>
          <p:nvPr/>
        </p:nvSpPr>
        <p:spPr>
          <a:xfrm>
            <a:off x="6400800" y="4114800"/>
            <a:ext cx="4937760" cy="1828800"/>
          </a:xfrm>
          <a:prstGeom prst="rect">
            <a:avLst/>
          </a:prstGeom>
          <a:noFill/>
        </p:spPr>
        <p:txBody>
          <a:bodyPr wrap="square" lIns="0" rIns="0" tIns="0" bIns="0">
            <a:spAutoFit/>
          </a:bodyPr>
          <a:lstStyle/>
          <a:p>
            <a:pPr>
              <a:lnSpc>
                <a:spcPct val="104000"/>
              </a:lnSpc>
              <a:spcAft>
                <a:spcPts val="400"/>
              </a:spcAft>
            </a:pPr>
            <a:r>
              <a:rPr sz="1080" b="1">
                <a:solidFill>
                  <a:srgbClr val="5FD3A3"/>
                </a:solidFill>
                <a:latin typeface="Calibri"/>
              </a:rPr>
              <a:t>▸  </a:t>
            </a:r>
            <a:r>
              <a:rPr sz="1080">
                <a:solidFill>
                  <a:srgbClr val="FFFFFF"/>
                </a:solidFill>
                <a:latin typeface="Calibri"/>
              </a:rPr>
              <a:t>All-in-one: savings + tracking + bills + advances in one habit loop (rivals do one well).</a:t>
            </a:r>
          </a:p>
          <a:p>
            <a:pPr>
              <a:lnSpc>
                <a:spcPct val="104000"/>
              </a:lnSpc>
              <a:spcAft>
                <a:spcPts val="400"/>
              </a:spcAft>
            </a:pPr>
            <a:r>
              <a:rPr sz="1080" b="1">
                <a:solidFill>
                  <a:srgbClr val="5FD3A3"/>
                </a:solidFill>
                <a:latin typeface="Calibri"/>
              </a:rPr>
              <a:t>▸  </a:t>
            </a:r>
            <a:r>
              <a:rPr sz="1080">
                <a:solidFill>
                  <a:srgbClr val="FFFFFF"/>
                </a:solidFill>
                <a:latin typeface="Calibri"/>
              </a:rPr>
              <a:t>Companion, not vault: proactive nudges, not a passive piggy bank.</a:t>
            </a:r>
          </a:p>
          <a:p>
            <a:pPr>
              <a:lnSpc>
                <a:spcPct val="104000"/>
              </a:lnSpc>
              <a:spcAft>
                <a:spcPts val="400"/>
              </a:spcAft>
            </a:pPr>
            <a:r>
              <a:rPr sz="1080" b="1">
                <a:solidFill>
                  <a:srgbClr val="5FD3A3"/>
                </a:solidFill>
                <a:latin typeface="Calibri"/>
              </a:rPr>
              <a:t>▸  </a:t>
            </a:r>
            <a:r>
              <a:rPr sz="1080">
                <a:solidFill>
                  <a:srgbClr val="FFFFFF"/>
                </a:solidFill>
                <a:latin typeface="Calibri"/>
              </a:rPr>
              <a:t>Built for irregular income — flexible rules, not rigid monthly debits.</a:t>
            </a:r>
          </a:p>
          <a:p>
            <a:pPr>
              <a:lnSpc>
                <a:spcPct val="104000"/>
              </a:lnSpc>
              <a:spcAft>
                <a:spcPts val="400"/>
              </a:spcAft>
            </a:pPr>
            <a:r>
              <a:rPr sz="1080" b="1">
                <a:solidFill>
                  <a:srgbClr val="5FD3A3"/>
                </a:solidFill>
                <a:latin typeface="Calibri"/>
              </a:rPr>
              <a:t>▸  </a:t>
            </a:r>
            <a:r>
              <a:rPr sz="1080">
                <a:solidFill>
                  <a:srgbClr val="FFFFFF"/>
                </a:solidFill>
                <a:latin typeface="Calibri"/>
              </a:rPr>
              <a:t>Trust-first design: transparent fees, NDIC-insured partner, no hidden charges.</a:t>
            </a:r>
          </a:p>
          <a:p>
            <a:pPr>
              <a:lnSpc>
                <a:spcPct val="104000"/>
              </a:lnSpc>
              <a:spcAft>
                <a:spcPts val="400"/>
              </a:spcAft>
            </a:pPr>
            <a:r>
              <a:rPr sz="1080" b="1">
                <a:solidFill>
                  <a:srgbClr val="5FD3A3"/>
                </a:solidFill>
                <a:latin typeface="Calibri"/>
              </a:rPr>
              <a:t>▸  </a:t>
            </a:r>
            <a:r>
              <a:rPr sz="1080">
                <a:solidFill>
                  <a:srgbClr val="FFFFFF"/>
                </a:solidFill>
                <a:latin typeface="Calibri"/>
              </a:rPr>
              <a:t>Community + culture: challenges, streaks and Naija humour drive daily habit.</a:t>
            </a:r>
          </a:p>
        </p:txBody>
      </p:sp>
      <p:sp>
        <p:nvSpPr>
          <p:cNvPr id="36" name="TextBox 35"/>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A2 · COMPETITIVE INTELLIGENCE</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How Moni Stacks Up</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6</a:t>
            </a:r>
          </a:p>
        </p:txBody>
      </p:sp>
      <p:graphicFrame>
        <p:nvGraphicFramePr>
          <p:cNvPr id="9" name="Table 8"/>
          <p:cNvGraphicFramePr>
            <a:graphicFrameLocks noGrp="1"/>
          </p:cNvGraphicFramePr>
          <p:nvPr/>
        </p:nvGraphicFramePr>
        <p:xfrm>
          <a:off x="502920" y="1417320"/>
          <a:ext cx="11201398" cy="4178808"/>
        </p:xfrm>
        <a:graphic>
          <a:graphicData uri="http://schemas.openxmlformats.org/drawingml/2006/table">
            <a:tbl>
              <a:tblPr firstRow="1" bandRow="0">
                <a:tableStyleId>{5C22544A-7EE6-4342-B048-85BDC9FD1C3A}</a:tableStyleId>
              </a:tblPr>
              <a:tblGrid>
                <a:gridCol w="1555750"/>
                <a:gridCol w="2115820"/>
                <a:gridCol w="1929130"/>
                <a:gridCol w="1929130"/>
                <a:gridCol w="1804669"/>
                <a:gridCol w="1866899"/>
              </a:tblGrid>
              <a:tr h="384048">
                <a:tc>
                  <a:txBody>
                    <a:bodyPr/>
                    <a:lstStyle/>
                    <a:p>
                      <a:pPr>
                        <a:lnSpc>
                          <a:spcPct val="98000"/>
                        </a:lnSpc>
                      </a:pPr>
                    </a:p>
                  </a:txBody>
                  <a:tcPr marL="76200" marR="76200" marT="38100" marB="38100" anchor="ctr">
                    <a:solidFill>
                      <a:srgbClr val="0B1F3A"/>
                    </a:solidFill>
                  </a:tcPr>
                </a:tc>
                <a:tc>
                  <a:txBody>
                    <a:bodyPr/>
                    <a:lstStyle/>
                    <a:p>
                      <a:pPr>
                        <a:lnSpc>
                          <a:spcPct val="98000"/>
                        </a:lnSpc>
                      </a:pPr>
                      <a:r>
                        <a:rPr sz="1100" b="1">
                          <a:solidFill>
                            <a:srgbClr val="FFFFFF"/>
                          </a:solidFill>
                          <a:latin typeface="Calibri"/>
                        </a:rPr>
                        <a:t>Moni</a:t>
                      </a:r>
                    </a:p>
                  </a:txBody>
                  <a:tcPr marL="76200" marR="76200" marT="38100" marB="38100" anchor="ctr">
                    <a:solidFill>
                      <a:srgbClr val="0B1F3A"/>
                    </a:solidFill>
                  </a:tcPr>
                </a:tc>
                <a:tc>
                  <a:txBody>
                    <a:bodyPr/>
                    <a:lstStyle/>
                    <a:p>
                      <a:pPr>
                        <a:lnSpc>
                          <a:spcPct val="98000"/>
                        </a:lnSpc>
                      </a:pPr>
                      <a:r>
                        <a:rPr sz="1100" b="1">
                          <a:solidFill>
                            <a:srgbClr val="FFFFFF"/>
                          </a:solidFill>
                          <a:latin typeface="Calibri"/>
                        </a:rPr>
                        <a:t>PiggyVest</a:t>
                      </a:r>
                    </a:p>
                  </a:txBody>
                  <a:tcPr marL="76200" marR="76200" marT="38100" marB="38100" anchor="ctr">
                    <a:solidFill>
                      <a:srgbClr val="0B1F3A"/>
                    </a:solidFill>
                  </a:tcPr>
                </a:tc>
                <a:tc>
                  <a:txBody>
                    <a:bodyPr/>
                    <a:lstStyle/>
                    <a:p>
                      <a:pPr>
                        <a:lnSpc>
                          <a:spcPct val="98000"/>
                        </a:lnSpc>
                      </a:pPr>
                      <a:r>
                        <a:rPr sz="1100" b="1">
                          <a:solidFill>
                            <a:srgbClr val="FFFFFF"/>
                          </a:solidFill>
                          <a:latin typeface="Calibri"/>
                        </a:rPr>
                        <a:t>Opay</a:t>
                      </a:r>
                    </a:p>
                  </a:txBody>
                  <a:tcPr marL="76200" marR="76200" marT="38100" marB="38100" anchor="ctr">
                    <a:solidFill>
                      <a:srgbClr val="0B1F3A"/>
                    </a:solidFill>
                  </a:tcPr>
                </a:tc>
                <a:tc>
                  <a:txBody>
                    <a:bodyPr/>
                    <a:lstStyle/>
                    <a:p>
                      <a:pPr>
                        <a:lnSpc>
                          <a:spcPct val="98000"/>
                        </a:lnSpc>
                      </a:pPr>
                      <a:r>
                        <a:rPr sz="1100" b="1">
                          <a:solidFill>
                            <a:srgbClr val="FFFFFF"/>
                          </a:solidFill>
                          <a:latin typeface="Calibri"/>
                        </a:rPr>
                        <a:t>Kuda Bank</a:t>
                      </a:r>
                    </a:p>
                  </a:txBody>
                  <a:tcPr marL="76200" marR="76200" marT="38100" marB="38100" anchor="ctr">
                    <a:solidFill>
                      <a:srgbClr val="0B1F3A"/>
                    </a:solidFill>
                  </a:tcPr>
                </a:tc>
                <a:tc>
                  <a:txBody>
                    <a:bodyPr/>
                    <a:lstStyle/>
                    <a:p>
                      <a:pPr>
                        <a:lnSpc>
                          <a:spcPct val="98000"/>
                        </a:lnSpc>
                      </a:pPr>
                      <a:r>
                        <a:rPr sz="1100" b="1">
                          <a:solidFill>
                            <a:srgbClr val="FFFFFF"/>
                          </a:solidFill>
                          <a:latin typeface="Calibri"/>
                        </a:rPr>
                        <a:t>PalmPay</a:t>
                      </a:r>
                    </a:p>
                  </a:txBody>
                  <a:tcPr marL="76200" marR="76200" marT="38100" marB="38100" anchor="ctr">
                    <a:solidFill>
                      <a:srgbClr val="0B1F3A"/>
                    </a:solidFill>
                  </a:tcPr>
                </a:tc>
              </a:tr>
              <a:tr h="758952">
                <a:tc>
                  <a:txBody>
                    <a:bodyPr/>
                    <a:lstStyle/>
                    <a:p>
                      <a:pPr>
                        <a:lnSpc>
                          <a:spcPct val="98000"/>
                        </a:lnSpc>
                      </a:pPr>
                      <a:r>
                        <a:rPr sz="960" b="1">
                          <a:solidFill>
                            <a:srgbClr val="1A2A33"/>
                          </a:solidFill>
                          <a:latin typeface="Calibri"/>
                        </a:rPr>
                        <a:t>Core focus</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Money companion: save+track+bills+advance</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Goal &amp; locked savings, investments</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Payments, transfers, agency banking</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Free digital bank, budgeting</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Payments, transfers, rewards</a:t>
                      </a:r>
                    </a:p>
                  </a:txBody>
                  <a:tcPr marL="76200" marR="76200" marT="38100" marB="38100" anchor="ctr">
                    <a:solidFill>
                      <a:srgbClr val="FFFFFF"/>
                    </a:solidFill>
                  </a:tcPr>
                </a:tc>
              </a:tr>
              <a:tr h="758952">
                <a:tc>
                  <a:txBody>
                    <a:bodyPr/>
                    <a:lstStyle/>
                    <a:p>
                      <a:pPr>
                        <a:lnSpc>
                          <a:spcPct val="98000"/>
                        </a:lnSpc>
                      </a:pPr>
                      <a:r>
                        <a:rPr sz="960" b="1">
                          <a:solidFill>
                            <a:srgbClr val="1A2A33"/>
                          </a:solidFill>
                          <a:latin typeface="Calibri"/>
                        </a:rPr>
                        <a:t>Typical charges</a:t>
                      </a:r>
                    </a:p>
                  </a:txBody>
                  <a:tcPr marL="76200" marR="76200" marT="38100" marB="38100" anchor="ctr">
                    <a:solidFill>
                      <a:srgbClr val="E3F6ED"/>
                    </a:solidFill>
                  </a:tcPr>
                </a:tc>
                <a:tc>
                  <a:txBody>
                    <a:bodyPr/>
                    <a:lstStyle/>
                    <a:p>
                      <a:pPr>
                        <a:lnSpc>
                          <a:spcPct val="98000"/>
                        </a:lnSpc>
                      </a:pPr>
                      <a:r>
                        <a:rPr sz="960" b="0">
                          <a:solidFill>
                            <a:srgbClr val="1A2A33"/>
                          </a:solidFill>
                          <a:latin typeface="Calibri"/>
                        </a:rPr>
                        <a:t>Free core; fair, transparent advance fee</a:t>
                      </a:r>
                    </a:p>
                  </a:txBody>
                  <a:tcPr marL="76200" marR="76200" marT="38100" marB="38100" anchor="ctr">
                    <a:solidFill>
                      <a:srgbClr val="E3F6ED"/>
                    </a:solidFill>
                  </a:tcPr>
                </a:tc>
                <a:tc>
                  <a:txBody>
                    <a:bodyPr/>
                    <a:lstStyle/>
                    <a:p>
                      <a:pPr>
                        <a:lnSpc>
                          <a:spcPct val="98000"/>
                        </a:lnSpc>
                      </a:pPr>
                      <a:r>
                        <a:rPr sz="960" b="0">
                          <a:solidFill>
                            <a:srgbClr val="1A2A33"/>
                          </a:solidFill>
                          <a:latin typeface="Calibri"/>
                        </a:rPr>
                        <a:t>Free; penalty on early withdrawal</a:t>
                      </a:r>
                    </a:p>
                  </a:txBody>
                  <a:tcPr marL="76200" marR="76200" marT="38100" marB="38100" anchor="ctr">
                    <a:solidFill>
                      <a:srgbClr val="E3F6ED"/>
                    </a:solidFill>
                  </a:tcPr>
                </a:tc>
                <a:tc>
                  <a:txBody>
                    <a:bodyPr/>
                    <a:lstStyle/>
                    <a:p>
                      <a:pPr>
                        <a:lnSpc>
                          <a:spcPct val="98000"/>
                        </a:lnSpc>
                      </a:pPr>
                      <a:r>
                        <a:rPr sz="960" b="0">
                          <a:solidFill>
                            <a:srgbClr val="1A2A33"/>
                          </a:solidFill>
                          <a:latin typeface="Calibri"/>
                        </a:rPr>
                        <a:t>Low fees; some transfer charges</a:t>
                      </a:r>
                    </a:p>
                  </a:txBody>
                  <a:tcPr marL="76200" marR="76200" marT="38100" marB="38100" anchor="ctr">
                    <a:solidFill>
                      <a:srgbClr val="E3F6ED"/>
                    </a:solidFill>
                  </a:tcPr>
                </a:tc>
                <a:tc>
                  <a:txBody>
                    <a:bodyPr/>
                    <a:lstStyle/>
                    <a:p>
                      <a:pPr>
                        <a:lnSpc>
                          <a:spcPct val="98000"/>
                        </a:lnSpc>
                      </a:pPr>
                      <a:r>
                        <a:rPr sz="960" b="0">
                          <a:solidFill>
                            <a:srgbClr val="1A2A33"/>
                          </a:solidFill>
                          <a:latin typeface="Calibri"/>
                        </a:rPr>
                        <a:t>Free transfers (capped)</a:t>
                      </a:r>
                    </a:p>
                  </a:txBody>
                  <a:tcPr marL="76200" marR="76200" marT="38100" marB="38100" anchor="ctr">
                    <a:solidFill>
                      <a:srgbClr val="E3F6ED"/>
                    </a:solidFill>
                  </a:tcPr>
                </a:tc>
                <a:tc>
                  <a:txBody>
                    <a:bodyPr/>
                    <a:lstStyle/>
                    <a:p>
                      <a:pPr>
                        <a:lnSpc>
                          <a:spcPct val="98000"/>
                        </a:lnSpc>
                      </a:pPr>
                      <a:r>
                        <a:rPr sz="960" b="0">
                          <a:solidFill>
                            <a:srgbClr val="1A2A33"/>
                          </a:solidFill>
                          <a:latin typeface="Calibri"/>
                        </a:rPr>
                        <a:t>Low/zero transfer fees</a:t>
                      </a:r>
                    </a:p>
                  </a:txBody>
                  <a:tcPr marL="76200" marR="76200" marT="38100" marB="38100" anchor="ctr">
                    <a:solidFill>
                      <a:srgbClr val="E3F6ED"/>
                    </a:solidFill>
                  </a:tcPr>
                </a:tc>
              </a:tr>
              <a:tr h="758952">
                <a:tc>
                  <a:txBody>
                    <a:bodyPr/>
                    <a:lstStyle/>
                    <a:p>
                      <a:pPr>
                        <a:lnSpc>
                          <a:spcPct val="98000"/>
                        </a:lnSpc>
                      </a:pPr>
                      <a:r>
                        <a:rPr sz="960" b="1">
                          <a:solidFill>
                            <a:srgbClr val="1A2A33"/>
                          </a:solidFill>
                          <a:latin typeface="Calibri"/>
                        </a:rPr>
                        <a:t>Trust perception</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New — must be earned</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High (savings trust leader)</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Medium (scale, some support gripes)</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High among Gen-Z</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Medium-high, growing</a:t>
                      </a:r>
                    </a:p>
                  </a:txBody>
                  <a:tcPr marL="76200" marR="76200" marT="38100" marB="38100" anchor="ctr">
                    <a:solidFill>
                      <a:srgbClr val="FFFFFF"/>
                    </a:solidFill>
                  </a:tcPr>
                </a:tc>
              </a:tr>
              <a:tr h="758952">
                <a:tc>
                  <a:txBody>
                    <a:bodyPr/>
                    <a:lstStyle/>
                    <a:p>
                      <a:pPr>
                        <a:lnSpc>
                          <a:spcPct val="98000"/>
                        </a:lnSpc>
                      </a:pPr>
                      <a:r>
                        <a:rPr sz="960" b="1">
                          <a:solidFill>
                            <a:srgbClr val="1A2A33"/>
                          </a:solidFill>
                          <a:latin typeface="Calibri"/>
                        </a:rPr>
                        <a:t>Positioning</a:t>
                      </a:r>
                    </a:p>
                  </a:txBody>
                  <a:tcPr marL="76200" marR="76200" marT="38100" marB="38100" anchor="ctr">
                    <a:solidFill>
                      <a:srgbClr val="E3F6ED"/>
                    </a:solidFill>
                  </a:tcPr>
                </a:tc>
                <a:tc>
                  <a:txBody>
                    <a:bodyPr/>
                    <a:lstStyle/>
                    <a:p>
                      <a:pPr>
                        <a:lnSpc>
                          <a:spcPct val="98000"/>
                        </a:lnSpc>
                      </a:pPr>
                      <a:r>
                        <a:rPr sz="960" b="0">
                          <a:solidFill>
                            <a:srgbClr val="1A2A33"/>
                          </a:solidFill>
                          <a:latin typeface="Calibri"/>
                        </a:rPr>
                        <a:t>Everyday companion for ambition</a:t>
                      </a:r>
                    </a:p>
                  </a:txBody>
                  <a:tcPr marL="76200" marR="76200" marT="38100" marB="38100" anchor="ctr">
                    <a:solidFill>
                      <a:srgbClr val="E3F6ED"/>
                    </a:solidFill>
                  </a:tcPr>
                </a:tc>
                <a:tc>
                  <a:txBody>
                    <a:bodyPr/>
                    <a:lstStyle/>
                    <a:p>
                      <a:pPr>
                        <a:lnSpc>
                          <a:spcPct val="98000"/>
                        </a:lnSpc>
                      </a:pPr>
                      <a:r>
                        <a:rPr sz="960" b="0">
                          <a:solidFill>
                            <a:srgbClr val="1A2A33"/>
                          </a:solidFill>
                          <a:latin typeface="Calibri"/>
                        </a:rPr>
                        <a:t>“Save &amp; invest with ease”</a:t>
                      </a:r>
                    </a:p>
                  </a:txBody>
                  <a:tcPr marL="76200" marR="76200" marT="38100" marB="38100" anchor="ctr">
                    <a:solidFill>
                      <a:srgbClr val="E3F6ED"/>
                    </a:solidFill>
                  </a:tcPr>
                </a:tc>
                <a:tc>
                  <a:txBody>
                    <a:bodyPr/>
                    <a:lstStyle/>
                    <a:p>
                      <a:pPr>
                        <a:lnSpc>
                          <a:spcPct val="98000"/>
                        </a:lnSpc>
                      </a:pPr>
                      <a:r>
                        <a:rPr sz="960" b="0">
                          <a:solidFill>
                            <a:srgbClr val="1A2A33"/>
                          </a:solidFill>
                          <a:latin typeface="Calibri"/>
                        </a:rPr>
                        <a:t>“Beyond banking” super-app</a:t>
                      </a:r>
                    </a:p>
                  </a:txBody>
                  <a:tcPr marL="76200" marR="76200" marT="38100" marB="38100" anchor="ctr">
                    <a:solidFill>
                      <a:srgbClr val="E3F6ED"/>
                    </a:solidFill>
                  </a:tcPr>
                </a:tc>
                <a:tc>
                  <a:txBody>
                    <a:bodyPr/>
                    <a:lstStyle/>
                    <a:p>
                      <a:pPr>
                        <a:lnSpc>
                          <a:spcPct val="98000"/>
                        </a:lnSpc>
                      </a:pPr>
                      <a:r>
                        <a:rPr sz="960" b="0">
                          <a:solidFill>
                            <a:srgbClr val="1A2A33"/>
                          </a:solidFill>
                          <a:latin typeface="Calibri"/>
                        </a:rPr>
                        <a:t>“The bank of the free”</a:t>
                      </a:r>
                    </a:p>
                  </a:txBody>
                  <a:tcPr marL="76200" marR="76200" marT="38100" marB="38100" anchor="ctr">
                    <a:solidFill>
                      <a:srgbClr val="E3F6ED"/>
                    </a:solidFill>
                  </a:tcPr>
                </a:tc>
                <a:tc>
                  <a:txBody>
                    <a:bodyPr/>
                    <a:lstStyle/>
                    <a:p>
                      <a:pPr>
                        <a:lnSpc>
                          <a:spcPct val="98000"/>
                        </a:lnSpc>
                      </a:pPr>
                      <a:r>
                        <a:rPr sz="960" b="0">
                          <a:solidFill>
                            <a:srgbClr val="1A2A33"/>
                          </a:solidFill>
                          <a:latin typeface="Calibri"/>
                        </a:rPr>
                        <a:t>“Payments made easy”</a:t>
                      </a:r>
                    </a:p>
                  </a:txBody>
                  <a:tcPr marL="76200" marR="76200" marT="38100" marB="38100" anchor="ctr">
                    <a:solidFill>
                      <a:srgbClr val="E3F6ED"/>
                    </a:solidFill>
                  </a:tcPr>
                </a:tc>
              </a:tr>
              <a:tr h="758952">
                <a:tc>
                  <a:txBody>
                    <a:bodyPr/>
                    <a:lstStyle/>
                    <a:p>
                      <a:pPr>
                        <a:lnSpc>
                          <a:spcPct val="98000"/>
                        </a:lnSpc>
                      </a:pPr>
                      <a:r>
                        <a:rPr sz="960" b="1">
                          <a:solidFill>
                            <a:srgbClr val="1A2A33"/>
                          </a:solidFill>
                          <a:latin typeface="Calibri"/>
                        </a:rPr>
                        <a:t>Retention lever</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Habit loop + community + advances</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Locked savings + interest</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Ubiquity &amp; cashbacks</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Free banking</a:t>
                      </a:r>
                    </a:p>
                  </a:txBody>
                  <a:tcPr marL="76200" marR="76200" marT="38100" marB="38100" anchor="ctr">
                    <a:solidFill>
                      <a:srgbClr val="FFFFFF"/>
                    </a:solidFill>
                  </a:tcPr>
                </a:tc>
                <a:tc>
                  <a:txBody>
                    <a:bodyPr/>
                    <a:lstStyle/>
                    <a:p>
                      <a:pPr>
                        <a:lnSpc>
                          <a:spcPct val="98000"/>
                        </a:lnSpc>
                      </a:pPr>
                      <a:r>
                        <a:rPr sz="960" b="0">
                          <a:solidFill>
                            <a:srgbClr val="1A2A33"/>
                          </a:solidFill>
                          <a:latin typeface="Calibri"/>
                        </a:rPr>
                        <a:t>Cashback rewards</a:t>
                      </a:r>
                    </a:p>
                  </a:txBody>
                  <a:tcPr marL="76200" marR="76200" marT="38100" marB="38100" anchor="ctr">
                    <a:solidFill>
                      <a:srgbClr val="FFFFFF"/>
                    </a:solidFill>
                  </a:tcPr>
                </a:tc>
              </a:tr>
            </a:tbl>
          </a:graphicData>
        </a:graphic>
      </p:graphicFrame>
      <p:sp>
        <p:nvSpPr>
          <p:cNvPr id="10" name="TextBox 9"/>
          <p:cNvSpPr txBox="1"/>
          <p:nvPr/>
        </p:nvSpPr>
        <p:spPr>
          <a:xfrm>
            <a:off x="502920" y="617220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0A86B"/>
                </a:solidFill>
                <a:latin typeface="Calibri"/>
              </a:rPr>
              <a:t>Takeaway:  </a:t>
            </a:r>
            <a:r>
              <a:rPr sz="1200" b="0" i="0">
                <a:solidFill>
                  <a:srgbClr val="1A2A33"/>
                </a:solidFill>
                <a:latin typeface="Calibri"/>
              </a:rPr>
              <a:t>rivals win on a single job-to-be-done. Moni's opening is the </a:t>
            </a:r>
            <a:r>
              <a:rPr sz="1200" b="1" i="0">
                <a:solidFill>
                  <a:srgbClr val="0B1F3A"/>
                </a:solidFill>
                <a:latin typeface="Calibri"/>
              </a:rPr>
              <a:t>integrated daily habit + transparent trust</a:t>
            </a:r>
            <a:r>
              <a:rPr sz="1200" b="0" i="0">
                <a:solidFill>
                  <a:srgbClr val="1A2A33"/>
                </a:solidFill>
                <a:latin typeface="Calibri"/>
              </a:rPr>
              <a:t> combination no single competitor owns.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A2 · COMPETITIVE INTELLIGENCE</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The Gaps Competitors Aren't Closing</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7</a:t>
            </a:r>
          </a:p>
        </p:txBody>
      </p:sp>
      <p:sp>
        <p:nvSpPr>
          <p:cNvPr id="9" name="Rounded Rectangle 8"/>
          <p:cNvSpPr/>
          <p:nvPr/>
        </p:nvSpPr>
        <p:spPr>
          <a:xfrm>
            <a:off x="640080" y="1508760"/>
            <a:ext cx="5349240" cy="2057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508760"/>
            <a:ext cx="128016" cy="205740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673351"/>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B1F3A"/>
                </a:solidFill>
                <a:latin typeface="Calibri"/>
              </a:rPr>
              <a:t>Cold, transactional UX</a:t>
            </a:r>
          </a:p>
        </p:txBody>
      </p:sp>
      <p:sp>
        <p:nvSpPr>
          <p:cNvPr id="12" name="TextBox 11"/>
          <p:cNvSpPr txBox="1"/>
          <p:nvPr/>
        </p:nvSpPr>
        <p:spPr>
          <a:xfrm>
            <a:off x="914400" y="2075688"/>
            <a:ext cx="4937760" cy="731520"/>
          </a:xfrm>
          <a:prstGeom prst="rect">
            <a:avLst/>
          </a:prstGeom>
          <a:noFill/>
        </p:spPr>
        <p:txBody>
          <a:bodyPr wrap="square" anchor="t" lIns="0" rIns="0" tIns="0" bIns="0">
            <a:spAutoFit/>
          </a:bodyPr>
          <a:lstStyle/>
          <a:p>
            <a:pPr algn="l">
              <a:lnSpc>
                <a:spcPct val="103000"/>
              </a:lnSpc>
              <a:spcBef>
                <a:spcPts val="0"/>
              </a:spcBef>
              <a:spcAft>
                <a:spcPts val="400"/>
              </a:spcAft>
            </a:pPr>
            <a:r>
              <a:rPr sz="1100" b="1" i="0">
                <a:solidFill>
                  <a:srgbClr val="E86A5C"/>
                </a:solidFill>
                <a:latin typeface="Calibri"/>
              </a:rPr>
              <a:t>Gap:  </a:t>
            </a:r>
            <a:r>
              <a:rPr sz="1100" b="0" i="0">
                <a:solidFill>
                  <a:srgbClr val="5B6B73"/>
                </a:solidFill>
                <a:latin typeface="Calibri"/>
              </a:rPr>
              <a:t>Apps feel like utilities, not allies. No emotional relationship → easy to delete.</a:t>
            </a:r>
          </a:p>
        </p:txBody>
      </p:sp>
      <p:sp>
        <p:nvSpPr>
          <p:cNvPr id="13" name="Rectangle 12"/>
          <p:cNvSpPr/>
          <p:nvPr/>
        </p:nvSpPr>
        <p:spPr>
          <a:xfrm>
            <a:off x="914400" y="2926080"/>
            <a:ext cx="4846320" cy="18288"/>
          </a:xfrm>
          <a:prstGeom prst="rect">
            <a:avLst/>
          </a:prstGeom>
          <a:solidFill>
            <a:srgbClr val="5F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990088"/>
            <a:ext cx="4937760" cy="548640"/>
          </a:xfrm>
          <a:prstGeom prst="rect">
            <a:avLst/>
          </a:prstGeom>
          <a:noFill/>
        </p:spPr>
        <p:txBody>
          <a:bodyPr wrap="square" anchor="t" lIns="0" rIns="0" tIns="0" bIns="0">
            <a:spAutoFit/>
          </a:bodyPr>
          <a:lstStyle/>
          <a:p>
            <a:pPr algn="l">
              <a:lnSpc>
                <a:spcPct val="103000"/>
              </a:lnSpc>
              <a:spcBef>
                <a:spcPts val="0"/>
              </a:spcBef>
              <a:spcAft>
                <a:spcPts val="400"/>
              </a:spcAft>
            </a:pPr>
            <a:r>
              <a:rPr sz="1100" b="1" i="0">
                <a:solidFill>
                  <a:srgbClr val="00A86B"/>
                </a:solidFill>
                <a:latin typeface="Calibri"/>
              </a:rPr>
              <a:t>Moni: </a:t>
            </a:r>
            <a:r>
              <a:rPr sz="1100" b="0" i="0">
                <a:solidFill>
                  <a:srgbClr val="1A2A33"/>
                </a:solidFill>
                <a:latin typeface="Calibri"/>
              </a:rPr>
              <a:t>a warm, proactive companion tone with human nudges &amp; streaks.</a:t>
            </a:r>
          </a:p>
        </p:txBody>
      </p:sp>
      <p:sp>
        <p:nvSpPr>
          <p:cNvPr id="15" name="Rounded Rectangle 14"/>
          <p:cNvSpPr/>
          <p:nvPr/>
        </p:nvSpPr>
        <p:spPr>
          <a:xfrm>
            <a:off x="6172200" y="1508760"/>
            <a:ext cx="5349240" cy="2057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508760"/>
            <a:ext cx="128016" cy="205740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1673351"/>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B1F3A"/>
                </a:solidFill>
                <a:latin typeface="Calibri"/>
              </a:rPr>
              <a:t>Built for salary earners</a:t>
            </a:r>
          </a:p>
        </p:txBody>
      </p:sp>
      <p:sp>
        <p:nvSpPr>
          <p:cNvPr id="18" name="TextBox 17"/>
          <p:cNvSpPr txBox="1"/>
          <p:nvPr/>
        </p:nvSpPr>
        <p:spPr>
          <a:xfrm>
            <a:off x="6446520" y="2075688"/>
            <a:ext cx="4937760" cy="731520"/>
          </a:xfrm>
          <a:prstGeom prst="rect">
            <a:avLst/>
          </a:prstGeom>
          <a:noFill/>
        </p:spPr>
        <p:txBody>
          <a:bodyPr wrap="square" anchor="t" lIns="0" rIns="0" tIns="0" bIns="0">
            <a:spAutoFit/>
          </a:bodyPr>
          <a:lstStyle/>
          <a:p>
            <a:pPr algn="l">
              <a:lnSpc>
                <a:spcPct val="103000"/>
              </a:lnSpc>
              <a:spcBef>
                <a:spcPts val="0"/>
              </a:spcBef>
              <a:spcAft>
                <a:spcPts val="400"/>
              </a:spcAft>
            </a:pPr>
            <a:r>
              <a:rPr sz="1100" b="1" i="0">
                <a:solidFill>
                  <a:srgbClr val="E86A5C"/>
                </a:solidFill>
                <a:latin typeface="Calibri"/>
              </a:rPr>
              <a:t>Gap:  </a:t>
            </a:r>
            <a:r>
              <a:rPr sz="1100" b="0" i="0">
                <a:solidFill>
                  <a:srgbClr val="5B6B73"/>
                </a:solidFill>
                <a:latin typeface="Calibri"/>
              </a:rPr>
              <a:t>Rigid monthly debits punish irregular earners — students, NYSC, freelancers.</a:t>
            </a:r>
          </a:p>
        </p:txBody>
      </p:sp>
      <p:sp>
        <p:nvSpPr>
          <p:cNvPr id="19" name="Rectangle 18"/>
          <p:cNvSpPr/>
          <p:nvPr/>
        </p:nvSpPr>
        <p:spPr>
          <a:xfrm>
            <a:off x="6446520" y="2926080"/>
            <a:ext cx="4846320" cy="18288"/>
          </a:xfrm>
          <a:prstGeom prst="rect">
            <a:avLst/>
          </a:prstGeom>
          <a:solidFill>
            <a:srgbClr val="5F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2990088"/>
            <a:ext cx="4937760" cy="548640"/>
          </a:xfrm>
          <a:prstGeom prst="rect">
            <a:avLst/>
          </a:prstGeom>
          <a:noFill/>
        </p:spPr>
        <p:txBody>
          <a:bodyPr wrap="square" anchor="t" lIns="0" rIns="0" tIns="0" bIns="0">
            <a:spAutoFit/>
          </a:bodyPr>
          <a:lstStyle/>
          <a:p>
            <a:pPr algn="l">
              <a:lnSpc>
                <a:spcPct val="103000"/>
              </a:lnSpc>
              <a:spcBef>
                <a:spcPts val="0"/>
              </a:spcBef>
              <a:spcAft>
                <a:spcPts val="400"/>
              </a:spcAft>
            </a:pPr>
            <a:r>
              <a:rPr sz="1100" b="1" i="0">
                <a:solidFill>
                  <a:srgbClr val="00A86B"/>
                </a:solidFill>
                <a:latin typeface="Calibri"/>
              </a:rPr>
              <a:t>Moni: </a:t>
            </a:r>
            <a:r>
              <a:rPr sz="1100" b="0" i="0">
                <a:solidFill>
                  <a:srgbClr val="1A2A33"/>
                </a:solidFill>
                <a:latin typeface="Calibri"/>
              </a:rPr>
              <a:t>flexible, income-aware rules that flex with gig/stipend cash flow.</a:t>
            </a:r>
          </a:p>
        </p:txBody>
      </p:sp>
      <p:sp>
        <p:nvSpPr>
          <p:cNvPr id="21" name="Rounded Rectangle 20"/>
          <p:cNvSpPr/>
          <p:nvPr/>
        </p:nvSpPr>
        <p:spPr>
          <a:xfrm>
            <a:off x="640080" y="3749039"/>
            <a:ext cx="5349240" cy="2057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749039"/>
            <a:ext cx="128016" cy="205740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913631"/>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B1F3A"/>
                </a:solidFill>
                <a:latin typeface="Calibri"/>
              </a:rPr>
              <a:t>Trust anxiety &amp; opacity</a:t>
            </a:r>
          </a:p>
        </p:txBody>
      </p:sp>
      <p:sp>
        <p:nvSpPr>
          <p:cNvPr id="24" name="TextBox 23"/>
          <p:cNvSpPr txBox="1"/>
          <p:nvPr/>
        </p:nvSpPr>
        <p:spPr>
          <a:xfrm>
            <a:off x="914400" y="4315968"/>
            <a:ext cx="4937760" cy="731520"/>
          </a:xfrm>
          <a:prstGeom prst="rect">
            <a:avLst/>
          </a:prstGeom>
          <a:noFill/>
        </p:spPr>
        <p:txBody>
          <a:bodyPr wrap="square" anchor="t" lIns="0" rIns="0" tIns="0" bIns="0">
            <a:spAutoFit/>
          </a:bodyPr>
          <a:lstStyle/>
          <a:p>
            <a:pPr algn="l">
              <a:lnSpc>
                <a:spcPct val="103000"/>
              </a:lnSpc>
              <a:spcBef>
                <a:spcPts val="0"/>
              </a:spcBef>
              <a:spcAft>
                <a:spcPts val="400"/>
              </a:spcAft>
            </a:pPr>
            <a:r>
              <a:rPr sz="1100" b="1" i="0">
                <a:solidFill>
                  <a:srgbClr val="E86A5C"/>
                </a:solidFill>
                <a:latin typeface="Calibri"/>
              </a:rPr>
              <a:t>Gap:  </a:t>
            </a:r>
            <a:r>
              <a:rPr sz="1100" b="0" i="0">
                <a:solidFill>
                  <a:srgbClr val="5B6B73"/>
                </a:solidFill>
                <a:latin typeface="Calibri"/>
              </a:rPr>
              <a:t>Hidden fees, scam fears and patchy support erode confidence sector-wide.</a:t>
            </a:r>
          </a:p>
        </p:txBody>
      </p:sp>
      <p:sp>
        <p:nvSpPr>
          <p:cNvPr id="25" name="Rectangle 24"/>
          <p:cNvSpPr/>
          <p:nvPr/>
        </p:nvSpPr>
        <p:spPr>
          <a:xfrm>
            <a:off x="914400" y="5166359"/>
            <a:ext cx="4846320" cy="18288"/>
          </a:xfrm>
          <a:prstGeom prst="rect">
            <a:avLst/>
          </a:prstGeom>
          <a:solidFill>
            <a:srgbClr val="5F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230368"/>
            <a:ext cx="4937760" cy="548640"/>
          </a:xfrm>
          <a:prstGeom prst="rect">
            <a:avLst/>
          </a:prstGeom>
          <a:noFill/>
        </p:spPr>
        <p:txBody>
          <a:bodyPr wrap="square" anchor="t" lIns="0" rIns="0" tIns="0" bIns="0">
            <a:spAutoFit/>
          </a:bodyPr>
          <a:lstStyle/>
          <a:p>
            <a:pPr algn="l">
              <a:lnSpc>
                <a:spcPct val="103000"/>
              </a:lnSpc>
              <a:spcBef>
                <a:spcPts val="0"/>
              </a:spcBef>
              <a:spcAft>
                <a:spcPts val="400"/>
              </a:spcAft>
            </a:pPr>
            <a:r>
              <a:rPr sz="1100" b="1" i="0">
                <a:solidFill>
                  <a:srgbClr val="00A86B"/>
                </a:solidFill>
                <a:latin typeface="Calibri"/>
              </a:rPr>
              <a:t>Moni: </a:t>
            </a:r>
            <a:r>
              <a:rPr sz="1100" b="0" i="0">
                <a:solidFill>
                  <a:srgbClr val="1A2A33"/>
                </a:solidFill>
                <a:latin typeface="Calibri"/>
              </a:rPr>
              <a:t>radical fee transparency, NDIC-insured partner, visible support.</a:t>
            </a:r>
          </a:p>
        </p:txBody>
      </p:sp>
      <p:sp>
        <p:nvSpPr>
          <p:cNvPr id="27" name="Rounded Rectangle 26"/>
          <p:cNvSpPr/>
          <p:nvPr/>
        </p:nvSpPr>
        <p:spPr>
          <a:xfrm>
            <a:off x="6172200" y="3749039"/>
            <a:ext cx="5349240" cy="2057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2200" y="3749039"/>
            <a:ext cx="128016" cy="205740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3913631"/>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B1F3A"/>
                </a:solidFill>
                <a:latin typeface="Calibri"/>
              </a:rPr>
              <a:t>Weak youth retention</a:t>
            </a:r>
          </a:p>
        </p:txBody>
      </p:sp>
      <p:sp>
        <p:nvSpPr>
          <p:cNvPr id="30" name="TextBox 29"/>
          <p:cNvSpPr txBox="1"/>
          <p:nvPr/>
        </p:nvSpPr>
        <p:spPr>
          <a:xfrm>
            <a:off x="6446520" y="4315968"/>
            <a:ext cx="4937760" cy="731520"/>
          </a:xfrm>
          <a:prstGeom prst="rect">
            <a:avLst/>
          </a:prstGeom>
          <a:noFill/>
        </p:spPr>
        <p:txBody>
          <a:bodyPr wrap="square" anchor="t" lIns="0" rIns="0" tIns="0" bIns="0">
            <a:spAutoFit/>
          </a:bodyPr>
          <a:lstStyle/>
          <a:p>
            <a:pPr algn="l">
              <a:lnSpc>
                <a:spcPct val="103000"/>
              </a:lnSpc>
              <a:spcBef>
                <a:spcPts val="0"/>
              </a:spcBef>
              <a:spcAft>
                <a:spcPts val="400"/>
              </a:spcAft>
            </a:pPr>
            <a:r>
              <a:rPr sz="1100" b="1" i="0">
                <a:solidFill>
                  <a:srgbClr val="E86A5C"/>
                </a:solidFill>
                <a:latin typeface="Calibri"/>
              </a:rPr>
              <a:t>Gap:  </a:t>
            </a:r>
            <a:r>
              <a:rPr sz="1100" b="0" i="0">
                <a:solidFill>
                  <a:srgbClr val="5B6B73"/>
                </a:solidFill>
                <a:latin typeface="Calibri"/>
              </a:rPr>
              <a:t>Big spend on installs, little on habit — users churn after the signup bonus.</a:t>
            </a:r>
          </a:p>
        </p:txBody>
      </p:sp>
      <p:sp>
        <p:nvSpPr>
          <p:cNvPr id="31" name="Rectangle 30"/>
          <p:cNvSpPr/>
          <p:nvPr/>
        </p:nvSpPr>
        <p:spPr>
          <a:xfrm>
            <a:off x="6446520" y="5166359"/>
            <a:ext cx="4846320" cy="18288"/>
          </a:xfrm>
          <a:prstGeom prst="rect">
            <a:avLst/>
          </a:prstGeom>
          <a:solidFill>
            <a:srgbClr val="5F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5230368"/>
            <a:ext cx="4937760" cy="548640"/>
          </a:xfrm>
          <a:prstGeom prst="rect">
            <a:avLst/>
          </a:prstGeom>
          <a:noFill/>
        </p:spPr>
        <p:txBody>
          <a:bodyPr wrap="square" anchor="t" lIns="0" rIns="0" tIns="0" bIns="0">
            <a:spAutoFit/>
          </a:bodyPr>
          <a:lstStyle/>
          <a:p>
            <a:pPr algn="l">
              <a:lnSpc>
                <a:spcPct val="103000"/>
              </a:lnSpc>
              <a:spcBef>
                <a:spcPts val="0"/>
              </a:spcBef>
              <a:spcAft>
                <a:spcPts val="400"/>
              </a:spcAft>
            </a:pPr>
            <a:r>
              <a:rPr sz="1100" b="1" i="0">
                <a:solidFill>
                  <a:srgbClr val="00A86B"/>
                </a:solidFill>
                <a:latin typeface="Calibri"/>
              </a:rPr>
              <a:t>Moni: </a:t>
            </a:r>
            <a:r>
              <a:rPr sz="1100" b="0" i="0">
                <a:solidFill>
                  <a:srgbClr val="1A2A33"/>
                </a:solidFill>
                <a:latin typeface="Calibri"/>
              </a:rPr>
              <a:t>community, challenges &amp; referral loops that make staying fun.</a:t>
            </a:r>
          </a:p>
        </p:txBody>
      </p:sp>
      <p:sp>
        <p:nvSpPr>
          <p:cNvPr id="33" name="TextBox 32"/>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A3 · MARKET SEGMENTATION</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Four Core Segments</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8</a:t>
            </a:r>
          </a:p>
        </p:txBody>
      </p:sp>
      <p:sp>
        <p:nvSpPr>
          <p:cNvPr id="9" name="Rounded Rectangle 8"/>
          <p:cNvSpPr/>
          <p:nvPr/>
        </p:nvSpPr>
        <p:spPr>
          <a:xfrm>
            <a:off x="640080" y="1463040"/>
            <a:ext cx="534924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463040"/>
            <a:ext cx="5349240" cy="9144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627632"/>
            <a:ext cx="6400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0" i="0">
                <a:solidFill>
                  <a:srgbClr val="1A2A33"/>
                </a:solidFill>
                <a:latin typeface="Calibri"/>
              </a:rPr>
              <a:t>🎓</a:t>
            </a:r>
          </a:p>
        </p:txBody>
      </p:sp>
      <p:sp>
        <p:nvSpPr>
          <p:cNvPr id="12" name="TextBox 11"/>
          <p:cNvSpPr txBox="1"/>
          <p:nvPr/>
        </p:nvSpPr>
        <p:spPr>
          <a:xfrm>
            <a:off x="1508760" y="1700784"/>
            <a:ext cx="4297680" cy="365760"/>
          </a:xfrm>
          <a:prstGeom prst="rect">
            <a:avLst/>
          </a:prstGeom>
          <a:noFill/>
        </p:spPr>
        <p:txBody>
          <a:bodyPr wrap="square" anchor="t" lIns="0" rIns="0" tIns="0" bIns="0">
            <a:spAutoFit/>
          </a:bodyPr>
          <a:lstStyle/>
          <a:p>
            <a:pPr algn="l">
              <a:lnSpc>
                <a:spcPct val="100000"/>
              </a:lnSpc>
              <a:spcBef>
                <a:spcPts val="0"/>
              </a:spcBef>
              <a:spcAft>
                <a:spcPts val="400"/>
              </a:spcAft>
            </a:pPr>
            <a:r>
              <a:rPr sz="1550" b="1" i="0">
                <a:solidFill>
                  <a:srgbClr val="0B1F3A"/>
                </a:solidFill>
                <a:latin typeface="Calibri"/>
              </a:rPr>
              <a:t>Students</a:t>
            </a:r>
          </a:p>
        </p:txBody>
      </p:sp>
      <p:sp>
        <p:nvSpPr>
          <p:cNvPr id="13" name="TextBox 12"/>
          <p:cNvSpPr txBox="1"/>
          <p:nvPr/>
        </p:nvSpPr>
        <p:spPr>
          <a:xfrm>
            <a:off x="896112" y="2176272"/>
            <a:ext cx="4892040" cy="1417320"/>
          </a:xfrm>
          <a:prstGeom prst="rect">
            <a:avLst/>
          </a:prstGeom>
          <a:noFill/>
        </p:spPr>
        <p:txBody>
          <a:bodyPr wrap="square" lIns="0" rIns="0" tIns="0" bIns="0">
            <a:spAutoFit/>
          </a:bodyPr>
          <a:lstStyle/>
          <a:p>
            <a:pPr>
              <a:lnSpc>
                <a:spcPct val="100000"/>
              </a:lnSpc>
              <a:spcAft>
                <a:spcPts val="250"/>
              </a:spcAft>
            </a:pPr>
            <a:r>
              <a:rPr sz="1019" b="1">
                <a:solidFill>
                  <a:srgbClr val="00A86B"/>
                </a:solidFill>
                <a:latin typeface="Calibri"/>
              </a:rPr>
              <a:t>▸  </a:t>
            </a:r>
            <a:r>
              <a:rPr sz="1019">
                <a:solidFill>
                  <a:srgbClr val="1A2A33"/>
                </a:solidFill>
                <a:latin typeface="Calibri"/>
              </a:rPr>
              <a:t>Need: stretch allowances, avoid going broke mid-semester</a:t>
            </a:r>
          </a:p>
          <a:p>
            <a:pPr>
              <a:lnSpc>
                <a:spcPct val="100000"/>
              </a:lnSpc>
              <a:spcAft>
                <a:spcPts val="250"/>
              </a:spcAft>
            </a:pPr>
            <a:r>
              <a:rPr sz="1019" b="1">
                <a:solidFill>
                  <a:srgbClr val="00A86B"/>
                </a:solidFill>
                <a:latin typeface="Calibri"/>
              </a:rPr>
              <a:t>▸  </a:t>
            </a:r>
            <a:r>
              <a:rPr sz="1019">
                <a:solidFill>
                  <a:srgbClr val="1A2A33"/>
                </a:solidFill>
                <a:latin typeface="Calibri"/>
              </a:rPr>
              <a:t>Pain: irregular money from home, peer pressure spending</a:t>
            </a:r>
          </a:p>
          <a:p>
            <a:pPr>
              <a:lnSpc>
                <a:spcPct val="100000"/>
              </a:lnSpc>
              <a:spcAft>
                <a:spcPts val="250"/>
              </a:spcAft>
            </a:pPr>
            <a:r>
              <a:rPr sz="1019" b="1">
                <a:solidFill>
                  <a:srgbClr val="00A86B"/>
                </a:solidFill>
                <a:latin typeface="Calibri"/>
              </a:rPr>
              <a:t>▸  </a:t>
            </a:r>
            <a:r>
              <a:rPr sz="1019">
                <a:solidFill>
                  <a:srgbClr val="1A2A33"/>
                </a:solidFill>
                <a:latin typeface="Calibri"/>
              </a:rPr>
              <a:t>Spend: airtime/data, food, transport, social outings</a:t>
            </a:r>
          </a:p>
          <a:p>
            <a:pPr>
              <a:lnSpc>
                <a:spcPct val="100000"/>
              </a:lnSpc>
              <a:spcAft>
                <a:spcPts val="250"/>
              </a:spcAft>
            </a:pPr>
            <a:r>
              <a:rPr sz="1019" b="1">
                <a:solidFill>
                  <a:srgbClr val="00A86B"/>
                </a:solidFill>
                <a:latin typeface="Calibri"/>
              </a:rPr>
              <a:t>▸  </a:t>
            </a:r>
            <a:r>
              <a:rPr sz="1019">
                <a:solidFill>
                  <a:srgbClr val="1A2A33"/>
                </a:solidFill>
                <a:latin typeface="Calibri"/>
              </a:rPr>
              <a:t>Digital: TikTok &amp; IG natives, WhatsApp, mobile-only</a:t>
            </a:r>
          </a:p>
        </p:txBody>
      </p:sp>
      <p:sp>
        <p:nvSpPr>
          <p:cNvPr id="14" name="Rounded Rectangle 13"/>
          <p:cNvSpPr/>
          <p:nvPr/>
        </p:nvSpPr>
        <p:spPr>
          <a:xfrm>
            <a:off x="6172200" y="1463040"/>
            <a:ext cx="534924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463040"/>
            <a:ext cx="5349240" cy="91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627632"/>
            <a:ext cx="6400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0" i="0">
                <a:solidFill>
                  <a:srgbClr val="1A2A33"/>
                </a:solidFill>
                <a:latin typeface="Calibri"/>
              </a:rPr>
              <a:t>🛡️</a:t>
            </a:r>
          </a:p>
        </p:txBody>
      </p:sp>
      <p:sp>
        <p:nvSpPr>
          <p:cNvPr id="17" name="TextBox 16"/>
          <p:cNvSpPr txBox="1"/>
          <p:nvPr/>
        </p:nvSpPr>
        <p:spPr>
          <a:xfrm>
            <a:off x="7040880" y="1700784"/>
            <a:ext cx="4297680" cy="365760"/>
          </a:xfrm>
          <a:prstGeom prst="rect">
            <a:avLst/>
          </a:prstGeom>
          <a:noFill/>
        </p:spPr>
        <p:txBody>
          <a:bodyPr wrap="square" anchor="t" lIns="0" rIns="0" tIns="0" bIns="0">
            <a:spAutoFit/>
          </a:bodyPr>
          <a:lstStyle/>
          <a:p>
            <a:pPr algn="l">
              <a:lnSpc>
                <a:spcPct val="100000"/>
              </a:lnSpc>
              <a:spcBef>
                <a:spcPts val="0"/>
              </a:spcBef>
              <a:spcAft>
                <a:spcPts val="400"/>
              </a:spcAft>
            </a:pPr>
            <a:r>
              <a:rPr sz="1550" b="1" i="0">
                <a:solidFill>
                  <a:srgbClr val="0B1F3A"/>
                </a:solidFill>
                <a:latin typeface="Calibri"/>
              </a:rPr>
              <a:t>NYSC members</a:t>
            </a:r>
          </a:p>
        </p:txBody>
      </p:sp>
      <p:sp>
        <p:nvSpPr>
          <p:cNvPr id="18" name="TextBox 17"/>
          <p:cNvSpPr txBox="1"/>
          <p:nvPr/>
        </p:nvSpPr>
        <p:spPr>
          <a:xfrm>
            <a:off x="6428232" y="2176272"/>
            <a:ext cx="4892040" cy="1417320"/>
          </a:xfrm>
          <a:prstGeom prst="rect">
            <a:avLst/>
          </a:prstGeom>
          <a:noFill/>
        </p:spPr>
        <p:txBody>
          <a:bodyPr wrap="square" lIns="0" rIns="0" tIns="0" bIns="0">
            <a:spAutoFit/>
          </a:bodyPr>
          <a:lstStyle/>
          <a:p>
            <a:pPr>
              <a:lnSpc>
                <a:spcPct val="100000"/>
              </a:lnSpc>
              <a:spcAft>
                <a:spcPts val="250"/>
              </a:spcAft>
            </a:pPr>
            <a:r>
              <a:rPr sz="1019" b="1">
                <a:solidFill>
                  <a:srgbClr val="0B1F3A"/>
                </a:solidFill>
                <a:latin typeface="Calibri"/>
              </a:rPr>
              <a:t>▸  </a:t>
            </a:r>
            <a:r>
              <a:rPr sz="1019">
                <a:solidFill>
                  <a:srgbClr val="1A2A33"/>
                </a:solidFill>
                <a:latin typeface="Calibri"/>
              </a:rPr>
              <a:t>Need: make the ₦33k+ allowee last; save for post-service</a:t>
            </a:r>
          </a:p>
          <a:p>
            <a:pPr>
              <a:lnSpc>
                <a:spcPct val="100000"/>
              </a:lnSpc>
              <a:spcAft>
                <a:spcPts val="250"/>
              </a:spcAft>
            </a:pPr>
            <a:r>
              <a:rPr sz="1019" b="1">
                <a:solidFill>
                  <a:srgbClr val="0B1F3A"/>
                </a:solidFill>
                <a:latin typeface="Calibri"/>
              </a:rPr>
              <a:t>▸  </a:t>
            </a:r>
            <a:r>
              <a:rPr sz="1019">
                <a:solidFill>
                  <a:srgbClr val="1A2A33"/>
                </a:solidFill>
                <a:latin typeface="Calibri"/>
              </a:rPr>
              <a:t>Pain: relocation costs, irregular allowee, uncertainty</a:t>
            </a:r>
          </a:p>
          <a:p>
            <a:pPr>
              <a:lnSpc>
                <a:spcPct val="100000"/>
              </a:lnSpc>
              <a:spcAft>
                <a:spcPts val="250"/>
              </a:spcAft>
            </a:pPr>
            <a:r>
              <a:rPr sz="1019" b="1">
                <a:solidFill>
                  <a:srgbClr val="0B1F3A"/>
                </a:solidFill>
                <a:latin typeface="Calibri"/>
              </a:rPr>
              <a:t>▸  </a:t>
            </a:r>
            <a:r>
              <a:rPr sz="1019">
                <a:solidFill>
                  <a:srgbClr val="1A2A33"/>
                </a:solidFill>
                <a:latin typeface="Calibri"/>
              </a:rPr>
              <a:t>Spend: rent, transport, data, small business seed</a:t>
            </a:r>
          </a:p>
          <a:p>
            <a:pPr>
              <a:lnSpc>
                <a:spcPct val="100000"/>
              </a:lnSpc>
              <a:spcAft>
                <a:spcPts val="250"/>
              </a:spcAft>
            </a:pPr>
            <a:r>
              <a:rPr sz="1019" b="1">
                <a:solidFill>
                  <a:srgbClr val="0B1F3A"/>
                </a:solidFill>
                <a:latin typeface="Calibri"/>
              </a:rPr>
              <a:t>▸  </a:t>
            </a:r>
            <a:r>
              <a:rPr sz="1019">
                <a:solidFill>
                  <a:srgbClr val="1A2A33"/>
                </a:solidFill>
                <a:latin typeface="Calibri"/>
              </a:rPr>
              <a:t>Digital: X &amp; WhatsApp heavy, price-sensitive, deal-led</a:t>
            </a:r>
          </a:p>
        </p:txBody>
      </p:sp>
      <p:sp>
        <p:nvSpPr>
          <p:cNvPr id="19" name="Rounded Rectangle 18"/>
          <p:cNvSpPr/>
          <p:nvPr/>
        </p:nvSpPr>
        <p:spPr>
          <a:xfrm>
            <a:off x="640080" y="3840480"/>
            <a:ext cx="534924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840480"/>
            <a:ext cx="5349240" cy="9144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005072"/>
            <a:ext cx="6400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0" i="0">
                <a:solidFill>
                  <a:srgbClr val="1A2A33"/>
                </a:solidFill>
                <a:latin typeface="Calibri"/>
              </a:rPr>
              <a:t>💼</a:t>
            </a:r>
          </a:p>
        </p:txBody>
      </p:sp>
      <p:sp>
        <p:nvSpPr>
          <p:cNvPr id="22" name="TextBox 21"/>
          <p:cNvSpPr txBox="1"/>
          <p:nvPr/>
        </p:nvSpPr>
        <p:spPr>
          <a:xfrm>
            <a:off x="1508760" y="4078224"/>
            <a:ext cx="4297680" cy="365760"/>
          </a:xfrm>
          <a:prstGeom prst="rect">
            <a:avLst/>
          </a:prstGeom>
          <a:noFill/>
        </p:spPr>
        <p:txBody>
          <a:bodyPr wrap="square" anchor="t" lIns="0" rIns="0" tIns="0" bIns="0">
            <a:spAutoFit/>
          </a:bodyPr>
          <a:lstStyle/>
          <a:p>
            <a:pPr algn="l">
              <a:lnSpc>
                <a:spcPct val="100000"/>
              </a:lnSpc>
              <a:spcBef>
                <a:spcPts val="0"/>
              </a:spcBef>
              <a:spcAft>
                <a:spcPts val="400"/>
              </a:spcAft>
            </a:pPr>
            <a:r>
              <a:rPr sz="1550" b="1" i="0">
                <a:solidFill>
                  <a:srgbClr val="0B1F3A"/>
                </a:solidFill>
                <a:latin typeface="Calibri"/>
              </a:rPr>
              <a:t>Young salary earners</a:t>
            </a:r>
          </a:p>
        </p:txBody>
      </p:sp>
      <p:sp>
        <p:nvSpPr>
          <p:cNvPr id="23" name="TextBox 22"/>
          <p:cNvSpPr txBox="1"/>
          <p:nvPr/>
        </p:nvSpPr>
        <p:spPr>
          <a:xfrm>
            <a:off x="896112" y="4553712"/>
            <a:ext cx="4892040" cy="1417320"/>
          </a:xfrm>
          <a:prstGeom prst="rect">
            <a:avLst/>
          </a:prstGeom>
          <a:noFill/>
        </p:spPr>
        <p:txBody>
          <a:bodyPr wrap="square" lIns="0" rIns="0" tIns="0" bIns="0">
            <a:spAutoFit/>
          </a:bodyPr>
          <a:lstStyle/>
          <a:p>
            <a:pPr>
              <a:lnSpc>
                <a:spcPct val="100000"/>
              </a:lnSpc>
              <a:spcAft>
                <a:spcPts val="250"/>
              </a:spcAft>
            </a:pPr>
            <a:r>
              <a:rPr sz="1019" b="1">
                <a:solidFill>
                  <a:srgbClr val="00A86B"/>
                </a:solidFill>
                <a:latin typeface="Calibri"/>
              </a:rPr>
              <a:t>▸  </a:t>
            </a:r>
            <a:r>
              <a:rPr sz="1019">
                <a:solidFill>
                  <a:srgbClr val="1A2A33"/>
                </a:solidFill>
                <a:latin typeface="Calibri"/>
              </a:rPr>
              <a:t>Need: budget, automate savings, build emergency buffer</a:t>
            </a:r>
          </a:p>
          <a:p>
            <a:pPr>
              <a:lnSpc>
                <a:spcPct val="100000"/>
              </a:lnSpc>
              <a:spcAft>
                <a:spcPts val="250"/>
              </a:spcAft>
            </a:pPr>
            <a:r>
              <a:rPr sz="1019" b="1">
                <a:solidFill>
                  <a:srgbClr val="00A86B"/>
                </a:solidFill>
                <a:latin typeface="Calibri"/>
              </a:rPr>
              <a:t>▸  </a:t>
            </a:r>
            <a:r>
              <a:rPr sz="1019">
                <a:solidFill>
                  <a:srgbClr val="1A2A33"/>
                </a:solidFill>
                <a:latin typeface="Calibri"/>
              </a:rPr>
              <a:t>Pain: 'salary finished' by week two, lifestyle creep</a:t>
            </a:r>
          </a:p>
          <a:p>
            <a:pPr>
              <a:lnSpc>
                <a:spcPct val="100000"/>
              </a:lnSpc>
              <a:spcAft>
                <a:spcPts val="250"/>
              </a:spcAft>
            </a:pPr>
            <a:r>
              <a:rPr sz="1019" b="1">
                <a:solidFill>
                  <a:srgbClr val="00A86B"/>
                </a:solidFill>
                <a:latin typeface="Calibri"/>
              </a:rPr>
              <a:t>▸  </a:t>
            </a:r>
            <a:r>
              <a:rPr sz="1019">
                <a:solidFill>
                  <a:srgbClr val="1A2A33"/>
                </a:solidFill>
                <a:latin typeface="Calibri"/>
              </a:rPr>
              <a:t>Spend: rent, subscriptions, transport, black-tax</a:t>
            </a:r>
          </a:p>
          <a:p>
            <a:pPr>
              <a:lnSpc>
                <a:spcPct val="100000"/>
              </a:lnSpc>
              <a:spcAft>
                <a:spcPts val="250"/>
              </a:spcAft>
            </a:pPr>
            <a:r>
              <a:rPr sz="1019" b="1">
                <a:solidFill>
                  <a:srgbClr val="00A86B"/>
                </a:solidFill>
                <a:latin typeface="Calibri"/>
              </a:rPr>
              <a:t>▸  </a:t>
            </a:r>
            <a:r>
              <a:rPr sz="1019">
                <a:solidFill>
                  <a:srgbClr val="1A2A33"/>
                </a:solidFill>
                <a:latin typeface="Calibri"/>
              </a:rPr>
              <a:t>Digital: IG &amp; LinkedIn, fintech-savvy, multi-app users</a:t>
            </a:r>
          </a:p>
        </p:txBody>
      </p:sp>
      <p:sp>
        <p:nvSpPr>
          <p:cNvPr id="24" name="Rounded Rectangle 23"/>
          <p:cNvSpPr/>
          <p:nvPr/>
        </p:nvSpPr>
        <p:spPr>
          <a:xfrm>
            <a:off x="6172200" y="3840480"/>
            <a:ext cx="534924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3840480"/>
            <a:ext cx="5349240" cy="91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4005072"/>
            <a:ext cx="64008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0" i="0">
                <a:solidFill>
                  <a:srgbClr val="1A2A33"/>
                </a:solidFill>
                <a:latin typeface="Calibri"/>
              </a:rPr>
              <a:t>🚀</a:t>
            </a:r>
          </a:p>
        </p:txBody>
      </p:sp>
      <p:sp>
        <p:nvSpPr>
          <p:cNvPr id="27" name="TextBox 26"/>
          <p:cNvSpPr txBox="1"/>
          <p:nvPr/>
        </p:nvSpPr>
        <p:spPr>
          <a:xfrm>
            <a:off x="7040880" y="4078224"/>
            <a:ext cx="4297680" cy="365760"/>
          </a:xfrm>
          <a:prstGeom prst="rect">
            <a:avLst/>
          </a:prstGeom>
          <a:noFill/>
        </p:spPr>
        <p:txBody>
          <a:bodyPr wrap="square" anchor="t" lIns="0" rIns="0" tIns="0" bIns="0">
            <a:spAutoFit/>
          </a:bodyPr>
          <a:lstStyle/>
          <a:p>
            <a:pPr algn="l">
              <a:lnSpc>
                <a:spcPct val="100000"/>
              </a:lnSpc>
              <a:spcBef>
                <a:spcPts val="0"/>
              </a:spcBef>
              <a:spcAft>
                <a:spcPts val="400"/>
              </a:spcAft>
            </a:pPr>
            <a:r>
              <a:rPr sz="1550" b="1" i="0">
                <a:solidFill>
                  <a:srgbClr val="0B1F3A"/>
                </a:solidFill>
                <a:latin typeface="Calibri"/>
              </a:rPr>
              <a:t>Hustlers &amp; freelancers</a:t>
            </a:r>
          </a:p>
        </p:txBody>
      </p:sp>
      <p:sp>
        <p:nvSpPr>
          <p:cNvPr id="28" name="TextBox 27"/>
          <p:cNvSpPr txBox="1"/>
          <p:nvPr/>
        </p:nvSpPr>
        <p:spPr>
          <a:xfrm>
            <a:off x="6428232" y="4553712"/>
            <a:ext cx="4892040" cy="1417320"/>
          </a:xfrm>
          <a:prstGeom prst="rect">
            <a:avLst/>
          </a:prstGeom>
          <a:noFill/>
        </p:spPr>
        <p:txBody>
          <a:bodyPr wrap="square" lIns="0" rIns="0" tIns="0" bIns="0">
            <a:spAutoFit/>
          </a:bodyPr>
          <a:lstStyle/>
          <a:p>
            <a:pPr>
              <a:lnSpc>
                <a:spcPct val="100000"/>
              </a:lnSpc>
              <a:spcAft>
                <a:spcPts val="250"/>
              </a:spcAft>
            </a:pPr>
            <a:r>
              <a:rPr sz="1019" b="1">
                <a:solidFill>
                  <a:srgbClr val="0B1F3A"/>
                </a:solidFill>
                <a:latin typeface="Calibri"/>
              </a:rPr>
              <a:t>▸  </a:t>
            </a:r>
            <a:r>
              <a:rPr sz="1019">
                <a:solidFill>
                  <a:srgbClr val="1A2A33"/>
                </a:solidFill>
                <a:latin typeface="Calibri"/>
              </a:rPr>
              <a:t>Need: smooth lumpy income, separate biz vs personal money</a:t>
            </a:r>
          </a:p>
          <a:p>
            <a:pPr>
              <a:lnSpc>
                <a:spcPct val="100000"/>
              </a:lnSpc>
              <a:spcAft>
                <a:spcPts val="250"/>
              </a:spcAft>
            </a:pPr>
            <a:r>
              <a:rPr sz="1019" b="1">
                <a:solidFill>
                  <a:srgbClr val="0B1F3A"/>
                </a:solidFill>
                <a:latin typeface="Calibri"/>
              </a:rPr>
              <a:t>▸  </a:t>
            </a:r>
            <a:r>
              <a:rPr sz="1019">
                <a:solidFill>
                  <a:srgbClr val="1A2A33"/>
                </a:solidFill>
                <a:latin typeface="Calibri"/>
              </a:rPr>
              <a:t>Pain: cash-flow gaps, no buffer, manual bill tracking</a:t>
            </a:r>
          </a:p>
          <a:p>
            <a:pPr>
              <a:lnSpc>
                <a:spcPct val="100000"/>
              </a:lnSpc>
              <a:spcAft>
                <a:spcPts val="250"/>
              </a:spcAft>
            </a:pPr>
            <a:r>
              <a:rPr sz="1019" b="1">
                <a:solidFill>
                  <a:srgbClr val="0B1F3A"/>
                </a:solidFill>
                <a:latin typeface="Calibri"/>
              </a:rPr>
              <a:t>▸  </a:t>
            </a:r>
            <a:r>
              <a:rPr sz="1019">
                <a:solidFill>
                  <a:srgbClr val="1A2A33"/>
                </a:solidFill>
                <a:latin typeface="Calibri"/>
              </a:rPr>
              <a:t>Spend: stock/tools, data, logistics, reinvestment</a:t>
            </a:r>
          </a:p>
          <a:p>
            <a:pPr>
              <a:lnSpc>
                <a:spcPct val="100000"/>
              </a:lnSpc>
              <a:spcAft>
                <a:spcPts val="250"/>
              </a:spcAft>
            </a:pPr>
            <a:r>
              <a:rPr sz="1019" b="1">
                <a:solidFill>
                  <a:srgbClr val="0B1F3A"/>
                </a:solidFill>
                <a:latin typeface="Calibri"/>
              </a:rPr>
              <a:t>▸  </a:t>
            </a:r>
            <a:r>
              <a:rPr sz="1019">
                <a:solidFill>
                  <a:srgbClr val="1A2A33"/>
                </a:solidFill>
                <a:latin typeface="Calibri"/>
              </a:rPr>
              <a:t>Digital: WhatsApp Business, IG, TikTok, X — always online</a:t>
            </a:r>
          </a:p>
        </p:txBody>
      </p:sp>
      <p:sp>
        <p:nvSpPr>
          <p:cNvPr id="29" name="TextBox 28"/>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A2 · COMPETITIVE INTELLIGENCE</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Positioning Map: The White Space</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9</a:t>
            </a:r>
          </a:p>
        </p:txBody>
      </p:sp>
      <p:sp>
        <p:nvSpPr>
          <p:cNvPr id="9" name="Rounded Rectangle 8"/>
          <p:cNvSpPr/>
          <p:nvPr/>
        </p:nvSpPr>
        <p:spPr>
          <a:xfrm>
            <a:off x="2011680" y="1600200"/>
            <a:ext cx="8138160" cy="416052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71616" y="1783080"/>
            <a:ext cx="18288" cy="3794759"/>
          </a:xfrm>
          <a:prstGeom prst="rect">
            <a:avLst/>
          </a:prstGeom>
          <a:solidFill>
            <a:srgbClr val="D9E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94560" y="3671316"/>
            <a:ext cx="7772400" cy="18288"/>
          </a:xfrm>
          <a:prstGeom prst="rect">
            <a:avLst/>
          </a:prstGeom>
          <a:solidFill>
            <a:srgbClr val="D9E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3120" y="1581912"/>
            <a:ext cx="7955280" cy="274320"/>
          </a:xfrm>
          <a:prstGeom prst="rect">
            <a:avLst/>
          </a:prstGeom>
          <a:noFill/>
        </p:spPr>
        <p:txBody>
          <a:bodyPr wrap="square" anchor="t" lIns="0" rIns="0" tIns="0" bIns="0">
            <a:spAutoFit/>
          </a:bodyPr>
          <a:lstStyle/>
          <a:p>
            <a:pPr algn="ctr">
              <a:lnSpc>
                <a:spcPct val="100000"/>
              </a:lnSpc>
              <a:spcBef>
                <a:spcPts val="0"/>
              </a:spcBef>
              <a:spcAft>
                <a:spcPts val="400"/>
              </a:spcAft>
            </a:pPr>
            <a:r>
              <a:rPr sz="1050" b="1" i="0">
                <a:solidFill>
                  <a:srgbClr val="0B1F3A"/>
                </a:solidFill>
                <a:latin typeface="Calibri"/>
              </a:rPr>
              <a:t>HIGH TRUST / RELATIONSHIP</a:t>
            </a:r>
          </a:p>
        </p:txBody>
      </p:sp>
      <p:sp>
        <p:nvSpPr>
          <p:cNvPr id="13" name="TextBox 12"/>
          <p:cNvSpPr txBox="1"/>
          <p:nvPr/>
        </p:nvSpPr>
        <p:spPr>
          <a:xfrm>
            <a:off x="2103120" y="5486400"/>
            <a:ext cx="7955280" cy="274320"/>
          </a:xfrm>
          <a:prstGeom prst="rect">
            <a:avLst/>
          </a:prstGeom>
          <a:noFill/>
        </p:spPr>
        <p:txBody>
          <a:bodyPr wrap="square" anchor="t" lIns="0" rIns="0" tIns="0" bIns="0">
            <a:spAutoFit/>
          </a:bodyPr>
          <a:lstStyle/>
          <a:p>
            <a:pPr algn="ctr">
              <a:lnSpc>
                <a:spcPct val="100000"/>
              </a:lnSpc>
              <a:spcBef>
                <a:spcPts val="0"/>
              </a:spcBef>
              <a:spcAft>
                <a:spcPts val="400"/>
              </a:spcAft>
            </a:pPr>
            <a:r>
              <a:rPr sz="1050" b="1" i="0">
                <a:solidFill>
                  <a:srgbClr val="5B6B73"/>
                </a:solidFill>
                <a:latin typeface="Calibri"/>
              </a:rPr>
              <a:t>LOW TRUST / TRANSACTIONAL</a:t>
            </a:r>
          </a:p>
        </p:txBody>
      </p:sp>
      <p:sp>
        <p:nvSpPr>
          <p:cNvPr id="14" name="TextBox 13"/>
          <p:cNvSpPr txBox="1"/>
          <p:nvPr/>
        </p:nvSpPr>
        <p:spPr>
          <a:xfrm>
            <a:off x="502920" y="3223260"/>
            <a:ext cx="1463040" cy="914400"/>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5B6B73"/>
                </a:solidFill>
                <a:latin typeface="Calibri"/>
              </a:rPr>
              <a:t>SINGLE-PURPOSE</a:t>
            </a:r>
          </a:p>
          <a:p>
            <a:pPr algn="ctr">
              <a:lnSpc>
                <a:spcPct val="100000"/>
              </a:lnSpc>
              <a:spcBef>
                <a:spcPts val="0"/>
              </a:spcBef>
              <a:spcAft>
                <a:spcPts val="400"/>
              </a:spcAft>
            </a:pPr>
            <a:r>
              <a:rPr sz="900" b="0" i="0">
                <a:solidFill>
                  <a:srgbClr val="5B6B73"/>
                </a:solidFill>
                <a:latin typeface="Calibri"/>
              </a:rPr>
              <a:t>(one job)</a:t>
            </a:r>
          </a:p>
        </p:txBody>
      </p:sp>
      <p:sp>
        <p:nvSpPr>
          <p:cNvPr id="15" name="TextBox 14"/>
          <p:cNvSpPr txBox="1"/>
          <p:nvPr/>
        </p:nvSpPr>
        <p:spPr>
          <a:xfrm>
            <a:off x="10195560" y="3223260"/>
            <a:ext cx="1554480" cy="914400"/>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0B1F3A"/>
                </a:solidFill>
                <a:latin typeface="Calibri"/>
              </a:rPr>
              <a:t>ALL-IN-ONE</a:t>
            </a:r>
          </a:p>
          <a:p>
            <a:pPr algn="ctr">
              <a:lnSpc>
                <a:spcPct val="100000"/>
              </a:lnSpc>
              <a:spcBef>
                <a:spcPts val="0"/>
              </a:spcBef>
              <a:spcAft>
                <a:spcPts val="400"/>
              </a:spcAft>
            </a:pPr>
            <a:r>
              <a:rPr sz="1050" b="1" i="0">
                <a:solidFill>
                  <a:srgbClr val="0B1F3A"/>
                </a:solidFill>
                <a:latin typeface="Calibri"/>
              </a:rPr>
              <a:t>COMPANION</a:t>
            </a:r>
          </a:p>
        </p:txBody>
      </p:sp>
      <p:sp>
        <p:nvSpPr>
          <p:cNvPr id="16" name="Oval 15"/>
          <p:cNvSpPr/>
          <p:nvPr/>
        </p:nvSpPr>
        <p:spPr>
          <a:xfrm>
            <a:off x="4096512" y="2237536"/>
            <a:ext cx="566928" cy="566928"/>
          </a:xfrm>
          <a:prstGeom prst="ellipse">
            <a:avLst/>
          </a:prstGeom>
          <a:solidFill>
            <a:srgbClr val="5F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30752" y="2822752"/>
            <a:ext cx="1298448"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0B1F3A"/>
                </a:solidFill>
                <a:latin typeface="Calibri"/>
              </a:rPr>
              <a:t>PiggyVest</a:t>
            </a:r>
          </a:p>
        </p:txBody>
      </p:sp>
      <p:sp>
        <p:nvSpPr>
          <p:cNvPr id="18" name="Oval 17"/>
          <p:cNvSpPr/>
          <p:nvPr/>
        </p:nvSpPr>
        <p:spPr>
          <a:xfrm>
            <a:off x="4974336" y="2304288"/>
            <a:ext cx="566928" cy="566928"/>
          </a:xfrm>
          <a:prstGeom prst="ellipse">
            <a:avLst/>
          </a:prstGeom>
          <a:solidFill>
            <a:srgbClr val="1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576" y="2889504"/>
            <a:ext cx="1298448"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0B1F3A"/>
                </a:solidFill>
                <a:latin typeface="Calibri"/>
              </a:rPr>
              <a:t>Kuda</a:t>
            </a:r>
          </a:p>
        </p:txBody>
      </p:sp>
      <p:sp>
        <p:nvSpPr>
          <p:cNvPr id="20" name="Oval 19"/>
          <p:cNvSpPr/>
          <p:nvPr/>
        </p:nvSpPr>
        <p:spPr>
          <a:xfrm>
            <a:off x="6583680" y="3472434"/>
            <a:ext cx="566928" cy="566928"/>
          </a:xfrm>
          <a:prstGeom prst="ellipse">
            <a:avLst/>
          </a:prstGeom>
          <a:solidFill>
            <a:srgbClr val="5B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4057649"/>
            <a:ext cx="1298448"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0B1F3A"/>
                </a:solidFill>
                <a:latin typeface="Calibri"/>
              </a:rPr>
              <a:t>Opay</a:t>
            </a:r>
          </a:p>
        </p:txBody>
      </p:sp>
      <p:sp>
        <p:nvSpPr>
          <p:cNvPr id="22" name="Oval 21"/>
          <p:cNvSpPr/>
          <p:nvPr/>
        </p:nvSpPr>
        <p:spPr>
          <a:xfrm>
            <a:off x="6071616" y="3138677"/>
            <a:ext cx="566928" cy="566928"/>
          </a:xfrm>
          <a:prstGeom prst="ellipse">
            <a:avLst/>
          </a:prstGeom>
          <a:solidFill>
            <a:srgbClr val="F2B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05856" y="3723893"/>
            <a:ext cx="1298448"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0B1F3A"/>
                </a:solidFill>
                <a:latin typeface="Calibri"/>
              </a:rPr>
              <a:t>PalmPay</a:t>
            </a:r>
          </a:p>
        </p:txBody>
      </p:sp>
      <p:sp>
        <p:nvSpPr>
          <p:cNvPr id="24" name="Oval 23"/>
          <p:cNvSpPr/>
          <p:nvPr/>
        </p:nvSpPr>
        <p:spPr>
          <a:xfrm>
            <a:off x="8124444" y="1822399"/>
            <a:ext cx="996695" cy="996695"/>
          </a:xfrm>
          <a:prstGeom prst="ellipse">
            <a:avLst/>
          </a:prstGeom>
          <a:solidFill>
            <a:srgbClr val="5F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188452" y="1886407"/>
            <a:ext cx="868680" cy="868680"/>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8452" y="2142439"/>
            <a:ext cx="868680" cy="365760"/>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Calibri"/>
              </a:rPr>
              <a:t>MONI</a:t>
            </a:r>
          </a:p>
        </p:txBody>
      </p:sp>
      <p:sp>
        <p:nvSpPr>
          <p:cNvPr id="27" name="TextBox 26"/>
          <p:cNvSpPr txBox="1"/>
          <p:nvPr/>
        </p:nvSpPr>
        <p:spPr>
          <a:xfrm>
            <a:off x="640080" y="5989320"/>
            <a:ext cx="10972800" cy="45720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0A86B"/>
                </a:solidFill>
                <a:latin typeface="Calibri"/>
              </a:rPr>
              <a:t>The open quadrant:  </a:t>
            </a:r>
            <a:r>
              <a:rPr sz="1250" b="0" i="0">
                <a:solidFill>
                  <a:srgbClr val="1A2A33"/>
                </a:solidFill>
                <a:latin typeface="Calibri"/>
              </a:rPr>
              <a:t>no competitor occupies the high-trust, all-in-one-companion corner. That is precisely the territory Moni is built to 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0" y="-1828800"/>
            <a:ext cx="5486400" cy="5486400"/>
          </a:xfrm>
          <a:prstGeom prst="ellipse">
            <a:avLst/>
          </a:prstGeom>
          <a:solidFill>
            <a:srgbClr val="1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164592" cy="310896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88720" y="1783080"/>
            <a:ext cx="1371600" cy="13716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6400" b="1">
                <a:solidFill>
                  <a:srgbClr val="FFFFFF"/>
                </a:solidFill>
                <a:latin typeface="Calibri"/>
              </a:rPr>
              <a:t>B</a:t>
            </a:r>
          </a:p>
        </p:txBody>
      </p:sp>
      <p:sp>
        <p:nvSpPr>
          <p:cNvPr id="7" name="TextBox 6"/>
          <p:cNvSpPr txBox="1"/>
          <p:nvPr/>
        </p:nvSpPr>
        <p:spPr>
          <a:xfrm>
            <a:off x="2834640" y="1828800"/>
            <a:ext cx="82296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D3A3"/>
                </a:solidFill>
                <a:latin typeface="Calibri"/>
              </a:rPr>
              <a:t>SECTION B   •   10 MARKS</a:t>
            </a:r>
          </a:p>
        </p:txBody>
      </p:sp>
      <p:sp>
        <p:nvSpPr>
          <p:cNvPr id="8" name="TextBox 7"/>
          <p:cNvSpPr txBox="1"/>
          <p:nvPr/>
        </p:nvSpPr>
        <p:spPr>
          <a:xfrm>
            <a:off x="2834640" y="2240280"/>
            <a:ext cx="8595360" cy="1097280"/>
          </a:xfrm>
          <a:prstGeom prst="rect">
            <a:avLst/>
          </a:prstGeom>
          <a:noFill/>
        </p:spPr>
        <p:txBody>
          <a:bodyPr wrap="square" anchor="t" lIns="0" rIns="0" tIns="0" bIns="0">
            <a:spAutoFit/>
          </a:bodyPr>
          <a:lstStyle/>
          <a:p>
            <a:pPr algn="l">
              <a:lnSpc>
                <a:spcPct val="100000"/>
              </a:lnSpc>
              <a:spcBef>
                <a:spcPts val="0"/>
              </a:spcBef>
              <a:spcAft>
                <a:spcPts val="400"/>
              </a:spcAft>
            </a:pPr>
            <a:r>
              <a:rPr sz="3400" b="1" i="0">
                <a:solidFill>
                  <a:srgbClr val="FFFFFF"/>
                </a:solidFill>
                <a:latin typeface="Calibri"/>
              </a:rPr>
              <a:t>Customer Research &amp; Personas</a:t>
            </a:r>
          </a:p>
        </p:txBody>
      </p:sp>
      <p:sp>
        <p:nvSpPr>
          <p:cNvPr id="9" name="TextBox 8"/>
          <p:cNvSpPr txBox="1"/>
          <p:nvPr/>
        </p:nvSpPr>
        <p:spPr>
          <a:xfrm>
            <a:off x="2862072" y="3429000"/>
            <a:ext cx="8229600"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0" i="1">
                <a:solidFill>
                  <a:srgbClr val="D9E0DF"/>
                </a:solidFill>
                <a:latin typeface="Calibri"/>
              </a:rPr>
              <a:t>Hearing the user before we spend a naira — then making them human.</a:t>
            </a:r>
          </a:p>
        </p:txBody>
      </p:sp>
      <p:sp>
        <p:nvSpPr>
          <p:cNvPr id="10" name="Oval 9"/>
          <p:cNvSpPr/>
          <p:nvPr/>
        </p:nvSpPr>
        <p:spPr>
          <a:xfrm>
            <a:off x="2862072" y="4224528"/>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4160520"/>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A mixed-method customer research plan &amp; survey design</a:t>
            </a:r>
          </a:p>
        </p:txBody>
      </p:sp>
      <p:sp>
        <p:nvSpPr>
          <p:cNvPr id="12" name="Oval 11"/>
          <p:cNvSpPr/>
          <p:nvPr/>
        </p:nvSpPr>
        <p:spPr>
          <a:xfrm>
            <a:off x="2862072" y="4645152"/>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54680" y="4581144"/>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Bias-avoidance safeguards</a:t>
            </a:r>
          </a:p>
        </p:txBody>
      </p:sp>
      <p:sp>
        <p:nvSpPr>
          <p:cNvPr id="14" name="Oval 13"/>
          <p:cNvSpPr/>
          <p:nvPr/>
        </p:nvSpPr>
        <p:spPr>
          <a:xfrm>
            <a:off x="2862072" y="5065776"/>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5001768"/>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One primary + one secondary persona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B4 · CUSTOMER RESEARCH PLAN</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How We'll Listen Before We Launch</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11</a:t>
            </a:r>
          </a:p>
        </p:txBody>
      </p:sp>
      <p:sp>
        <p:nvSpPr>
          <p:cNvPr id="9" name="Rounded Rectangle 8"/>
          <p:cNvSpPr/>
          <p:nvPr/>
        </p:nvSpPr>
        <p:spPr>
          <a:xfrm>
            <a:off x="640080" y="1463040"/>
            <a:ext cx="3520440" cy="370332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463040"/>
            <a:ext cx="3520440" cy="9144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27632"/>
            <a:ext cx="32004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0A86B"/>
                </a:solidFill>
                <a:latin typeface="Calibri"/>
              </a:rPr>
              <a:t>PRIMARY RESEARCH</a:t>
            </a:r>
          </a:p>
        </p:txBody>
      </p:sp>
      <p:sp>
        <p:nvSpPr>
          <p:cNvPr id="12" name="TextBox 11"/>
          <p:cNvSpPr txBox="1"/>
          <p:nvPr/>
        </p:nvSpPr>
        <p:spPr>
          <a:xfrm>
            <a:off x="822960" y="2011680"/>
            <a:ext cx="3200400" cy="3017520"/>
          </a:xfrm>
          <a:prstGeom prst="rect">
            <a:avLst/>
          </a:prstGeom>
          <a:noFill/>
        </p:spPr>
        <p:txBody>
          <a:bodyPr wrap="square" lIns="0" rIns="0" tIns="0" bIns="0">
            <a:spAutoFit/>
          </a:bodyPr>
          <a:lstStyle/>
          <a:p>
            <a:pPr>
              <a:lnSpc>
                <a:spcPct val="104000"/>
              </a:lnSpc>
              <a:spcAft>
                <a:spcPts val="600"/>
              </a:spcAft>
            </a:pPr>
            <a:r>
              <a:rPr sz="1100" b="1">
                <a:solidFill>
                  <a:srgbClr val="00A86B"/>
                </a:solidFill>
                <a:latin typeface="Calibri"/>
              </a:rPr>
              <a:t>▸  </a:t>
            </a:r>
            <a:r>
              <a:rPr sz="1100">
                <a:solidFill>
                  <a:srgbClr val="1A2A33"/>
                </a:solidFill>
                <a:latin typeface="Calibri"/>
              </a:rPr>
              <a:t>In-app surveys &amp; micro-polls (NPS, exit reasons)</a:t>
            </a:r>
          </a:p>
          <a:p>
            <a:pPr>
              <a:lnSpc>
                <a:spcPct val="104000"/>
              </a:lnSpc>
              <a:spcAft>
                <a:spcPts val="600"/>
              </a:spcAft>
            </a:pPr>
            <a:r>
              <a:rPr sz="1100" b="1">
                <a:solidFill>
                  <a:srgbClr val="00A86B"/>
                </a:solidFill>
                <a:latin typeface="Calibri"/>
              </a:rPr>
              <a:t>▸  </a:t>
            </a:r>
            <a:r>
              <a:rPr sz="1100">
                <a:solidFill>
                  <a:srgbClr val="1A2A33"/>
                </a:solidFill>
                <a:latin typeface="Calibri"/>
              </a:rPr>
              <a:t>1:1 user interviews (10–12 per segment)</a:t>
            </a:r>
          </a:p>
          <a:p>
            <a:pPr>
              <a:lnSpc>
                <a:spcPct val="104000"/>
              </a:lnSpc>
              <a:spcAft>
                <a:spcPts val="600"/>
              </a:spcAft>
            </a:pPr>
            <a:r>
              <a:rPr sz="1100" b="1">
                <a:solidFill>
                  <a:srgbClr val="00A86B"/>
                </a:solidFill>
                <a:latin typeface="Calibri"/>
              </a:rPr>
              <a:t>▸  </a:t>
            </a:r>
            <a:r>
              <a:rPr sz="1100">
                <a:solidFill>
                  <a:srgbClr val="1A2A33"/>
                </a:solidFill>
                <a:latin typeface="Calibri"/>
              </a:rPr>
              <a:t>Focus groups on campuses (Lagos, Ibadan)</a:t>
            </a:r>
          </a:p>
          <a:p>
            <a:pPr>
              <a:lnSpc>
                <a:spcPct val="104000"/>
              </a:lnSpc>
              <a:spcAft>
                <a:spcPts val="600"/>
              </a:spcAft>
            </a:pPr>
            <a:r>
              <a:rPr sz="1100" b="1">
                <a:solidFill>
                  <a:srgbClr val="00A86B"/>
                </a:solidFill>
                <a:latin typeface="Calibri"/>
              </a:rPr>
              <a:t>▸  </a:t>
            </a:r>
            <a:r>
              <a:rPr sz="1100">
                <a:solidFill>
                  <a:srgbClr val="1A2A33"/>
                </a:solidFill>
                <a:latin typeface="Calibri"/>
              </a:rPr>
              <a:t>Usability tests on the savings &amp; advance flows</a:t>
            </a:r>
          </a:p>
          <a:p>
            <a:pPr>
              <a:lnSpc>
                <a:spcPct val="104000"/>
              </a:lnSpc>
              <a:spcAft>
                <a:spcPts val="600"/>
              </a:spcAft>
            </a:pPr>
            <a:r>
              <a:rPr sz="1100" b="1">
                <a:solidFill>
                  <a:srgbClr val="00A86B"/>
                </a:solidFill>
                <a:latin typeface="Calibri"/>
              </a:rPr>
              <a:t>▸  </a:t>
            </a:r>
            <a:r>
              <a:rPr sz="1100">
                <a:solidFill>
                  <a:srgbClr val="1A2A33"/>
                </a:solidFill>
                <a:latin typeface="Calibri"/>
              </a:rPr>
              <a:t>Diary studies: 7-day money behaviour logs</a:t>
            </a:r>
          </a:p>
          <a:p>
            <a:pPr>
              <a:lnSpc>
                <a:spcPct val="104000"/>
              </a:lnSpc>
              <a:spcAft>
                <a:spcPts val="600"/>
              </a:spcAft>
            </a:pPr>
            <a:r>
              <a:rPr sz="1100" b="1">
                <a:solidFill>
                  <a:srgbClr val="00A86B"/>
                </a:solidFill>
                <a:latin typeface="Calibri"/>
              </a:rPr>
              <a:t>▸  </a:t>
            </a:r>
            <a:r>
              <a:rPr sz="1100">
                <a:solidFill>
                  <a:srgbClr val="1A2A33"/>
                </a:solidFill>
                <a:latin typeface="Calibri"/>
              </a:rPr>
              <a:t>Beta-user churn interviews (why did you stop?)</a:t>
            </a:r>
          </a:p>
        </p:txBody>
      </p:sp>
      <p:sp>
        <p:nvSpPr>
          <p:cNvPr id="13" name="Rounded Rectangle 12"/>
          <p:cNvSpPr/>
          <p:nvPr/>
        </p:nvSpPr>
        <p:spPr>
          <a:xfrm>
            <a:off x="4343400" y="1463040"/>
            <a:ext cx="3520440" cy="370332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1463040"/>
            <a:ext cx="3520440" cy="91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627632"/>
            <a:ext cx="32004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B1F3A"/>
                </a:solidFill>
                <a:latin typeface="Calibri"/>
              </a:rPr>
              <a:t>SECONDARY RESEARCH</a:t>
            </a:r>
          </a:p>
        </p:txBody>
      </p:sp>
      <p:sp>
        <p:nvSpPr>
          <p:cNvPr id="16" name="TextBox 15"/>
          <p:cNvSpPr txBox="1"/>
          <p:nvPr/>
        </p:nvSpPr>
        <p:spPr>
          <a:xfrm>
            <a:off x="4526280" y="2011680"/>
            <a:ext cx="3200400" cy="3017520"/>
          </a:xfrm>
          <a:prstGeom prst="rect">
            <a:avLst/>
          </a:prstGeom>
          <a:noFill/>
        </p:spPr>
        <p:txBody>
          <a:bodyPr wrap="square" lIns="0" rIns="0" tIns="0" bIns="0">
            <a:spAutoFit/>
          </a:bodyPr>
          <a:lstStyle/>
          <a:p>
            <a:pPr>
              <a:lnSpc>
                <a:spcPct val="104000"/>
              </a:lnSpc>
              <a:spcAft>
                <a:spcPts val="600"/>
              </a:spcAft>
            </a:pPr>
            <a:r>
              <a:rPr sz="1100" b="1">
                <a:solidFill>
                  <a:srgbClr val="0B1F3A"/>
                </a:solidFill>
                <a:latin typeface="Calibri"/>
              </a:rPr>
              <a:t>▸  </a:t>
            </a:r>
            <a:r>
              <a:rPr sz="1100">
                <a:solidFill>
                  <a:srgbClr val="1A2A33"/>
                </a:solidFill>
                <a:latin typeface="Calibri"/>
              </a:rPr>
              <a:t>EFInA Access to Finance &amp; CBN reports</a:t>
            </a:r>
          </a:p>
          <a:p>
            <a:pPr>
              <a:lnSpc>
                <a:spcPct val="104000"/>
              </a:lnSpc>
              <a:spcAft>
                <a:spcPts val="600"/>
              </a:spcAft>
            </a:pPr>
            <a:r>
              <a:rPr sz="1100" b="1">
                <a:solidFill>
                  <a:srgbClr val="0B1F3A"/>
                </a:solidFill>
                <a:latin typeface="Calibri"/>
              </a:rPr>
              <a:t>▸  </a:t>
            </a:r>
            <a:r>
              <a:rPr sz="1100">
                <a:solidFill>
                  <a:srgbClr val="1A2A33"/>
                </a:solidFill>
                <a:latin typeface="Calibri"/>
              </a:rPr>
              <a:t>NBS data on youth income &amp; employment</a:t>
            </a:r>
          </a:p>
          <a:p>
            <a:pPr>
              <a:lnSpc>
                <a:spcPct val="104000"/>
              </a:lnSpc>
              <a:spcAft>
                <a:spcPts val="600"/>
              </a:spcAft>
            </a:pPr>
            <a:r>
              <a:rPr sz="1100" b="1">
                <a:solidFill>
                  <a:srgbClr val="0B1F3A"/>
                </a:solidFill>
                <a:latin typeface="Calibri"/>
              </a:rPr>
              <a:t>▸  </a:t>
            </a:r>
            <a:r>
              <a:rPr sz="1100">
                <a:solidFill>
                  <a:srgbClr val="1A2A33"/>
                </a:solidFill>
                <a:latin typeface="Calibri"/>
              </a:rPr>
              <a:t>GSMA / mobile-money penetration studies</a:t>
            </a:r>
          </a:p>
          <a:p>
            <a:pPr>
              <a:lnSpc>
                <a:spcPct val="104000"/>
              </a:lnSpc>
              <a:spcAft>
                <a:spcPts val="600"/>
              </a:spcAft>
            </a:pPr>
            <a:r>
              <a:rPr sz="1100" b="1">
                <a:solidFill>
                  <a:srgbClr val="0B1F3A"/>
                </a:solidFill>
                <a:latin typeface="Calibri"/>
              </a:rPr>
              <a:t>▸  </a:t>
            </a:r>
            <a:r>
              <a:rPr sz="1100">
                <a:solidFill>
                  <a:srgbClr val="1A2A33"/>
                </a:solidFill>
                <a:latin typeface="Calibri"/>
              </a:rPr>
              <a:t>Competitor app reviews &amp; social listening</a:t>
            </a:r>
          </a:p>
          <a:p>
            <a:pPr>
              <a:lnSpc>
                <a:spcPct val="104000"/>
              </a:lnSpc>
              <a:spcAft>
                <a:spcPts val="600"/>
              </a:spcAft>
            </a:pPr>
            <a:r>
              <a:rPr sz="1100" b="1">
                <a:solidFill>
                  <a:srgbClr val="0B1F3A"/>
                </a:solidFill>
                <a:latin typeface="Calibri"/>
              </a:rPr>
              <a:t>▸  </a:t>
            </a:r>
            <a:r>
              <a:rPr sz="1100">
                <a:solidFill>
                  <a:srgbClr val="1A2A33"/>
                </a:solidFill>
                <a:latin typeface="Calibri"/>
              </a:rPr>
              <a:t>Google Trends &amp; TikTok/X trend data</a:t>
            </a:r>
          </a:p>
          <a:p>
            <a:pPr>
              <a:lnSpc>
                <a:spcPct val="104000"/>
              </a:lnSpc>
              <a:spcAft>
                <a:spcPts val="600"/>
              </a:spcAft>
            </a:pPr>
            <a:r>
              <a:rPr sz="1100" b="1">
                <a:solidFill>
                  <a:srgbClr val="0B1F3A"/>
                </a:solidFill>
                <a:latin typeface="Calibri"/>
              </a:rPr>
              <a:t>▸  </a:t>
            </a:r>
            <a:r>
              <a:rPr sz="1100">
                <a:solidFill>
                  <a:srgbClr val="1A2A33"/>
                </a:solidFill>
                <a:latin typeface="Calibri"/>
              </a:rPr>
              <a:t>Industry reports (McKinsey, Disrupt Africa)</a:t>
            </a:r>
          </a:p>
        </p:txBody>
      </p:sp>
      <p:sp>
        <p:nvSpPr>
          <p:cNvPr id="17" name="Rounded Rectangle 16"/>
          <p:cNvSpPr/>
          <p:nvPr/>
        </p:nvSpPr>
        <p:spPr>
          <a:xfrm>
            <a:off x="8046720" y="1463040"/>
            <a:ext cx="3520440" cy="3703320"/>
          </a:xfrm>
          <a:prstGeom prst="roundRect">
            <a:avLst>
              <a:gd name="adj" fmla="val 6000"/>
            </a:avLst>
          </a:prstGeom>
          <a:solidFill>
            <a:srgbClr val="E3F6ED"/>
          </a:solidFill>
          <a:ln w="12700">
            <a:solidFill>
              <a:srgbClr val="5FD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627632"/>
            <a:ext cx="32004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0A86B"/>
                </a:solidFill>
                <a:latin typeface="Calibri"/>
              </a:rPr>
              <a:t>AVOIDING RESEARCH BIAS</a:t>
            </a:r>
          </a:p>
        </p:txBody>
      </p:sp>
      <p:sp>
        <p:nvSpPr>
          <p:cNvPr id="19" name="TextBox 18"/>
          <p:cNvSpPr txBox="1"/>
          <p:nvPr/>
        </p:nvSpPr>
        <p:spPr>
          <a:xfrm>
            <a:off x="8229600" y="2011680"/>
            <a:ext cx="3200400" cy="3017520"/>
          </a:xfrm>
          <a:prstGeom prst="rect">
            <a:avLst/>
          </a:prstGeom>
          <a:noFill/>
        </p:spPr>
        <p:txBody>
          <a:bodyPr wrap="square" lIns="0" rIns="0" tIns="0" bIns="0">
            <a:spAutoFit/>
          </a:bodyPr>
          <a:lstStyle/>
          <a:p>
            <a:pPr>
              <a:lnSpc>
                <a:spcPct val="104000"/>
              </a:lnSpc>
              <a:spcAft>
                <a:spcPts val="500"/>
              </a:spcAft>
            </a:pPr>
            <a:r>
              <a:rPr sz="1050" b="1">
                <a:solidFill>
                  <a:srgbClr val="00A86B"/>
                </a:solidFill>
                <a:latin typeface="Calibri"/>
              </a:rPr>
              <a:t>▸  </a:t>
            </a:r>
            <a:r>
              <a:rPr sz="1050">
                <a:solidFill>
                  <a:srgbClr val="1A2A33"/>
                </a:solidFill>
                <a:latin typeface="Calibri"/>
              </a:rPr>
              <a:t>Recruit across all 4 segments &amp; 4 cities — not just superfans</a:t>
            </a:r>
          </a:p>
          <a:p>
            <a:pPr>
              <a:lnSpc>
                <a:spcPct val="104000"/>
              </a:lnSpc>
              <a:spcAft>
                <a:spcPts val="500"/>
              </a:spcAft>
            </a:pPr>
            <a:r>
              <a:rPr sz="1050" b="1">
                <a:solidFill>
                  <a:srgbClr val="00A86B"/>
                </a:solidFill>
                <a:latin typeface="Calibri"/>
              </a:rPr>
              <a:t>▸  </a:t>
            </a:r>
            <a:r>
              <a:rPr sz="1050">
                <a:solidFill>
                  <a:srgbClr val="1A2A33"/>
                </a:solidFill>
                <a:latin typeface="Calibri"/>
              </a:rPr>
              <a:t>Neutral, non-leading question wording</a:t>
            </a:r>
          </a:p>
          <a:p>
            <a:pPr>
              <a:lnSpc>
                <a:spcPct val="104000"/>
              </a:lnSpc>
              <a:spcAft>
                <a:spcPts val="500"/>
              </a:spcAft>
            </a:pPr>
            <a:r>
              <a:rPr sz="1050" b="1">
                <a:solidFill>
                  <a:srgbClr val="00A86B"/>
                </a:solidFill>
                <a:latin typeface="Calibri"/>
              </a:rPr>
              <a:t>▸  </a:t>
            </a:r>
            <a:r>
              <a:rPr sz="1050">
                <a:solidFill>
                  <a:srgbClr val="1A2A33"/>
                </a:solidFill>
                <a:latin typeface="Calibri"/>
              </a:rPr>
              <a:t>Mix qual + quant to triangulate findings</a:t>
            </a:r>
          </a:p>
          <a:p>
            <a:pPr>
              <a:lnSpc>
                <a:spcPct val="104000"/>
              </a:lnSpc>
              <a:spcAft>
                <a:spcPts val="500"/>
              </a:spcAft>
            </a:pPr>
            <a:r>
              <a:rPr sz="1050" b="1">
                <a:solidFill>
                  <a:srgbClr val="00A86B"/>
                </a:solidFill>
                <a:latin typeface="Calibri"/>
              </a:rPr>
              <a:t>▸  </a:t>
            </a:r>
            <a:r>
              <a:rPr sz="1050">
                <a:solidFill>
                  <a:srgbClr val="1A2A33"/>
                </a:solidFill>
                <a:latin typeface="Calibri"/>
              </a:rPr>
              <a:t>Include churned &amp; non-users, not only actives</a:t>
            </a:r>
          </a:p>
          <a:p>
            <a:pPr>
              <a:lnSpc>
                <a:spcPct val="104000"/>
              </a:lnSpc>
              <a:spcAft>
                <a:spcPts val="500"/>
              </a:spcAft>
            </a:pPr>
            <a:r>
              <a:rPr sz="1050" b="1">
                <a:solidFill>
                  <a:srgbClr val="00A86B"/>
                </a:solidFill>
                <a:latin typeface="Calibri"/>
              </a:rPr>
              <a:t>▸  </a:t>
            </a:r>
            <a:r>
              <a:rPr sz="1050">
                <a:solidFill>
                  <a:srgbClr val="1A2A33"/>
                </a:solidFill>
                <a:latin typeface="Calibri"/>
              </a:rPr>
              <a:t>Blind/independent moderation; avoid founder bias</a:t>
            </a:r>
          </a:p>
          <a:p>
            <a:pPr>
              <a:lnSpc>
                <a:spcPct val="104000"/>
              </a:lnSpc>
              <a:spcAft>
                <a:spcPts val="500"/>
              </a:spcAft>
            </a:pPr>
            <a:r>
              <a:rPr sz="1050" b="1">
                <a:solidFill>
                  <a:srgbClr val="00A86B"/>
                </a:solidFill>
                <a:latin typeface="Calibri"/>
              </a:rPr>
              <a:t>▸  </a:t>
            </a:r>
            <a:r>
              <a:rPr sz="1050">
                <a:solidFill>
                  <a:srgbClr val="1A2A33"/>
                </a:solidFill>
                <a:latin typeface="Calibri"/>
              </a:rPr>
              <a:t>Adequate sample size; watch sampling &amp; confirmation bias</a:t>
            </a:r>
          </a:p>
        </p:txBody>
      </p:sp>
      <p:sp>
        <p:nvSpPr>
          <p:cNvPr id="20" name="TextBox 19"/>
          <p:cNvSpPr txBox="1"/>
          <p:nvPr/>
        </p:nvSpPr>
        <p:spPr>
          <a:xfrm>
            <a:off x="640080" y="5349240"/>
            <a:ext cx="10972800" cy="54864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0A86B"/>
                </a:solidFill>
                <a:latin typeface="Calibri"/>
              </a:rPr>
              <a:t>Objective:  </a:t>
            </a:r>
            <a:r>
              <a:rPr sz="1300" b="0" i="0">
                <a:solidFill>
                  <a:srgbClr val="1A2A33"/>
                </a:solidFill>
                <a:latin typeface="Calibri"/>
              </a:rPr>
              <a:t>understand why 82% of beta users churn by day 30 — and what would make them stay — before committing the ₦12m launch budget.</a:t>
            </a:r>
          </a:p>
        </p:txBody>
      </p:sp>
      <p:sp>
        <p:nvSpPr>
          <p:cNvPr id="21" name="TextBox 20"/>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B4 · RESEARCH PLAN</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Sample Survey Questions</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12</a:t>
            </a:r>
          </a:p>
        </p:txBody>
      </p:sp>
      <p:sp>
        <p:nvSpPr>
          <p:cNvPr id="9" name="TextBox 8"/>
          <p:cNvSpPr txBox="1"/>
          <p:nvPr/>
        </p:nvSpPr>
        <p:spPr>
          <a:xfrm>
            <a:off x="640080" y="137160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0" i="1">
                <a:solidFill>
                  <a:srgbClr val="5B6B73"/>
                </a:solidFill>
                <a:latin typeface="Calibri"/>
              </a:rPr>
              <a:t>A short, mobile-first survey (≤2 mins) across screening, behaviour, product-fit and trust.</a:t>
            </a:r>
          </a:p>
        </p:txBody>
      </p:sp>
      <p:sp>
        <p:nvSpPr>
          <p:cNvPr id="10" name="Rounded Rectangle 9"/>
          <p:cNvSpPr/>
          <p:nvPr/>
        </p:nvSpPr>
        <p:spPr>
          <a:xfrm>
            <a:off x="640080" y="1874519"/>
            <a:ext cx="5349240" cy="187451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2959" y="2039112"/>
            <a:ext cx="1691640" cy="310896"/>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050" b="1">
                <a:solidFill>
                  <a:srgbClr val="FFFFFF"/>
                </a:solidFill>
                <a:latin typeface="Calibri"/>
              </a:rPr>
              <a:t>BEHAVIOUR</a:t>
            </a:r>
          </a:p>
        </p:txBody>
      </p:sp>
      <p:sp>
        <p:nvSpPr>
          <p:cNvPr id="12" name="TextBox 11"/>
          <p:cNvSpPr txBox="1"/>
          <p:nvPr/>
        </p:nvSpPr>
        <p:spPr>
          <a:xfrm>
            <a:off x="868680" y="2478024"/>
            <a:ext cx="4937760" cy="1188720"/>
          </a:xfrm>
          <a:prstGeom prst="rect">
            <a:avLst/>
          </a:prstGeom>
          <a:noFill/>
        </p:spPr>
        <p:txBody>
          <a:bodyPr wrap="square" lIns="0" rIns="0" tIns="0" bIns="0">
            <a:spAutoFit/>
          </a:bodyPr>
          <a:lstStyle/>
          <a:p>
            <a:pPr>
              <a:lnSpc>
                <a:spcPct val="100000"/>
              </a:lnSpc>
              <a:spcAft>
                <a:spcPts val="400"/>
              </a:spcAft>
            </a:pPr>
            <a:r>
              <a:rPr sz="1030" b="1">
                <a:solidFill>
                  <a:srgbClr val="00A86B"/>
                </a:solidFill>
                <a:latin typeface="Calibri"/>
              </a:rPr>
              <a:t>▸  </a:t>
            </a:r>
            <a:r>
              <a:rPr sz="1030">
                <a:solidFill>
                  <a:srgbClr val="1A2A33"/>
                </a:solidFill>
                <a:latin typeface="Calibri"/>
              </a:rPr>
              <a:t>How often do you run out of money before your next income? (Always→Never)</a:t>
            </a:r>
          </a:p>
          <a:p>
            <a:pPr>
              <a:lnSpc>
                <a:spcPct val="100000"/>
              </a:lnSpc>
              <a:spcAft>
                <a:spcPts val="400"/>
              </a:spcAft>
            </a:pPr>
            <a:r>
              <a:rPr sz="1030" b="1">
                <a:solidFill>
                  <a:srgbClr val="00A86B"/>
                </a:solidFill>
                <a:latin typeface="Calibri"/>
              </a:rPr>
              <a:t>▸  </a:t>
            </a:r>
            <a:r>
              <a:rPr sz="1030">
                <a:solidFill>
                  <a:srgbClr val="1A2A33"/>
                </a:solidFill>
                <a:latin typeface="Calibri"/>
              </a:rPr>
              <a:t>How do you currently save — if at all? (Bank / app / cash / I don't)</a:t>
            </a:r>
          </a:p>
          <a:p>
            <a:pPr>
              <a:lnSpc>
                <a:spcPct val="100000"/>
              </a:lnSpc>
              <a:spcAft>
                <a:spcPts val="400"/>
              </a:spcAft>
            </a:pPr>
            <a:r>
              <a:rPr sz="1030" b="1">
                <a:solidFill>
                  <a:srgbClr val="00A86B"/>
                </a:solidFill>
                <a:latin typeface="Calibri"/>
              </a:rPr>
              <a:t>▸  </a:t>
            </a:r>
            <a:r>
              <a:rPr sz="1030">
                <a:solidFill>
                  <a:srgbClr val="1A2A33"/>
                </a:solidFill>
                <a:latin typeface="Calibri"/>
              </a:rPr>
              <a:t>When an emergency expense hits, where do you get money first?</a:t>
            </a:r>
          </a:p>
        </p:txBody>
      </p:sp>
      <p:sp>
        <p:nvSpPr>
          <p:cNvPr id="13" name="Rounded Rectangle 12"/>
          <p:cNvSpPr/>
          <p:nvPr/>
        </p:nvSpPr>
        <p:spPr>
          <a:xfrm>
            <a:off x="6172200" y="1874519"/>
            <a:ext cx="5349240" cy="187451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55080" y="2039112"/>
            <a:ext cx="1691640" cy="310896"/>
          </a:xfrm>
          <a:prstGeom prst="roundRect">
            <a:avLst>
              <a:gd name="adj" fmla="val 3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050" b="1">
                <a:solidFill>
                  <a:srgbClr val="FFFFFF"/>
                </a:solidFill>
                <a:latin typeface="Calibri"/>
              </a:rPr>
              <a:t>PRODUCT FIT</a:t>
            </a:r>
          </a:p>
        </p:txBody>
      </p:sp>
      <p:sp>
        <p:nvSpPr>
          <p:cNvPr id="15" name="TextBox 14"/>
          <p:cNvSpPr txBox="1"/>
          <p:nvPr/>
        </p:nvSpPr>
        <p:spPr>
          <a:xfrm>
            <a:off x="6400800" y="2478024"/>
            <a:ext cx="4937760" cy="1188720"/>
          </a:xfrm>
          <a:prstGeom prst="rect">
            <a:avLst/>
          </a:prstGeom>
          <a:noFill/>
        </p:spPr>
        <p:txBody>
          <a:bodyPr wrap="square" lIns="0" rIns="0" tIns="0" bIns="0">
            <a:spAutoFit/>
          </a:bodyPr>
          <a:lstStyle/>
          <a:p>
            <a:pPr>
              <a:lnSpc>
                <a:spcPct val="100000"/>
              </a:lnSpc>
              <a:spcAft>
                <a:spcPts val="400"/>
              </a:spcAft>
            </a:pPr>
            <a:r>
              <a:rPr sz="1030" b="1">
                <a:solidFill>
                  <a:srgbClr val="0B1F3A"/>
                </a:solidFill>
                <a:latin typeface="Calibri"/>
              </a:rPr>
              <a:t>▸  </a:t>
            </a:r>
            <a:r>
              <a:rPr sz="1030">
                <a:solidFill>
                  <a:srgbClr val="1A2A33"/>
                </a:solidFill>
                <a:latin typeface="Calibri"/>
              </a:rPr>
              <a:t>Which feature would help you most? (rank: auto-save, tracking, bills, advance, challenges)</a:t>
            </a:r>
          </a:p>
          <a:p>
            <a:pPr>
              <a:lnSpc>
                <a:spcPct val="100000"/>
              </a:lnSpc>
              <a:spcAft>
                <a:spcPts val="400"/>
              </a:spcAft>
            </a:pPr>
            <a:r>
              <a:rPr sz="1030" b="1">
                <a:solidFill>
                  <a:srgbClr val="0B1F3A"/>
                </a:solidFill>
                <a:latin typeface="Calibri"/>
              </a:rPr>
              <a:t>▸  </a:t>
            </a:r>
            <a:r>
              <a:rPr sz="1030">
                <a:solidFill>
                  <a:srgbClr val="1A2A33"/>
                </a:solidFill>
                <a:latin typeface="Calibri"/>
              </a:rPr>
              <a:t>What nearly stopped you from using a finance app? (open + multiple choice)</a:t>
            </a:r>
          </a:p>
          <a:p>
            <a:pPr>
              <a:lnSpc>
                <a:spcPct val="100000"/>
              </a:lnSpc>
              <a:spcAft>
                <a:spcPts val="400"/>
              </a:spcAft>
            </a:pPr>
            <a:r>
              <a:rPr sz="1030" b="1">
                <a:solidFill>
                  <a:srgbClr val="0B1F3A"/>
                </a:solidFill>
                <a:latin typeface="Calibri"/>
              </a:rPr>
              <a:t>▸  </a:t>
            </a:r>
            <a:r>
              <a:rPr sz="1030">
                <a:solidFill>
                  <a:srgbClr val="1A2A33"/>
                </a:solidFill>
                <a:latin typeface="Calibri"/>
              </a:rPr>
              <a:t>How disappointed would you be if Moni shut down? (Sean Ellis PMF test)</a:t>
            </a:r>
          </a:p>
        </p:txBody>
      </p:sp>
      <p:sp>
        <p:nvSpPr>
          <p:cNvPr id="16" name="Rounded Rectangle 15"/>
          <p:cNvSpPr/>
          <p:nvPr/>
        </p:nvSpPr>
        <p:spPr>
          <a:xfrm>
            <a:off x="640080" y="3931920"/>
            <a:ext cx="5349240" cy="187451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59" y="4096511"/>
            <a:ext cx="1691640" cy="310896"/>
          </a:xfrm>
          <a:prstGeom prst="roundRect">
            <a:avLst>
              <a:gd name="adj" fmla="val 35000"/>
            </a:avLst>
          </a:prstGeom>
          <a:solidFill>
            <a:srgbClr val="F2B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050" b="1">
                <a:solidFill>
                  <a:srgbClr val="FFFFFF"/>
                </a:solidFill>
                <a:latin typeface="Calibri"/>
              </a:rPr>
              <a:t>TRUST</a:t>
            </a:r>
          </a:p>
        </p:txBody>
      </p:sp>
      <p:sp>
        <p:nvSpPr>
          <p:cNvPr id="18" name="TextBox 17"/>
          <p:cNvSpPr txBox="1"/>
          <p:nvPr/>
        </p:nvSpPr>
        <p:spPr>
          <a:xfrm>
            <a:off x="868680" y="4535424"/>
            <a:ext cx="4937760" cy="1188720"/>
          </a:xfrm>
          <a:prstGeom prst="rect">
            <a:avLst/>
          </a:prstGeom>
          <a:noFill/>
        </p:spPr>
        <p:txBody>
          <a:bodyPr wrap="square" lIns="0" rIns="0" tIns="0" bIns="0">
            <a:spAutoFit/>
          </a:bodyPr>
          <a:lstStyle/>
          <a:p>
            <a:pPr>
              <a:lnSpc>
                <a:spcPct val="100000"/>
              </a:lnSpc>
              <a:spcAft>
                <a:spcPts val="400"/>
              </a:spcAft>
            </a:pPr>
            <a:r>
              <a:rPr sz="1030" b="1">
                <a:solidFill>
                  <a:srgbClr val="F2B02E"/>
                </a:solidFill>
                <a:latin typeface="Calibri"/>
              </a:rPr>
              <a:t>▸  </a:t>
            </a:r>
            <a:r>
              <a:rPr sz="1030">
                <a:solidFill>
                  <a:srgbClr val="1A2A33"/>
                </a:solidFill>
                <a:latin typeface="Calibri"/>
              </a:rPr>
              <a:t>On 1–10, how much do you trust fintech apps with your money? Why?</a:t>
            </a:r>
          </a:p>
          <a:p>
            <a:pPr>
              <a:lnSpc>
                <a:spcPct val="100000"/>
              </a:lnSpc>
              <a:spcAft>
                <a:spcPts val="400"/>
              </a:spcAft>
            </a:pPr>
            <a:r>
              <a:rPr sz="1030" b="1">
                <a:solidFill>
                  <a:srgbClr val="F2B02E"/>
                </a:solidFill>
                <a:latin typeface="Calibri"/>
              </a:rPr>
              <a:t>▸  </a:t>
            </a:r>
            <a:r>
              <a:rPr sz="1030">
                <a:solidFill>
                  <a:srgbClr val="1A2A33"/>
                </a:solidFill>
                <a:latin typeface="Calibri"/>
              </a:rPr>
              <a:t>What single thing would make you trust Moni with savings?</a:t>
            </a:r>
          </a:p>
          <a:p>
            <a:pPr>
              <a:lnSpc>
                <a:spcPct val="100000"/>
              </a:lnSpc>
              <a:spcAft>
                <a:spcPts val="400"/>
              </a:spcAft>
            </a:pPr>
            <a:r>
              <a:rPr sz="1030" b="1">
                <a:solidFill>
                  <a:srgbClr val="F2B02E"/>
                </a:solidFill>
                <a:latin typeface="Calibri"/>
              </a:rPr>
              <a:t>▸  </a:t>
            </a:r>
            <a:r>
              <a:rPr sz="1030">
                <a:solidFill>
                  <a:srgbClr val="1A2A33"/>
                </a:solidFill>
                <a:latin typeface="Calibri"/>
              </a:rPr>
              <a:t>Have you ever lost money/been scammed via an app? What happened?</a:t>
            </a:r>
          </a:p>
        </p:txBody>
      </p:sp>
      <p:sp>
        <p:nvSpPr>
          <p:cNvPr id="19" name="Rounded Rectangle 18"/>
          <p:cNvSpPr/>
          <p:nvPr/>
        </p:nvSpPr>
        <p:spPr>
          <a:xfrm>
            <a:off x="6172200" y="3931920"/>
            <a:ext cx="5349240" cy="187451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55080" y="4096511"/>
            <a:ext cx="1691640" cy="310896"/>
          </a:xfrm>
          <a:prstGeom prst="roundRect">
            <a:avLst>
              <a:gd name="adj" fmla="val 35000"/>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050" b="1">
                <a:solidFill>
                  <a:srgbClr val="FFFFFF"/>
                </a:solidFill>
                <a:latin typeface="Calibri"/>
              </a:rPr>
              <a:t>ACQUISITION</a:t>
            </a:r>
          </a:p>
        </p:txBody>
      </p:sp>
      <p:sp>
        <p:nvSpPr>
          <p:cNvPr id="21" name="TextBox 20"/>
          <p:cNvSpPr txBox="1"/>
          <p:nvPr/>
        </p:nvSpPr>
        <p:spPr>
          <a:xfrm>
            <a:off x="6400800" y="4535424"/>
            <a:ext cx="4937760" cy="1188720"/>
          </a:xfrm>
          <a:prstGeom prst="rect">
            <a:avLst/>
          </a:prstGeom>
          <a:noFill/>
        </p:spPr>
        <p:txBody>
          <a:bodyPr wrap="square" lIns="0" rIns="0" tIns="0" bIns="0">
            <a:spAutoFit/>
          </a:bodyPr>
          <a:lstStyle/>
          <a:p>
            <a:pPr>
              <a:lnSpc>
                <a:spcPct val="100000"/>
              </a:lnSpc>
              <a:spcAft>
                <a:spcPts val="400"/>
              </a:spcAft>
            </a:pPr>
            <a:r>
              <a:rPr sz="1030" b="1">
                <a:solidFill>
                  <a:srgbClr val="E86A5C"/>
                </a:solidFill>
                <a:latin typeface="Calibri"/>
              </a:rPr>
              <a:t>▸  </a:t>
            </a:r>
            <a:r>
              <a:rPr sz="1030">
                <a:solidFill>
                  <a:srgbClr val="1A2A33"/>
                </a:solidFill>
                <a:latin typeface="Calibri"/>
              </a:rPr>
              <a:t>How did you hear about us / similar apps? (channel attribution)</a:t>
            </a:r>
          </a:p>
          <a:p>
            <a:pPr>
              <a:lnSpc>
                <a:spcPct val="100000"/>
              </a:lnSpc>
              <a:spcAft>
                <a:spcPts val="400"/>
              </a:spcAft>
            </a:pPr>
            <a:r>
              <a:rPr sz="1030" b="1">
                <a:solidFill>
                  <a:srgbClr val="E86A5C"/>
                </a:solidFill>
                <a:latin typeface="Calibri"/>
              </a:rPr>
              <a:t>▸  </a:t>
            </a:r>
            <a:r>
              <a:rPr sz="1030">
                <a:solidFill>
                  <a:srgbClr val="1A2A33"/>
                </a:solidFill>
                <a:latin typeface="Calibri"/>
              </a:rPr>
              <a:t>Whose recommendation would make you download a money app?</a:t>
            </a:r>
          </a:p>
          <a:p>
            <a:pPr>
              <a:lnSpc>
                <a:spcPct val="100000"/>
              </a:lnSpc>
              <a:spcAft>
                <a:spcPts val="400"/>
              </a:spcAft>
            </a:pPr>
            <a:r>
              <a:rPr sz="1030" b="1">
                <a:solidFill>
                  <a:srgbClr val="E86A5C"/>
                </a:solidFill>
                <a:latin typeface="Calibri"/>
              </a:rPr>
              <a:t>▸  </a:t>
            </a:r>
            <a:r>
              <a:rPr sz="1030">
                <a:solidFill>
                  <a:srgbClr val="1A2A33"/>
                </a:solidFill>
                <a:latin typeface="Calibri"/>
              </a:rPr>
              <a:t>Net Promoter: how likely are you to recommend Moni? (0–10)</a:t>
            </a:r>
          </a:p>
        </p:txBody>
      </p:sp>
      <p:sp>
        <p:nvSpPr>
          <p:cNvPr id="22" name="TextBox 21"/>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B5 · PERSONA</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Primary Persona</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13</a:t>
            </a:r>
          </a:p>
        </p:txBody>
      </p:sp>
      <p:sp>
        <p:nvSpPr>
          <p:cNvPr id="9" name="Rounded Rectangle 8"/>
          <p:cNvSpPr/>
          <p:nvPr/>
        </p:nvSpPr>
        <p:spPr>
          <a:xfrm>
            <a:off x="640080" y="1463040"/>
            <a:ext cx="3383280" cy="452628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28800" y="1783080"/>
            <a:ext cx="1005840" cy="1005840"/>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1938528"/>
            <a:ext cx="1005840" cy="731520"/>
          </a:xfrm>
          <a:prstGeom prst="rect">
            <a:avLst/>
          </a:prstGeom>
          <a:noFill/>
        </p:spPr>
        <p:txBody>
          <a:bodyPr wrap="square" anchor="t" lIns="0" rIns="0" tIns="0" bIns="0">
            <a:spAutoFit/>
          </a:bodyPr>
          <a:lstStyle/>
          <a:p>
            <a:pPr algn="ctr">
              <a:lnSpc>
                <a:spcPct val="100000"/>
              </a:lnSpc>
              <a:spcBef>
                <a:spcPts val="0"/>
              </a:spcBef>
              <a:spcAft>
                <a:spcPts val="400"/>
              </a:spcAft>
            </a:pPr>
            <a:r>
              <a:rPr sz="4000" b="0" i="0">
                <a:solidFill>
                  <a:srgbClr val="FFFFFF"/>
                </a:solidFill>
                <a:latin typeface="Calibri"/>
              </a:rPr>
              <a:t>🧑🏾</a:t>
            </a:r>
          </a:p>
        </p:txBody>
      </p:sp>
      <p:sp>
        <p:nvSpPr>
          <p:cNvPr id="12" name="TextBox 11"/>
          <p:cNvSpPr txBox="1"/>
          <p:nvPr/>
        </p:nvSpPr>
        <p:spPr>
          <a:xfrm>
            <a:off x="777240" y="2880360"/>
            <a:ext cx="3108960" cy="457200"/>
          </a:xfrm>
          <a:prstGeom prst="rect">
            <a:avLst/>
          </a:prstGeom>
          <a:noFill/>
        </p:spPr>
        <p:txBody>
          <a:bodyPr wrap="square" anchor="t" lIns="0" rIns="0" tIns="0" bIns="0">
            <a:spAutoFit/>
          </a:bodyPr>
          <a:lstStyle/>
          <a:p>
            <a:pPr algn="ctr">
              <a:lnSpc>
                <a:spcPct val="100000"/>
              </a:lnSpc>
              <a:spcBef>
                <a:spcPts val="0"/>
              </a:spcBef>
              <a:spcAft>
                <a:spcPts val="400"/>
              </a:spcAft>
            </a:pPr>
            <a:r>
              <a:rPr sz="2100" b="1" i="0">
                <a:solidFill>
                  <a:srgbClr val="FFFFFF"/>
                </a:solidFill>
                <a:latin typeface="Calibri"/>
              </a:rPr>
              <a:t>Tobi Adeyemi</a:t>
            </a:r>
          </a:p>
        </p:txBody>
      </p:sp>
      <p:sp>
        <p:nvSpPr>
          <p:cNvPr id="13" name="TextBox 12"/>
          <p:cNvSpPr txBox="1"/>
          <p:nvPr/>
        </p:nvSpPr>
        <p:spPr>
          <a:xfrm>
            <a:off x="777240" y="3291840"/>
            <a:ext cx="3108960" cy="32004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5FD3A3"/>
                </a:solidFill>
                <a:latin typeface="Calibri"/>
              </a:rPr>
              <a:t>22 · 300L Student &amp; micro-hustler</a:t>
            </a:r>
          </a:p>
        </p:txBody>
      </p:sp>
      <p:sp>
        <p:nvSpPr>
          <p:cNvPr id="14" name="Rectangle 13"/>
          <p:cNvSpPr/>
          <p:nvPr/>
        </p:nvSpPr>
        <p:spPr>
          <a:xfrm>
            <a:off x="1005840" y="3703320"/>
            <a:ext cx="2651760" cy="18288"/>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822191"/>
            <a:ext cx="2926080" cy="320040"/>
          </a:xfrm>
          <a:prstGeom prst="rect">
            <a:avLst/>
          </a:prstGeom>
          <a:noFill/>
        </p:spPr>
        <p:txBody>
          <a:bodyPr wrap="square" anchor="t" lIns="0" rIns="0" tIns="0" bIns="0">
            <a:spAutoFit/>
          </a:bodyPr>
          <a:lstStyle/>
          <a:p>
            <a:pPr algn="ctr">
              <a:lnSpc>
                <a:spcPct val="100000"/>
              </a:lnSpc>
              <a:spcBef>
                <a:spcPts val="0"/>
              </a:spcBef>
              <a:spcAft>
                <a:spcPts val="400"/>
              </a:spcAft>
            </a:pPr>
            <a:r>
              <a:rPr sz="1000" b="1" i="0">
                <a:solidFill>
                  <a:srgbClr val="5FD3A3"/>
                </a:solidFill>
                <a:latin typeface="Calibri"/>
              </a:rPr>
              <a:t>INCOME</a:t>
            </a:r>
          </a:p>
        </p:txBody>
      </p:sp>
      <p:sp>
        <p:nvSpPr>
          <p:cNvPr id="16" name="TextBox 15"/>
          <p:cNvSpPr txBox="1"/>
          <p:nvPr/>
        </p:nvSpPr>
        <p:spPr>
          <a:xfrm>
            <a:off x="777240" y="4069080"/>
            <a:ext cx="31089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450" b="1" i="0">
                <a:solidFill>
                  <a:srgbClr val="FFFFFF"/>
                </a:solidFill>
                <a:latin typeface="Calibri"/>
              </a:rPr>
              <a:t>₦25k–₦60k / month (irregular)</a:t>
            </a:r>
          </a:p>
        </p:txBody>
      </p:sp>
      <p:sp>
        <p:nvSpPr>
          <p:cNvPr id="17" name="TextBox 16"/>
          <p:cNvSpPr txBox="1"/>
          <p:nvPr/>
        </p:nvSpPr>
        <p:spPr>
          <a:xfrm>
            <a:off x="868680" y="4553712"/>
            <a:ext cx="2926080" cy="320040"/>
          </a:xfrm>
          <a:prstGeom prst="rect">
            <a:avLst/>
          </a:prstGeom>
          <a:noFill/>
        </p:spPr>
        <p:txBody>
          <a:bodyPr wrap="square" anchor="t" lIns="0" rIns="0" tIns="0" bIns="0">
            <a:spAutoFit/>
          </a:bodyPr>
          <a:lstStyle/>
          <a:p>
            <a:pPr algn="ctr">
              <a:lnSpc>
                <a:spcPct val="100000"/>
              </a:lnSpc>
              <a:spcBef>
                <a:spcPts val="0"/>
              </a:spcBef>
              <a:spcAft>
                <a:spcPts val="400"/>
              </a:spcAft>
            </a:pPr>
            <a:r>
              <a:rPr sz="1000" b="1" i="0">
                <a:solidFill>
                  <a:srgbClr val="5FD3A3"/>
                </a:solidFill>
                <a:latin typeface="Calibri"/>
              </a:rPr>
              <a:t>APPS THEY USE</a:t>
            </a:r>
          </a:p>
        </p:txBody>
      </p:sp>
      <p:sp>
        <p:nvSpPr>
          <p:cNvPr id="18" name="TextBox 17"/>
          <p:cNvSpPr txBox="1"/>
          <p:nvPr/>
        </p:nvSpPr>
        <p:spPr>
          <a:xfrm>
            <a:off x="822960" y="4800600"/>
            <a:ext cx="3017520" cy="1005840"/>
          </a:xfrm>
          <a:prstGeom prst="rect">
            <a:avLst/>
          </a:prstGeom>
          <a:noFill/>
        </p:spPr>
        <p:txBody>
          <a:bodyPr wrap="square" anchor="t" lIns="0" rIns="0" tIns="0" bIns="0">
            <a:spAutoFit/>
          </a:bodyPr>
          <a:lstStyle/>
          <a:p>
            <a:pPr algn="ctr">
              <a:lnSpc>
                <a:spcPct val="105000"/>
              </a:lnSpc>
              <a:spcBef>
                <a:spcPts val="0"/>
              </a:spcBef>
              <a:spcAft>
                <a:spcPts val="400"/>
              </a:spcAft>
            </a:pPr>
            <a:r>
              <a:rPr sz="1150" b="0" i="0">
                <a:solidFill>
                  <a:srgbClr val="FFFFFF"/>
                </a:solidFill>
                <a:latin typeface="Calibri"/>
              </a:rPr>
              <a:t>WhatsApp · TikTok · Instagram · Opay · Chowdeck</a:t>
            </a:r>
          </a:p>
        </p:txBody>
      </p:sp>
      <p:sp>
        <p:nvSpPr>
          <p:cNvPr id="19" name="Rounded Rectangle 18"/>
          <p:cNvSpPr/>
          <p:nvPr/>
        </p:nvSpPr>
        <p:spPr>
          <a:xfrm>
            <a:off x="4206240" y="1463040"/>
            <a:ext cx="365760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06240" y="1463040"/>
            <a:ext cx="118872" cy="219456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62272" y="1581912"/>
            <a:ext cx="329184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A86B"/>
                </a:solidFill>
                <a:latin typeface="Calibri"/>
              </a:rPr>
              <a:t>GOALS</a:t>
            </a:r>
          </a:p>
        </p:txBody>
      </p:sp>
      <p:sp>
        <p:nvSpPr>
          <p:cNvPr id="22" name="TextBox 21"/>
          <p:cNvSpPr txBox="1"/>
          <p:nvPr/>
        </p:nvSpPr>
        <p:spPr>
          <a:xfrm>
            <a:off x="4480559" y="1920240"/>
            <a:ext cx="3200400" cy="1645919"/>
          </a:xfrm>
          <a:prstGeom prst="rect">
            <a:avLst/>
          </a:prstGeom>
          <a:noFill/>
        </p:spPr>
        <p:txBody>
          <a:bodyPr wrap="square" lIns="0" rIns="0" tIns="0" bIns="0">
            <a:spAutoFit/>
          </a:bodyPr>
          <a:lstStyle/>
          <a:p>
            <a:pPr>
              <a:lnSpc>
                <a:spcPct val="102000"/>
              </a:lnSpc>
              <a:spcAft>
                <a:spcPts val="350"/>
              </a:spcAft>
            </a:pPr>
            <a:r>
              <a:rPr sz="1060" b="1">
                <a:solidFill>
                  <a:srgbClr val="00A86B"/>
                </a:solidFill>
                <a:latin typeface="Calibri"/>
              </a:rPr>
              <a:t>▸  </a:t>
            </a:r>
            <a:r>
              <a:rPr sz="1060">
                <a:solidFill>
                  <a:srgbClr val="1A2A33"/>
                </a:solidFill>
                <a:latin typeface="Calibri"/>
              </a:rPr>
              <a:t>Make allowance + side gigs last the full month</a:t>
            </a:r>
          </a:p>
          <a:p>
            <a:pPr>
              <a:lnSpc>
                <a:spcPct val="102000"/>
              </a:lnSpc>
              <a:spcAft>
                <a:spcPts val="350"/>
              </a:spcAft>
            </a:pPr>
            <a:r>
              <a:rPr sz="1060" b="1">
                <a:solidFill>
                  <a:srgbClr val="00A86B"/>
                </a:solidFill>
                <a:latin typeface="Calibri"/>
              </a:rPr>
              <a:t>▸  </a:t>
            </a:r>
            <a:r>
              <a:rPr sz="1060">
                <a:solidFill>
                  <a:srgbClr val="1A2A33"/>
                </a:solidFill>
                <a:latin typeface="Calibri"/>
              </a:rPr>
              <a:t>Save ₦100k for a laptop without 'feeling' it</a:t>
            </a:r>
          </a:p>
          <a:p>
            <a:pPr>
              <a:lnSpc>
                <a:spcPct val="102000"/>
              </a:lnSpc>
              <a:spcAft>
                <a:spcPts val="350"/>
              </a:spcAft>
            </a:pPr>
            <a:r>
              <a:rPr sz="1060" b="1">
                <a:solidFill>
                  <a:srgbClr val="00A86B"/>
                </a:solidFill>
                <a:latin typeface="Calibri"/>
              </a:rPr>
              <a:t>▸  </a:t>
            </a:r>
            <a:r>
              <a:rPr sz="1060">
                <a:solidFill>
                  <a:srgbClr val="1A2A33"/>
                </a:solidFill>
                <a:latin typeface="Calibri"/>
              </a:rPr>
              <a:t>Stop borrowing from friends before month-end</a:t>
            </a:r>
          </a:p>
        </p:txBody>
      </p:sp>
      <p:sp>
        <p:nvSpPr>
          <p:cNvPr id="23" name="Rounded Rectangle 22"/>
          <p:cNvSpPr/>
          <p:nvPr/>
        </p:nvSpPr>
        <p:spPr>
          <a:xfrm>
            <a:off x="8001000" y="1463040"/>
            <a:ext cx="356616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01000" y="1463040"/>
            <a:ext cx="118872" cy="219456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7031" y="1581912"/>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E86A5C"/>
                </a:solidFill>
                <a:latin typeface="Calibri"/>
              </a:rPr>
              <a:t>FRUSTRATIONS</a:t>
            </a:r>
          </a:p>
        </p:txBody>
      </p:sp>
      <p:sp>
        <p:nvSpPr>
          <p:cNvPr id="26" name="TextBox 25"/>
          <p:cNvSpPr txBox="1"/>
          <p:nvPr/>
        </p:nvSpPr>
        <p:spPr>
          <a:xfrm>
            <a:off x="8275320" y="1920240"/>
            <a:ext cx="3108960" cy="1645919"/>
          </a:xfrm>
          <a:prstGeom prst="rect">
            <a:avLst/>
          </a:prstGeom>
          <a:noFill/>
        </p:spPr>
        <p:txBody>
          <a:bodyPr wrap="square" lIns="0" rIns="0" tIns="0" bIns="0">
            <a:spAutoFit/>
          </a:bodyPr>
          <a:lstStyle/>
          <a:p>
            <a:pPr>
              <a:lnSpc>
                <a:spcPct val="102000"/>
              </a:lnSpc>
              <a:spcAft>
                <a:spcPts val="350"/>
              </a:spcAft>
            </a:pPr>
            <a:r>
              <a:rPr sz="1060" b="1">
                <a:solidFill>
                  <a:srgbClr val="E86A5C"/>
                </a:solidFill>
                <a:latin typeface="Calibri"/>
              </a:rPr>
              <a:t>▸  </a:t>
            </a:r>
            <a:r>
              <a:rPr sz="1060">
                <a:solidFill>
                  <a:srgbClr val="1A2A33"/>
                </a:solidFill>
                <a:latin typeface="Calibri"/>
              </a:rPr>
              <a:t>Money vanishes — no idea where it went</a:t>
            </a:r>
          </a:p>
          <a:p>
            <a:pPr>
              <a:lnSpc>
                <a:spcPct val="102000"/>
              </a:lnSpc>
              <a:spcAft>
                <a:spcPts val="350"/>
              </a:spcAft>
            </a:pPr>
            <a:r>
              <a:rPr sz="1060" b="1">
                <a:solidFill>
                  <a:srgbClr val="E86A5C"/>
                </a:solidFill>
                <a:latin typeface="Calibri"/>
              </a:rPr>
              <a:t>▸  </a:t>
            </a:r>
            <a:r>
              <a:rPr sz="1060">
                <a:solidFill>
                  <a:srgbClr val="1A2A33"/>
                </a:solidFill>
                <a:latin typeface="Calibri"/>
              </a:rPr>
              <a:t>Allowance arrives irregularly; can't plan</a:t>
            </a:r>
          </a:p>
          <a:p>
            <a:pPr>
              <a:lnSpc>
                <a:spcPct val="102000"/>
              </a:lnSpc>
              <a:spcAft>
                <a:spcPts val="350"/>
              </a:spcAft>
            </a:pPr>
            <a:r>
              <a:rPr sz="1060" b="1">
                <a:solidFill>
                  <a:srgbClr val="E86A5C"/>
                </a:solidFill>
                <a:latin typeface="Calibri"/>
              </a:rPr>
              <a:t>▸  </a:t>
            </a:r>
            <a:r>
              <a:rPr sz="1060">
                <a:solidFill>
                  <a:srgbClr val="1A2A33"/>
                </a:solidFill>
                <a:latin typeface="Calibri"/>
              </a:rPr>
              <a:t>Existing apps assume a fixed monthly salary</a:t>
            </a:r>
          </a:p>
        </p:txBody>
      </p:sp>
      <p:sp>
        <p:nvSpPr>
          <p:cNvPr id="27" name="Rounded Rectangle 26"/>
          <p:cNvSpPr/>
          <p:nvPr/>
        </p:nvSpPr>
        <p:spPr>
          <a:xfrm>
            <a:off x="4206240" y="3794760"/>
            <a:ext cx="365760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06240" y="3794760"/>
            <a:ext cx="118872" cy="2194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3913632"/>
            <a:ext cx="329184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B1F3A"/>
                </a:solidFill>
                <a:latin typeface="Calibri"/>
              </a:rPr>
              <a:t>BUYING BEHAVIOUR</a:t>
            </a:r>
          </a:p>
        </p:txBody>
      </p:sp>
      <p:sp>
        <p:nvSpPr>
          <p:cNvPr id="30" name="TextBox 29"/>
          <p:cNvSpPr txBox="1"/>
          <p:nvPr/>
        </p:nvSpPr>
        <p:spPr>
          <a:xfrm>
            <a:off x="4480559" y="4251960"/>
            <a:ext cx="3200400" cy="1645919"/>
          </a:xfrm>
          <a:prstGeom prst="rect">
            <a:avLst/>
          </a:prstGeom>
          <a:noFill/>
        </p:spPr>
        <p:txBody>
          <a:bodyPr wrap="square" lIns="0" rIns="0" tIns="0" bIns="0">
            <a:spAutoFit/>
          </a:bodyPr>
          <a:lstStyle/>
          <a:p>
            <a:pPr>
              <a:lnSpc>
                <a:spcPct val="102000"/>
              </a:lnSpc>
              <a:spcAft>
                <a:spcPts val="350"/>
              </a:spcAft>
            </a:pPr>
            <a:r>
              <a:rPr sz="1060" b="1">
                <a:solidFill>
                  <a:srgbClr val="0B1F3A"/>
                </a:solidFill>
                <a:latin typeface="Calibri"/>
              </a:rPr>
              <a:t>▸  </a:t>
            </a:r>
            <a:r>
              <a:rPr sz="1060">
                <a:solidFill>
                  <a:srgbClr val="1A2A33"/>
                </a:solidFill>
                <a:latin typeface="Calibri"/>
              </a:rPr>
              <a:t>Discovers apps via TikTok &amp; friends' referrals</a:t>
            </a:r>
          </a:p>
          <a:p>
            <a:pPr>
              <a:lnSpc>
                <a:spcPct val="102000"/>
              </a:lnSpc>
              <a:spcAft>
                <a:spcPts val="350"/>
              </a:spcAft>
            </a:pPr>
            <a:r>
              <a:rPr sz="1060" b="1">
                <a:solidFill>
                  <a:srgbClr val="0B1F3A"/>
                </a:solidFill>
                <a:latin typeface="Calibri"/>
              </a:rPr>
              <a:t>▸  </a:t>
            </a:r>
            <a:r>
              <a:rPr sz="1060">
                <a:solidFill>
                  <a:srgbClr val="1A2A33"/>
                </a:solidFill>
                <a:latin typeface="Calibri"/>
              </a:rPr>
              <a:t>Won't pay upfront; loves free + rewards</a:t>
            </a:r>
          </a:p>
          <a:p>
            <a:pPr>
              <a:lnSpc>
                <a:spcPct val="102000"/>
              </a:lnSpc>
              <a:spcAft>
                <a:spcPts val="350"/>
              </a:spcAft>
            </a:pPr>
            <a:r>
              <a:rPr sz="1060" b="1">
                <a:solidFill>
                  <a:srgbClr val="0B1F3A"/>
                </a:solidFill>
                <a:latin typeface="Calibri"/>
              </a:rPr>
              <a:t>▸  </a:t>
            </a:r>
            <a:r>
              <a:rPr sz="1060">
                <a:solidFill>
                  <a:srgbClr val="1A2A33"/>
                </a:solidFill>
                <a:latin typeface="Calibri"/>
              </a:rPr>
              <a:t>Trusts peer word-of-mouth over ads</a:t>
            </a:r>
          </a:p>
        </p:txBody>
      </p:sp>
      <p:sp>
        <p:nvSpPr>
          <p:cNvPr id="31" name="Rounded Rectangle 30"/>
          <p:cNvSpPr/>
          <p:nvPr/>
        </p:nvSpPr>
        <p:spPr>
          <a:xfrm>
            <a:off x="8001000" y="3794760"/>
            <a:ext cx="356616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01000" y="3794760"/>
            <a:ext cx="118872" cy="219456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57031" y="3913632"/>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A86B"/>
                </a:solidFill>
                <a:latin typeface="Calibri"/>
              </a:rPr>
              <a:t>WHY MONI</a:t>
            </a:r>
          </a:p>
        </p:txBody>
      </p:sp>
      <p:sp>
        <p:nvSpPr>
          <p:cNvPr id="34" name="TextBox 33"/>
          <p:cNvSpPr txBox="1"/>
          <p:nvPr/>
        </p:nvSpPr>
        <p:spPr>
          <a:xfrm>
            <a:off x="8275320" y="4251960"/>
            <a:ext cx="3108960" cy="1645919"/>
          </a:xfrm>
          <a:prstGeom prst="rect">
            <a:avLst/>
          </a:prstGeom>
          <a:noFill/>
        </p:spPr>
        <p:txBody>
          <a:bodyPr wrap="square" lIns="0" rIns="0" tIns="0" bIns="0">
            <a:spAutoFit/>
          </a:bodyPr>
          <a:lstStyle/>
          <a:p>
            <a:pPr>
              <a:lnSpc>
                <a:spcPct val="102000"/>
              </a:lnSpc>
              <a:spcAft>
                <a:spcPts val="350"/>
              </a:spcAft>
            </a:pPr>
            <a:r>
              <a:rPr sz="1060" b="1">
                <a:solidFill>
                  <a:srgbClr val="00A86B"/>
                </a:solidFill>
                <a:latin typeface="Calibri"/>
              </a:rPr>
              <a:t>▸  </a:t>
            </a:r>
            <a:r>
              <a:rPr sz="1060">
                <a:solidFill>
                  <a:srgbClr val="1A2A33"/>
                </a:solidFill>
                <a:latin typeface="Calibri"/>
              </a:rPr>
              <a:t>Auto-save round-ups that fit gig income</a:t>
            </a:r>
          </a:p>
          <a:p>
            <a:pPr>
              <a:lnSpc>
                <a:spcPct val="102000"/>
              </a:lnSpc>
              <a:spcAft>
                <a:spcPts val="350"/>
              </a:spcAft>
            </a:pPr>
            <a:r>
              <a:rPr sz="1060" b="1">
                <a:solidFill>
                  <a:srgbClr val="00A86B"/>
                </a:solidFill>
                <a:latin typeface="Calibri"/>
              </a:rPr>
              <a:t>▸  </a:t>
            </a:r>
            <a:r>
              <a:rPr sz="1060">
                <a:solidFill>
                  <a:srgbClr val="1A2A33"/>
                </a:solidFill>
                <a:latin typeface="Calibri"/>
              </a:rPr>
              <a:t>Goal challenges make saving feel like a game</a:t>
            </a:r>
          </a:p>
          <a:p>
            <a:pPr>
              <a:lnSpc>
                <a:spcPct val="102000"/>
              </a:lnSpc>
              <a:spcAft>
                <a:spcPts val="350"/>
              </a:spcAft>
            </a:pPr>
            <a:r>
              <a:rPr sz="1060" b="1">
                <a:solidFill>
                  <a:srgbClr val="00A86B"/>
                </a:solidFill>
                <a:latin typeface="Calibri"/>
              </a:rPr>
              <a:t>▸  </a:t>
            </a:r>
            <a:r>
              <a:rPr sz="1060">
                <a:solidFill>
                  <a:srgbClr val="1A2A33"/>
                </a:solidFill>
                <a:latin typeface="Calibri"/>
              </a:rPr>
              <a:t>Small advance to survive to month-end</a:t>
            </a:r>
          </a:p>
        </p:txBody>
      </p:sp>
      <p:sp>
        <p:nvSpPr>
          <p:cNvPr id="35" name="TextBox 34"/>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B5 · PERSONA</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Secondary Persona</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14</a:t>
            </a:r>
          </a:p>
        </p:txBody>
      </p:sp>
      <p:sp>
        <p:nvSpPr>
          <p:cNvPr id="9" name="Rounded Rectangle 8"/>
          <p:cNvSpPr/>
          <p:nvPr/>
        </p:nvSpPr>
        <p:spPr>
          <a:xfrm>
            <a:off x="640080" y="1463040"/>
            <a:ext cx="3383280" cy="452628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28800" y="1783080"/>
            <a:ext cx="1005840" cy="1005840"/>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1938528"/>
            <a:ext cx="1005840" cy="731520"/>
          </a:xfrm>
          <a:prstGeom prst="rect">
            <a:avLst/>
          </a:prstGeom>
          <a:noFill/>
        </p:spPr>
        <p:txBody>
          <a:bodyPr wrap="square" anchor="t" lIns="0" rIns="0" tIns="0" bIns="0">
            <a:spAutoFit/>
          </a:bodyPr>
          <a:lstStyle/>
          <a:p>
            <a:pPr algn="ctr">
              <a:lnSpc>
                <a:spcPct val="100000"/>
              </a:lnSpc>
              <a:spcBef>
                <a:spcPts val="0"/>
              </a:spcBef>
              <a:spcAft>
                <a:spcPts val="400"/>
              </a:spcAft>
            </a:pPr>
            <a:r>
              <a:rPr sz="4000" b="0" i="0">
                <a:solidFill>
                  <a:srgbClr val="FFFFFF"/>
                </a:solidFill>
                <a:latin typeface="Calibri"/>
              </a:rPr>
              <a:t>👩🏾</a:t>
            </a:r>
          </a:p>
        </p:txBody>
      </p:sp>
      <p:sp>
        <p:nvSpPr>
          <p:cNvPr id="12" name="TextBox 11"/>
          <p:cNvSpPr txBox="1"/>
          <p:nvPr/>
        </p:nvSpPr>
        <p:spPr>
          <a:xfrm>
            <a:off x="777240" y="2880360"/>
            <a:ext cx="3108960" cy="457200"/>
          </a:xfrm>
          <a:prstGeom prst="rect">
            <a:avLst/>
          </a:prstGeom>
          <a:noFill/>
        </p:spPr>
        <p:txBody>
          <a:bodyPr wrap="square" anchor="t" lIns="0" rIns="0" tIns="0" bIns="0">
            <a:spAutoFit/>
          </a:bodyPr>
          <a:lstStyle/>
          <a:p>
            <a:pPr algn="ctr">
              <a:lnSpc>
                <a:spcPct val="100000"/>
              </a:lnSpc>
              <a:spcBef>
                <a:spcPts val="0"/>
              </a:spcBef>
              <a:spcAft>
                <a:spcPts val="400"/>
              </a:spcAft>
            </a:pPr>
            <a:r>
              <a:rPr sz="2100" b="1" i="0">
                <a:solidFill>
                  <a:srgbClr val="FFFFFF"/>
                </a:solidFill>
                <a:latin typeface="Calibri"/>
              </a:rPr>
              <a:t>Amaka Okonkwo</a:t>
            </a:r>
          </a:p>
        </p:txBody>
      </p:sp>
      <p:sp>
        <p:nvSpPr>
          <p:cNvPr id="13" name="TextBox 12"/>
          <p:cNvSpPr txBox="1"/>
          <p:nvPr/>
        </p:nvSpPr>
        <p:spPr>
          <a:xfrm>
            <a:off x="777240" y="3291840"/>
            <a:ext cx="3108960" cy="32004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5FD3A3"/>
                </a:solidFill>
                <a:latin typeface="Calibri"/>
              </a:rPr>
              <a:t>27 · Junior marketer (young salary earner)</a:t>
            </a:r>
          </a:p>
        </p:txBody>
      </p:sp>
      <p:sp>
        <p:nvSpPr>
          <p:cNvPr id="14" name="Rectangle 13"/>
          <p:cNvSpPr/>
          <p:nvPr/>
        </p:nvSpPr>
        <p:spPr>
          <a:xfrm>
            <a:off x="1005840" y="3703320"/>
            <a:ext cx="2651760" cy="18288"/>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822191"/>
            <a:ext cx="2926080" cy="320040"/>
          </a:xfrm>
          <a:prstGeom prst="rect">
            <a:avLst/>
          </a:prstGeom>
          <a:noFill/>
        </p:spPr>
        <p:txBody>
          <a:bodyPr wrap="square" anchor="t" lIns="0" rIns="0" tIns="0" bIns="0">
            <a:spAutoFit/>
          </a:bodyPr>
          <a:lstStyle/>
          <a:p>
            <a:pPr algn="ctr">
              <a:lnSpc>
                <a:spcPct val="100000"/>
              </a:lnSpc>
              <a:spcBef>
                <a:spcPts val="0"/>
              </a:spcBef>
              <a:spcAft>
                <a:spcPts val="400"/>
              </a:spcAft>
            </a:pPr>
            <a:r>
              <a:rPr sz="1000" b="1" i="0">
                <a:solidFill>
                  <a:srgbClr val="5FD3A3"/>
                </a:solidFill>
                <a:latin typeface="Calibri"/>
              </a:rPr>
              <a:t>INCOME</a:t>
            </a:r>
          </a:p>
        </p:txBody>
      </p:sp>
      <p:sp>
        <p:nvSpPr>
          <p:cNvPr id="16" name="TextBox 15"/>
          <p:cNvSpPr txBox="1"/>
          <p:nvPr/>
        </p:nvSpPr>
        <p:spPr>
          <a:xfrm>
            <a:off x="777240" y="4069080"/>
            <a:ext cx="31089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450" b="1" i="0">
                <a:solidFill>
                  <a:srgbClr val="FFFFFF"/>
                </a:solidFill>
                <a:latin typeface="Calibri"/>
              </a:rPr>
              <a:t>₦180k–₦350k / month</a:t>
            </a:r>
          </a:p>
        </p:txBody>
      </p:sp>
      <p:sp>
        <p:nvSpPr>
          <p:cNvPr id="17" name="TextBox 16"/>
          <p:cNvSpPr txBox="1"/>
          <p:nvPr/>
        </p:nvSpPr>
        <p:spPr>
          <a:xfrm>
            <a:off x="868680" y="4553712"/>
            <a:ext cx="2926080" cy="320040"/>
          </a:xfrm>
          <a:prstGeom prst="rect">
            <a:avLst/>
          </a:prstGeom>
          <a:noFill/>
        </p:spPr>
        <p:txBody>
          <a:bodyPr wrap="square" anchor="t" lIns="0" rIns="0" tIns="0" bIns="0">
            <a:spAutoFit/>
          </a:bodyPr>
          <a:lstStyle/>
          <a:p>
            <a:pPr algn="ctr">
              <a:lnSpc>
                <a:spcPct val="100000"/>
              </a:lnSpc>
              <a:spcBef>
                <a:spcPts val="0"/>
              </a:spcBef>
              <a:spcAft>
                <a:spcPts val="400"/>
              </a:spcAft>
            </a:pPr>
            <a:r>
              <a:rPr sz="1000" b="1" i="0">
                <a:solidFill>
                  <a:srgbClr val="5FD3A3"/>
                </a:solidFill>
                <a:latin typeface="Calibri"/>
              </a:rPr>
              <a:t>APPS THEY USE</a:t>
            </a:r>
          </a:p>
        </p:txBody>
      </p:sp>
      <p:sp>
        <p:nvSpPr>
          <p:cNvPr id="18" name="TextBox 17"/>
          <p:cNvSpPr txBox="1"/>
          <p:nvPr/>
        </p:nvSpPr>
        <p:spPr>
          <a:xfrm>
            <a:off x="822960" y="4800600"/>
            <a:ext cx="3017520" cy="1005840"/>
          </a:xfrm>
          <a:prstGeom prst="rect">
            <a:avLst/>
          </a:prstGeom>
          <a:noFill/>
        </p:spPr>
        <p:txBody>
          <a:bodyPr wrap="square" anchor="t" lIns="0" rIns="0" tIns="0" bIns="0">
            <a:spAutoFit/>
          </a:bodyPr>
          <a:lstStyle/>
          <a:p>
            <a:pPr algn="ctr">
              <a:lnSpc>
                <a:spcPct val="105000"/>
              </a:lnSpc>
              <a:spcBef>
                <a:spcPts val="0"/>
              </a:spcBef>
              <a:spcAft>
                <a:spcPts val="400"/>
              </a:spcAft>
            </a:pPr>
            <a:r>
              <a:rPr sz="1150" b="0" i="0">
                <a:solidFill>
                  <a:srgbClr val="FFFFFF"/>
                </a:solidFill>
                <a:latin typeface="Calibri"/>
              </a:rPr>
              <a:t>Instagram · LinkedIn · X · PiggyVest · Kuda</a:t>
            </a:r>
          </a:p>
        </p:txBody>
      </p:sp>
      <p:sp>
        <p:nvSpPr>
          <p:cNvPr id="19" name="Rounded Rectangle 18"/>
          <p:cNvSpPr/>
          <p:nvPr/>
        </p:nvSpPr>
        <p:spPr>
          <a:xfrm>
            <a:off x="4206240" y="1463040"/>
            <a:ext cx="365760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06240" y="1463040"/>
            <a:ext cx="118872" cy="219456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62272" y="1581912"/>
            <a:ext cx="329184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A86B"/>
                </a:solidFill>
                <a:latin typeface="Calibri"/>
              </a:rPr>
              <a:t>GOALS</a:t>
            </a:r>
          </a:p>
        </p:txBody>
      </p:sp>
      <p:sp>
        <p:nvSpPr>
          <p:cNvPr id="22" name="TextBox 21"/>
          <p:cNvSpPr txBox="1"/>
          <p:nvPr/>
        </p:nvSpPr>
        <p:spPr>
          <a:xfrm>
            <a:off x="4480559" y="1920240"/>
            <a:ext cx="3200400" cy="1645919"/>
          </a:xfrm>
          <a:prstGeom prst="rect">
            <a:avLst/>
          </a:prstGeom>
          <a:noFill/>
        </p:spPr>
        <p:txBody>
          <a:bodyPr wrap="square" lIns="0" rIns="0" tIns="0" bIns="0">
            <a:spAutoFit/>
          </a:bodyPr>
          <a:lstStyle/>
          <a:p>
            <a:pPr>
              <a:lnSpc>
                <a:spcPct val="102000"/>
              </a:lnSpc>
              <a:spcAft>
                <a:spcPts val="350"/>
              </a:spcAft>
            </a:pPr>
            <a:r>
              <a:rPr sz="1060" b="1">
                <a:solidFill>
                  <a:srgbClr val="00A86B"/>
                </a:solidFill>
                <a:latin typeface="Calibri"/>
              </a:rPr>
              <a:t>▸  </a:t>
            </a:r>
            <a:r>
              <a:rPr sz="1060">
                <a:solidFill>
                  <a:srgbClr val="1A2A33"/>
                </a:solidFill>
                <a:latin typeface="Calibri"/>
              </a:rPr>
              <a:t>Build a 3-month emergency buffer</a:t>
            </a:r>
          </a:p>
          <a:p>
            <a:pPr>
              <a:lnSpc>
                <a:spcPct val="102000"/>
              </a:lnSpc>
              <a:spcAft>
                <a:spcPts val="350"/>
              </a:spcAft>
            </a:pPr>
            <a:r>
              <a:rPr sz="1060" b="1">
                <a:solidFill>
                  <a:srgbClr val="00A86B"/>
                </a:solidFill>
                <a:latin typeface="Calibri"/>
              </a:rPr>
              <a:t>▸  </a:t>
            </a:r>
            <a:r>
              <a:rPr sz="1060">
                <a:solidFill>
                  <a:srgbClr val="1A2A33"/>
                </a:solidFill>
                <a:latin typeface="Calibri"/>
              </a:rPr>
              <a:t>Automate savings so she isn't tempted</a:t>
            </a:r>
          </a:p>
          <a:p>
            <a:pPr>
              <a:lnSpc>
                <a:spcPct val="102000"/>
              </a:lnSpc>
              <a:spcAft>
                <a:spcPts val="350"/>
              </a:spcAft>
            </a:pPr>
            <a:r>
              <a:rPr sz="1060" b="1">
                <a:solidFill>
                  <a:srgbClr val="00A86B"/>
                </a:solidFill>
                <a:latin typeface="Calibri"/>
              </a:rPr>
              <a:t>▸  </a:t>
            </a:r>
            <a:r>
              <a:rPr sz="1060">
                <a:solidFill>
                  <a:srgbClr val="1A2A33"/>
                </a:solidFill>
                <a:latin typeface="Calibri"/>
              </a:rPr>
              <a:t>Track black-tax &amp; subscriptions in one place</a:t>
            </a:r>
          </a:p>
        </p:txBody>
      </p:sp>
      <p:sp>
        <p:nvSpPr>
          <p:cNvPr id="23" name="Rounded Rectangle 22"/>
          <p:cNvSpPr/>
          <p:nvPr/>
        </p:nvSpPr>
        <p:spPr>
          <a:xfrm>
            <a:off x="8001000" y="1463040"/>
            <a:ext cx="356616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01000" y="1463040"/>
            <a:ext cx="118872" cy="219456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7031" y="1581912"/>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E86A5C"/>
                </a:solidFill>
                <a:latin typeface="Calibri"/>
              </a:rPr>
              <a:t>FRUSTRATIONS</a:t>
            </a:r>
          </a:p>
        </p:txBody>
      </p:sp>
      <p:sp>
        <p:nvSpPr>
          <p:cNvPr id="26" name="TextBox 25"/>
          <p:cNvSpPr txBox="1"/>
          <p:nvPr/>
        </p:nvSpPr>
        <p:spPr>
          <a:xfrm>
            <a:off x="8275320" y="1920240"/>
            <a:ext cx="3108960" cy="1645919"/>
          </a:xfrm>
          <a:prstGeom prst="rect">
            <a:avLst/>
          </a:prstGeom>
          <a:noFill/>
        </p:spPr>
        <p:txBody>
          <a:bodyPr wrap="square" lIns="0" rIns="0" tIns="0" bIns="0">
            <a:spAutoFit/>
          </a:bodyPr>
          <a:lstStyle/>
          <a:p>
            <a:pPr>
              <a:lnSpc>
                <a:spcPct val="102000"/>
              </a:lnSpc>
              <a:spcAft>
                <a:spcPts val="350"/>
              </a:spcAft>
            </a:pPr>
            <a:r>
              <a:rPr sz="1060" b="1">
                <a:solidFill>
                  <a:srgbClr val="E86A5C"/>
                </a:solidFill>
                <a:latin typeface="Calibri"/>
              </a:rPr>
              <a:t>▸  </a:t>
            </a:r>
            <a:r>
              <a:rPr sz="1060">
                <a:solidFill>
                  <a:srgbClr val="1A2A33"/>
                </a:solidFill>
                <a:latin typeface="Calibri"/>
              </a:rPr>
              <a:t>'Salary finished' by the second week</a:t>
            </a:r>
          </a:p>
          <a:p>
            <a:pPr>
              <a:lnSpc>
                <a:spcPct val="102000"/>
              </a:lnSpc>
              <a:spcAft>
                <a:spcPts val="350"/>
              </a:spcAft>
            </a:pPr>
            <a:r>
              <a:rPr sz="1060" b="1">
                <a:solidFill>
                  <a:srgbClr val="E86A5C"/>
                </a:solidFill>
                <a:latin typeface="Calibri"/>
              </a:rPr>
              <a:t>▸  </a:t>
            </a:r>
            <a:r>
              <a:rPr sz="1060">
                <a:solidFill>
                  <a:srgbClr val="1A2A33"/>
                </a:solidFill>
                <a:latin typeface="Calibri"/>
              </a:rPr>
              <a:t>Juggling 4 apps for money — none cohesive</a:t>
            </a:r>
          </a:p>
          <a:p>
            <a:pPr>
              <a:lnSpc>
                <a:spcPct val="102000"/>
              </a:lnSpc>
              <a:spcAft>
                <a:spcPts val="350"/>
              </a:spcAft>
            </a:pPr>
            <a:r>
              <a:rPr sz="1060" b="1">
                <a:solidFill>
                  <a:srgbClr val="E86A5C"/>
                </a:solidFill>
                <a:latin typeface="Calibri"/>
              </a:rPr>
              <a:t>▸  </a:t>
            </a:r>
            <a:r>
              <a:rPr sz="1060">
                <a:solidFill>
                  <a:srgbClr val="1A2A33"/>
                </a:solidFill>
                <a:latin typeface="Calibri"/>
              </a:rPr>
              <a:t>Worried about hidden fees &amp; app scams</a:t>
            </a:r>
          </a:p>
        </p:txBody>
      </p:sp>
      <p:sp>
        <p:nvSpPr>
          <p:cNvPr id="27" name="Rounded Rectangle 26"/>
          <p:cNvSpPr/>
          <p:nvPr/>
        </p:nvSpPr>
        <p:spPr>
          <a:xfrm>
            <a:off x="4206240" y="3794760"/>
            <a:ext cx="365760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06240" y="3794760"/>
            <a:ext cx="118872" cy="2194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3913632"/>
            <a:ext cx="329184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B1F3A"/>
                </a:solidFill>
                <a:latin typeface="Calibri"/>
              </a:rPr>
              <a:t>BUYING BEHAVIOUR</a:t>
            </a:r>
          </a:p>
        </p:txBody>
      </p:sp>
      <p:sp>
        <p:nvSpPr>
          <p:cNvPr id="30" name="TextBox 29"/>
          <p:cNvSpPr txBox="1"/>
          <p:nvPr/>
        </p:nvSpPr>
        <p:spPr>
          <a:xfrm>
            <a:off x="4480559" y="4251960"/>
            <a:ext cx="3200400" cy="1645919"/>
          </a:xfrm>
          <a:prstGeom prst="rect">
            <a:avLst/>
          </a:prstGeom>
          <a:noFill/>
        </p:spPr>
        <p:txBody>
          <a:bodyPr wrap="square" lIns="0" rIns="0" tIns="0" bIns="0">
            <a:spAutoFit/>
          </a:bodyPr>
          <a:lstStyle/>
          <a:p>
            <a:pPr>
              <a:lnSpc>
                <a:spcPct val="102000"/>
              </a:lnSpc>
              <a:spcAft>
                <a:spcPts val="350"/>
              </a:spcAft>
            </a:pPr>
            <a:r>
              <a:rPr sz="1060" b="1">
                <a:solidFill>
                  <a:srgbClr val="0B1F3A"/>
                </a:solidFill>
                <a:latin typeface="Calibri"/>
              </a:rPr>
              <a:t>▸  </a:t>
            </a:r>
            <a:r>
              <a:rPr sz="1060">
                <a:solidFill>
                  <a:srgbClr val="1A2A33"/>
                </a:solidFill>
                <a:latin typeface="Calibri"/>
              </a:rPr>
              <a:t>Researches before trusting an app with money</a:t>
            </a:r>
          </a:p>
          <a:p>
            <a:pPr>
              <a:lnSpc>
                <a:spcPct val="102000"/>
              </a:lnSpc>
              <a:spcAft>
                <a:spcPts val="350"/>
              </a:spcAft>
            </a:pPr>
            <a:r>
              <a:rPr sz="1060" b="1">
                <a:solidFill>
                  <a:srgbClr val="0B1F3A"/>
                </a:solidFill>
                <a:latin typeface="Calibri"/>
              </a:rPr>
              <a:t>▸  </a:t>
            </a:r>
            <a:r>
              <a:rPr sz="1060">
                <a:solidFill>
                  <a:srgbClr val="1A2A33"/>
                </a:solidFill>
                <a:latin typeface="Calibri"/>
              </a:rPr>
              <a:t>Reads reviews; values transparency &amp; support</a:t>
            </a:r>
          </a:p>
          <a:p>
            <a:pPr>
              <a:lnSpc>
                <a:spcPct val="102000"/>
              </a:lnSpc>
              <a:spcAft>
                <a:spcPts val="350"/>
              </a:spcAft>
            </a:pPr>
            <a:r>
              <a:rPr sz="1060" b="1">
                <a:solidFill>
                  <a:srgbClr val="0B1F3A"/>
                </a:solidFill>
                <a:latin typeface="Calibri"/>
              </a:rPr>
              <a:t>▸  </a:t>
            </a:r>
            <a:r>
              <a:rPr sz="1060">
                <a:solidFill>
                  <a:srgbClr val="1A2A33"/>
                </a:solidFill>
                <a:latin typeface="Calibri"/>
              </a:rPr>
              <a:t>Will pay for convenience if trust is earned</a:t>
            </a:r>
          </a:p>
        </p:txBody>
      </p:sp>
      <p:sp>
        <p:nvSpPr>
          <p:cNvPr id="31" name="Rounded Rectangle 30"/>
          <p:cNvSpPr/>
          <p:nvPr/>
        </p:nvSpPr>
        <p:spPr>
          <a:xfrm>
            <a:off x="8001000" y="3794760"/>
            <a:ext cx="3566160" cy="21945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01000" y="3794760"/>
            <a:ext cx="118872" cy="219456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57031" y="3913632"/>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A86B"/>
                </a:solidFill>
                <a:latin typeface="Calibri"/>
              </a:rPr>
              <a:t>WHY MONI</a:t>
            </a:r>
          </a:p>
        </p:txBody>
      </p:sp>
      <p:sp>
        <p:nvSpPr>
          <p:cNvPr id="34" name="TextBox 33"/>
          <p:cNvSpPr txBox="1"/>
          <p:nvPr/>
        </p:nvSpPr>
        <p:spPr>
          <a:xfrm>
            <a:off x="8275320" y="4251960"/>
            <a:ext cx="3108960" cy="1645919"/>
          </a:xfrm>
          <a:prstGeom prst="rect">
            <a:avLst/>
          </a:prstGeom>
          <a:noFill/>
        </p:spPr>
        <p:txBody>
          <a:bodyPr wrap="square" lIns="0" rIns="0" tIns="0" bIns="0">
            <a:spAutoFit/>
          </a:bodyPr>
          <a:lstStyle/>
          <a:p>
            <a:pPr>
              <a:lnSpc>
                <a:spcPct val="102000"/>
              </a:lnSpc>
              <a:spcAft>
                <a:spcPts val="350"/>
              </a:spcAft>
            </a:pPr>
            <a:r>
              <a:rPr sz="1060" b="1">
                <a:solidFill>
                  <a:srgbClr val="00A86B"/>
                </a:solidFill>
                <a:latin typeface="Calibri"/>
              </a:rPr>
              <a:t>▸  </a:t>
            </a:r>
            <a:r>
              <a:rPr sz="1060">
                <a:solidFill>
                  <a:srgbClr val="1A2A33"/>
                </a:solidFill>
                <a:latin typeface="Calibri"/>
              </a:rPr>
              <a:t>One companion app instead of four</a:t>
            </a:r>
          </a:p>
          <a:p>
            <a:pPr>
              <a:lnSpc>
                <a:spcPct val="102000"/>
              </a:lnSpc>
              <a:spcAft>
                <a:spcPts val="350"/>
              </a:spcAft>
            </a:pPr>
            <a:r>
              <a:rPr sz="1060" b="1">
                <a:solidFill>
                  <a:srgbClr val="00A86B"/>
                </a:solidFill>
                <a:latin typeface="Calibri"/>
              </a:rPr>
              <a:t>▸  </a:t>
            </a:r>
            <a:r>
              <a:rPr sz="1060">
                <a:solidFill>
                  <a:srgbClr val="1A2A33"/>
                </a:solidFill>
                <a:latin typeface="Calibri"/>
              </a:rPr>
              <a:t>Transparent fees + insured partner build trust</a:t>
            </a:r>
          </a:p>
          <a:p>
            <a:pPr>
              <a:lnSpc>
                <a:spcPct val="102000"/>
              </a:lnSpc>
              <a:spcAft>
                <a:spcPts val="350"/>
              </a:spcAft>
            </a:pPr>
            <a:r>
              <a:rPr sz="1060" b="1">
                <a:solidFill>
                  <a:srgbClr val="00A86B"/>
                </a:solidFill>
                <a:latin typeface="Calibri"/>
              </a:rPr>
              <a:t>▸  </a:t>
            </a:r>
            <a:r>
              <a:rPr sz="1060">
                <a:solidFill>
                  <a:srgbClr val="1A2A33"/>
                </a:solidFill>
                <a:latin typeface="Calibri"/>
              </a:rPr>
              <a:t>Smart nudges curb lifestyle creep</a:t>
            </a:r>
          </a:p>
        </p:txBody>
      </p:sp>
      <p:sp>
        <p:nvSpPr>
          <p:cNvPr id="35" name="TextBox 34"/>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0" y="-1828800"/>
            <a:ext cx="5486400" cy="5486400"/>
          </a:xfrm>
          <a:prstGeom prst="ellipse">
            <a:avLst/>
          </a:prstGeom>
          <a:solidFill>
            <a:srgbClr val="1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164592" cy="310896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88720" y="1783080"/>
            <a:ext cx="1371600" cy="13716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6400" b="1">
                <a:solidFill>
                  <a:srgbClr val="FFFFFF"/>
                </a:solidFill>
                <a:latin typeface="Calibri"/>
              </a:rPr>
              <a:t>C</a:t>
            </a:r>
          </a:p>
        </p:txBody>
      </p:sp>
      <p:sp>
        <p:nvSpPr>
          <p:cNvPr id="7" name="TextBox 6"/>
          <p:cNvSpPr txBox="1"/>
          <p:nvPr/>
        </p:nvSpPr>
        <p:spPr>
          <a:xfrm>
            <a:off x="2834640" y="1828800"/>
            <a:ext cx="82296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D3A3"/>
                </a:solidFill>
                <a:latin typeface="Calibri"/>
              </a:rPr>
              <a:t>SECTION C   •   15 MARKS</a:t>
            </a:r>
          </a:p>
        </p:txBody>
      </p:sp>
      <p:sp>
        <p:nvSpPr>
          <p:cNvPr id="8" name="TextBox 7"/>
          <p:cNvSpPr txBox="1"/>
          <p:nvPr/>
        </p:nvSpPr>
        <p:spPr>
          <a:xfrm>
            <a:off x="2834640" y="2240280"/>
            <a:ext cx="8595360" cy="1097280"/>
          </a:xfrm>
          <a:prstGeom prst="rect">
            <a:avLst/>
          </a:prstGeom>
          <a:noFill/>
        </p:spPr>
        <p:txBody>
          <a:bodyPr wrap="square" anchor="t" lIns="0" rIns="0" tIns="0" bIns="0">
            <a:spAutoFit/>
          </a:bodyPr>
          <a:lstStyle/>
          <a:p>
            <a:pPr algn="l">
              <a:lnSpc>
                <a:spcPct val="100000"/>
              </a:lnSpc>
              <a:spcBef>
                <a:spcPts val="0"/>
              </a:spcBef>
              <a:spcAft>
                <a:spcPts val="400"/>
              </a:spcAft>
            </a:pPr>
            <a:r>
              <a:rPr sz="3400" b="1" i="0">
                <a:solidFill>
                  <a:srgbClr val="FFFFFF"/>
                </a:solidFill>
                <a:latin typeface="Calibri"/>
              </a:rPr>
              <a:t>Go-To-Market Strategy</a:t>
            </a:r>
          </a:p>
        </p:txBody>
      </p:sp>
      <p:sp>
        <p:nvSpPr>
          <p:cNvPr id="9" name="TextBox 8"/>
          <p:cNvSpPr txBox="1"/>
          <p:nvPr/>
        </p:nvSpPr>
        <p:spPr>
          <a:xfrm>
            <a:off x="2862072" y="3429000"/>
            <a:ext cx="8229600"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0" i="1">
                <a:solidFill>
                  <a:srgbClr val="D9E0DF"/>
                </a:solidFill>
                <a:latin typeface="Calibri"/>
              </a:rPr>
              <a:t>Position it sharply, launch it loudly, and spend the ₦12m where it compounds.</a:t>
            </a:r>
          </a:p>
        </p:txBody>
      </p:sp>
      <p:sp>
        <p:nvSpPr>
          <p:cNvPr id="10" name="Oval 9"/>
          <p:cNvSpPr/>
          <p:nvPr/>
        </p:nvSpPr>
        <p:spPr>
          <a:xfrm>
            <a:off x="2862072" y="4224528"/>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4160520"/>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Positioning, tagline &amp; messaging pillars</a:t>
            </a:r>
          </a:p>
        </p:txBody>
      </p:sp>
      <p:sp>
        <p:nvSpPr>
          <p:cNvPr id="12" name="Oval 11"/>
          <p:cNvSpPr/>
          <p:nvPr/>
        </p:nvSpPr>
        <p:spPr>
          <a:xfrm>
            <a:off x="2862072" y="4645152"/>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54680" y="4581144"/>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A viral, culturally-rooted launch campaign</a:t>
            </a:r>
          </a:p>
        </p:txBody>
      </p:sp>
      <p:sp>
        <p:nvSpPr>
          <p:cNvPr id="14" name="Oval 13"/>
          <p:cNvSpPr/>
          <p:nvPr/>
        </p:nvSpPr>
        <p:spPr>
          <a:xfrm>
            <a:off x="2862072" y="5065776"/>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5001768"/>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₦12m budget allocation across nine channels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C · STRATEGY</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Customer Journey Map</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16</a:t>
            </a:r>
          </a:p>
        </p:txBody>
      </p:sp>
      <p:sp>
        <p:nvSpPr>
          <p:cNvPr id="9" name="Pentagon 8"/>
          <p:cNvSpPr/>
          <p:nvPr/>
        </p:nvSpPr>
        <p:spPr>
          <a:xfrm>
            <a:off x="502920" y="1417320"/>
            <a:ext cx="1764792" cy="457200"/>
          </a:xfrm>
          <a:prstGeom prst="homePlat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81328"/>
            <a:ext cx="1600200" cy="320040"/>
          </a:xfrm>
          <a:prstGeom prst="rect">
            <a:avLst/>
          </a:prstGeom>
          <a:noFill/>
        </p:spPr>
        <p:txBody>
          <a:bodyPr wrap="square" anchor="t" lIns="0" rIns="0" tIns="0" bIns="0">
            <a:spAutoFit/>
          </a:bodyPr>
          <a:lstStyle/>
          <a:p>
            <a:pPr algn="ctr">
              <a:lnSpc>
                <a:spcPct val="100000"/>
              </a:lnSpc>
              <a:spcBef>
                <a:spcPts val="0"/>
              </a:spcBef>
              <a:spcAft>
                <a:spcPts val="400"/>
              </a:spcAft>
            </a:pPr>
            <a:r>
              <a:rPr sz="1000" b="1" i="0">
                <a:solidFill>
                  <a:srgbClr val="FFFFFF"/>
                </a:solidFill>
                <a:latin typeface="Calibri"/>
              </a:rPr>
              <a:t>AWARENESS</a:t>
            </a:r>
          </a:p>
        </p:txBody>
      </p:sp>
      <p:sp>
        <p:nvSpPr>
          <p:cNvPr id="11" name="Pentagon 10"/>
          <p:cNvSpPr/>
          <p:nvPr/>
        </p:nvSpPr>
        <p:spPr>
          <a:xfrm>
            <a:off x="2331720" y="1417320"/>
            <a:ext cx="1764792" cy="457200"/>
          </a:xfrm>
          <a:prstGeom prst="homePlat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31720" y="1481328"/>
            <a:ext cx="1600200" cy="320040"/>
          </a:xfrm>
          <a:prstGeom prst="rect">
            <a:avLst/>
          </a:prstGeom>
          <a:noFill/>
        </p:spPr>
        <p:txBody>
          <a:bodyPr wrap="square" anchor="t" lIns="0" rIns="0" tIns="0" bIns="0">
            <a:spAutoFit/>
          </a:bodyPr>
          <a:lstStyle/>
          <a:p>
            <a:pPr algn="ctr">
              <a:lnSpc>
                <a:spcPct val="100000"/>
              </a:lnSpc>
              <a:spcBef>
                <a:spcPts val="0"/>
              </a:spcBef>
              <a:spcAft>
                <a:spcPts val="400"/>
              </a:spcAft>
            </a:pPr>
            <a:r>
              <a:rPr sz="1000" b="1" i="0">
                <a:solidFill>
                  <a:srgbClr val="FFFFFF"/>
                </a:solidFill>
                <a:latin typeface="Calibri"/>
              </a:rPr>
              <a:t>CONSIDERATION</a:t>
            </a:r>
          </a:p>
        </p:txBody>
      </p:sp>
      <p:sp>
        <p:nvSpPr>
          <p:cNvPr id="13" name="Pentagon 12"/>
          <p:cNvSpPr/>
          <p:nvPr/>
        </p:nvSpPr>
        <p:spPr>
          <a:xfrm>
            <a:off x="4160520" y="1417320"/>
            <a:ext cx="1764792" cy="457200"/>
          </a:xfrm>
          <a:prstGeom prst="homePlat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1481328"/>
            <a:ext cx="1600200" cy="320040"/>
          </a:xfrm>
          <a:prstGeom prst="rect">
            <a:avLst/>
          </a:prstGeom>
          <a:noFill/>
        </p:spPr>
        <p:txBody>
          <a:bodyPr wrap="square" anchor="t" lIns="0" rIns="0" tIns="0" bIns="0">
            <a:spAutoFit/>
          </a:bodyPr>
          <a:lstStyle/>
          <a:p>
            <a:pPr algn="ctr">
              <a:lnSpc>
                <a:spcPct val="100000"/>
              </a:lnSpc>
              <a:spcBef>
                <a:spcPts val="0"/>
              </a:spcBef>
              <a:spcAft>
                <a:spcPts val="400"/>
              </a:spcAft>
            </a:pPr>
            <a:r>
              <a:rPr sz="1000" b="1" i="0">
                <a:solidFill>
                  <a:srgbClr val="FFFFFF"/>
                </a:solidFill>
                <a:latin typeface="Calibri"/>
              </a:rPr>
              <a:t>ONBOARDING</a:t>
            </a:r>
          </a:p>
        </p:txBody>
      </p:sp>
      <p:sp>
        <p:nvSpPr>
          <p:cNvPr id="15" name="Pentagon 14"/>
          <p:cNvSpPr/>
          <p:nvPr/>
        </p:nvSpPr>
        <p:spPr>
          <a:xfrm>
            <a:off x="5989320" y="1417320"/>
            <a:ext cx="1764792" cy="457200"/>
          </a:xfrm>
          <a:prstGeom prst="homePlat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1481328"/>
            <a:ext cx="1600200" cy="320040"/>
          </a:xfrm>
          <a:prstGeom prst="rect">
            <a:avLst/>
          </a:prstGeom>
          <a:noFill/>
        </p:spPr>
        <p:txBody>
          <a:bodyPr wrap="square" anchor="t" lIns="0" rIns="0" tIns="0" bIns="0">
            <a:spAutoFit/>
          </a:bodyPr>
          <a:lstStyle/>
          <a:p>
            <a:pPr algn="ctr">
              <a:lnSpc>
                <a:spcPct val="100000"/>
              </a:lnSpc>
              <a:spcBef>
                <a:spcPts val="0"/>
              </a:spcBef>
              <a:spcAft>
                <a:spcPts val="400"/>
              </a:spcAft>
            </a:pPr>
            <a:r>
              <a:rPr sz="1000" b="1" i="0">
                <a:solidFill>
                  <a:srgbClr val="FFFFFF"/>
                </a:solidFill>
                <a:latin typeface="Calibri"/>
              </a:rPr>
              <a:t>FIRST SAVE</a:t>
            </a:r>
          </a:p>
        </p:txBody>
      </p:sp>
      <p:sp>
        <p:nvSpPr>
          <p:cNvPr id="17" name="Pentagon 16"/>
          <p:cNvSpPr/>
          <p:nvPr/>
        </p:nvSpPr>
        <p:spPr>
          <a:xfrm>
            <a:off x="7818120" y="1417320"/>
            <a:ext cx="1764792" cy="457200"/>
          </a:xfrm>
          <a:prstGeom prst="homePlat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8120" y="1481328"/>
            <a:ext cx="1600200" cy="320040"/>
          </a:xfrm>
          <a:prstGeom prst="rect">
            <a:avLst/>
          </a:prstGeom>
          <a:noFill/>
        </p:spPr>
        <p:txBody>
          <a:bodyPr wrap="square" anchor="t" lIns="0" rIns="0" tIns="0" bIns="0">
            <a:spAutoFit/>
          </a:bodyPr>
          <a:lstStyle/>
          <a:p>
            <a:pPr algn="ctr">
              <a:lnSpc>
                <a:spcPct val="100000"/>
              </a:lnSpc>
              <a:spcBef>
                <a:spcPts val="0"/>
              </a:spcBef>
              <a:spcAft>
                <a:spcPts val="400"/>
              </a:spcAft>
            </a:pPr>
            <a:r>
              <a:rPr sz="1000" b="1" i="0">
                <a:solidFill>
                  <a:srgbClr val="FFFFFF"/>
                </a:solidFill>
                <a:latin typeface="Calibri"/>
              </a:rPr>
              <a:t>HABIT</a:t>
            </a:r>
          </a:p>
        </p:txBody>
      </p:sp>
      <p:sp>
        <p:nvSpPr>
          <p:cNvPr id="19" name="Pentagon 18"/>
          <p:cNvSpPr/>
          <p:nvPr/>
        </p:nvSpPr>
        <p:spPr>
          <a:xfrm>
            <a:off x="9646920" y="1417320"/>
            <a:ext cx="1764792" cy="457200"/>
          </a:xfrm>
          <a:prstGeom prst="homePlat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46920" y="1481328"/>
            <a:ext cx="1600200" cy="320040"/>
          </a:xfrm>
          <a:prstGeom prst="rect">
            <a:avLst/>
          </a:prstGeom>
          <a:noFill/>
        </p:spPr>
        <p:txBody>
          <a:bodyPr wrap="square" anchor="t" lIns="0" rIns="0" tIns="0" bIns="0">
            <a:spAutoFit/>
          </a:bodyPr>
          <a:lstStyle/>
          <a:p>
            <a:pPr algn="ctr">
              <a:lnSpc>
                <a:spcPct val="100000"/>
              </a:lnSpc>
              <a:spcBef>
                <a:spcPts val="0"/>
              </a:spcBef>
              <a:spcAft>
                <a:spcPts val="400"/>
              </a:spcAft>
            </a:pPr>
            <a:r>
              <a:rPr sz="1000" b="1" i="0">
                <a:solidFill>
                  <a:srgbClr val="FFFFFF"/>
                </a:solidFill>
                <a:latin typeface="Calibri"/>
              </a:rPr>
              <a:t>ADVOCACY</a:t>
            </a:r>
          </a:p>
        </p:txBody>
      </p:sp>
      <p:sp>
        <p:nvSpPr>
          <p:cNvPr id="21" name="TextBox 20"/>
          <p:cNvSpPr txBox="1"/>
          <p:nvPr/>
        </p:nvSpPr>
        <p:spPr>
          <a:xfrm>
            <a:off x="0" y="2400300"/>
            <a:ext cx="457200" cy="457200"/>
          </a:xfrm>
          <a:prstGeom prst="rect">
            <a:avLst/>
          </a:prstGeom>
          <a:noFill/>
        </p:spPr>
        <p:txBody>
          <a:bodyPr wrap="square" anchor="t" lIns="0" rIns="0" tIns="0" bIns="0">
            <a:spAutoFit/>
          </a:bodyPr>
          <a:lstStyle/>
          <a:p>
            <a:pPr algn="l">
              <a:lnSpc>
                <a:spcPct val="100000"/>
              </a:lnSpc>
              <a:spcBef>
                <a:spcPts val="0"/>
              </a:spcBef>
              <a:spcAft>
                <a:spcPts val="400"/>
              </a:spcAft>
            </a:pPr>
            <a:r>
              <a:rPr sz="800" b="0" i="0">
                <a:solidFill>
                  <a:srgbClr val="5B6B73"/>
                </a:solidFill>
                <a:latin typeface="Calibri"/>
              </a:rPr>
              <a:t/>
            </a:r>
          </a:p>
        </p:txBody>
      </p:sp>
      <p:sp>
        <p:nvSpPr>
          <p:cNvPr id="22" name="Rounded Rectangle 21"/>
          <p:cNvSpPr/>
          <p:nvPr/>
        </p:nvSpPr>
        <p:spPr>
          <a:xfrm>
            <a:off x="502920" y="1965960"/>
            <a:ext cx="1764792" cy="1143000"/>
          </a:xfrm>
          <a:prstGeom prst="roundRect">
            <a:avLst>
              <a:gd name="adj" fmla="val 6000"/>
            </a:avLst>
          </a:prstGeom>
          <a:solidFill>
            <a:srgbClr val="E3F6ED"/>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039112"/>
            <a:ext cx="1581912" cy="105156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“What's this Moni?”</a:t>
            </a:r>
          </a:p>
        </p:txBody>
      </p:sp>
      <p:sp>
        <p:nvSpPr>
          <p:cNvPr id="24" name="Rounded Rectangle 23"/>
          <p:cNvSpPr/>
          <p:nvPr/>
        </p:nvSpPr>
        <p:spPr>
          <a:xfrm>
            <a:off x="2331720" y="1965960"/>
            <a:ext cx="1764792" cy="1143000"/>
          </a:xfrm>
          <a:prstGeom prst="roundRect">
            <a:avLst>
              <a:gd name="adj" fmla="val 6000"/>
            </a:avLst>
          </a:prstGeom>
          <a:solidFill>
            <a:srgbClr val="E3F6ED"/>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23160" y="2039112"/>
            <a:ext cx="1581912" cy="105156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“Can I trust them with my money?”</a:t>
            </a:r>
          </a:p>
        </p:txBody>
      </p:sp>
      <p:sp>
        <p:nvSpPr>
          <p:cNvPr id="26" name="Rounded Rectangle 25"/>
          <p:cNvSpPr/>
          <p:nvPr/>
        </p:nvSpPr>
        <p:spPr>
          <a:xfrm>
            <a:off x="4160520" y="1965960"/>
            <a:ext cx="1764792" cy="1143000"/>
          </a:xfrm>
          <a:prstGeom prst="roundRect">
            <a:avLst>
              <a:gd name="adj" fmla="val 6000"/>
            </a:avLst>
          </a:prstGeom>
          <a:solidFill>
            <a:srgbClr val="E3F6ED"/>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51959" y="2039112"/>
            <a:ext cx="1581912" cy="105156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“This setup is easy.”</a:t>
            </a:r>
          </a:p>
        </p:txBody>
      </p:sp>
      <p:sp>
        <p:nvSpPr>
          <p:cNvPr id="28" name="Rounded Rectangle 27"/>
          <p:cNvSpPr/>
          <p:nvPr/>
        </p:nvSpPr>
        <p:spPr>
          <a:xfrm>
            <a:off x="5989320" y="1965960"/>
            <a:ext cx="1764792" cy="1143000"/>
          </a:xfrm>
          <a:prstGeom prst="roundRect">
            <a:avLst>
              <a:gd name="adj" fmla="val 6000"/>
            </a:avLst>
          </a:prstGeom>
          <a:solidFill>
            <a:srgbClr val="E3F6ED"/>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80759" y="2039112"/>
            <a:ext cx="1581912" cy="105156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“I actually saved!”</a:t>
            </a:r>
          </a:p>
        </p:txBody>
      </p:sp>
      <p:sp>
        <p:nvSpPr>
          <p:cNvPr id="30" name="Rounded Rectangle 29"/>
          <p:cNvSpPr/>
          <p:nvPr/>
        </p:nvSpPr>
        <p:spPr>
          <a:xfrm>
            <a:off x="7818120" y="1965960"/>
            <a:ext cx="1764792" cy="1143000"/>
          </a:xfrm>
          <a:prstGeom prst="roundRect">
            <a:avLst>
              <a:gd name="adj" fmla="val 6000"/>
            </a:avLst>
          </a:prstGeom>
          <a:solidFill>
            <a:srgbClr val="E3F6ED"/>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60" y="2039112"/>
            <a:ext cx="1581912" cy="105156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“My streak is growing.”</a:t>
            </a:r>
          </a:p>
        </p:txBody>
      </p:sp>
      <p:sp>
        <p:nvSpPr>
          <p:cNvPr id="32" name="Rounded Rectangle 31"/>
          <p:cNvSpPr/>
          <p:nvPr/>
        </p:nvSpPr>
        <p:spPr>
          <a:xfrm>
            <a:off x="9646920" y="1965960"/>
            <a:ext cx="1764792" cy="1143000"/>
          </a:xfrm>
          <a:prstGeom prst="roundRect">
            <a:avLst>
              <a:gd name="adj" fmla="val 6000"/>
            </a:avLst>
          </a:prstGeom>
          <a:solidFill>
            <a:srgbClr val="E3F6ED"/>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38360" y="2039112"/>
            <a:ext cx="1581912" cy="105156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“You need to try this.”</a:t>
            </a:r>
          </a:p>
        </p:txBody>
      </p:sp>
      <p:sp>
        <p:nvSpPr>
          <p:cNvPr id="34" name="TextBox 33"/>
          <p:cNvSpPr txBox="1"/>
          <p:nvPr/>
        </p:nvSpPr>
        <p:spPr>
          <a:xfrm>
            <a:off x="0" y="3566159"/>
            <a:ext cx="457200" cy="457200"/>
          </a:xfrm>
          <a:prstGeom prst="rect">
            <a:avLst/>
          </a:prstGeom>
          <a:noFill/>
        </p:spPr>
        <p:txBody>
          <a:bodyPr wrap="square" anchor="t" lIns="0" rIns="0" tIns="0" bIns="0">
            <a:spAutoFit/>
          </a:bodyPr>
          <a:lstStyle/>
          <a:p>
            <a:pPr algn="l">
              <a:lnSpc>
                <a:spcPct val="100000"/>
              </a:lnSpc>
              <a:spcBef>
                <a:spcPts val="0"/>
              </a:spcBef>
              <a:spcAft>
                <a:spcPts val="400"/>
              </a:spcAft>
            </a:pPr>
            <a:r>
              <a:rPr sz="800" b="0" i="0">
                <a:solidFill>
                  <a:srgbClr val="5B6B73"/>
                </a:solidFill>
                <a:latin typeface="Calibri"/>
              </a:rPr>
              <a:t/>
            </a:r>
          </a:p>
        </p:txBody>
      </p:sp>
      <p:sp>
        <p:nvSpPr>
          <p:cNvPr id="35" name="Rounded Rectangle 34"/>
          <p:cNvSpPr/>
          <p:nvPr/>
        </p:nvSpPr>
        <p:spPr>
          <a:xfrm>
            <a:off x="502920" y="320040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327355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TikTok, referral, OOH</a:t>
            </a:r>
          </a:p>
        </p:txBody>
      </p:sp>
      <p:sp>
        <p:nvSpPr>
          <p:cNvPr id="37" name="Rounded Rectangle 36"/>
          <p:cNvSpPr/>
          <p:nvPr/>
        </p:nvSpPr>
        <p:spPr>
          <a:xfrm>
            <a:off x="2331720" y="320040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23160" y="327355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Reviews, PR, website</a:t>
            </a:r>
          </a:p>
        </p:txBody>
      </p:sp>
      <p:sp>
        <p:nvSpPr>
          <p:cNvPr id="39" name="Rounded Rectangle 38"/>
          <p:cNvSpPr/>
          <p:nvPr/>
        </p:nvSpPr>
        <p:spPr>
          <a:xfrm>
            <a:off x="4160520" y="320040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51959" y="327355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App onboarding, KYC</a:t>
            </a:r>
          </a:p>
        </p:txBody>
      </p:sp>
      <p:sp>
        <p:nvSpPr>
          <p:cNvPr id="41" name="Rounded Rectangle 40"/>
          <p:cNvSpPr/>
          <p:nvPr/>
        </p:nvSpPr>
        <p:spPr>
          <a:xfrm>
            <a:off x="5989320" y="320040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59" y="327355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Auto-save rule, bonus</a:t>
            </a:r>
          </a:p>
        </p:txBody>
      </p:sp>
      <p:sp>
        <p:nvSpPr>
          <p:cNvPr id="43" name="Rounded Rectangle 42"/>
          <p:cNvSpPr/>
          <p:nvPr/>
        </p:nvSpPr>
        <p:spPr>
          <a:xfrm>
            <a:off x="7818120" y="320040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09560" y="327355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Push, streaks, community</a:t>
            </a:r>
          </a:p>
        </p:txBody>
      </p:sp>
      <p:sp>
        <p:nvSpPr>
          <p:cNvPr id="45" name="Rounded Rectangle 44"/>
          <p:cNvSpPr/>
          <p:nvPr/>
        </p:nvSpPr>
        <p:spPr>
          <a:xfrm>
            <a:off x="9646920" y="320040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38360" y="327355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Referral cards, UGC</a:t>
            </a:r>
          </a:p>
        </p:txBody>
      </p:sp>
      <p:sp>
        <p:nvSpPr>
          <p:cNvPr id="47" name="TextBox 46"/>
          <p:cNvSpPr txBox="1"/>
          <p:nvPr/>
        </p:nvSpPr>
        <p:spPr>
          <a:xfrm>
            <a:off x="0" y="4663440"/>
            <a:ext cx="457200" cy="457200"/>
          </a:xfrm>
          <a:prstGeom prst="rect">
            <a:avLst/>
          </a:prstGeom>
          <a:noFill/>
        </p:spPr>
        <p:txBody>
          <a:bodyPr wrap="square" anchor="t" lIns="0" rIns="0" tIns="0" bIns="0">
            <a:spAutoFit/>
          </a:bodyPr>
          <a:lstStyle/>
          <a:p>
            <a:pPr algn="l">
              <a:lnSpc>
                <a:spcPct val="100000"/>
              </a:lnSpc>
              <a:spcBef>
                <a:spcPts val="0"/>
              </a:spcBef>
              <a:spcAft>
                <a:spcPts val="400"/>
              </a:spcAft>
            </a:pPr>
            <a:r>
              <a:rPr sz="800" b="0" i="0">
                <a:solidFill>
                  <a:srgbClr val="5B6B73"/>
                </a:solidFill>
                <a:latin typeface="Calibri"/>
              </a:rPr>
              <a:t/>
            </a:r>
          </a:p>
        </p:txBody>
      </p:sp>
      <p:sp>
        <p:nvSpPr>
          <p:cNvPr id="48" name="Rounded Rectangle 47"/>
          <p:cNvSpPr/>
          <p:nvPr/>
        </p:nvSpPr>
        <p:spPr>
          <a:xfrm>
            <a:off x="502920" y="429768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37083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#MoniChallenge content</a:t>
            </a:r>
          </a:p>
        </p:txBody>
      </p:sp>
      <p:sp>
        <p:nvSpPr>
          <p:cNvPr id="50" name="Rounded Rectangle 49"/>
          <p:cNvSpPr/>
          <p:nvPr/>
        </p:nvSpPr>
        <p:spPr>
          <a:xfrm>
            <a:off x="2331720" y="429768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423160" y="437083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Trust &amp; fee transparency</a:t>
            </a:r>
          </a:p>
        </p:txBody>
      </p:sp>
      <p:sp>
        <p:nvSpPr>
          <p:cNvPr id="52" name="Rounded Rectangle 51"/>
          <p:cNvSpPr/>
          <p:nvPr/>
        </p:nvSpPr>
        <p:spPr>
          <a:xfrm>
            <a:off x="4160520" y="429768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251959" y="437083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&lt;3-min flow, ₦500 bonus</a:t>
            </a:r>
          </a:p>
        </p:txBody>
      </p:sp>
      <p:sp>
        <p:nvSpPr>
          <p:cNvPr id="54" name="Rounded Rectangle 53"/>
          <p:cNvSpPr/>
          <p:nvPr/>
        </p:nvSpPr>
        <p:spPr>
          <a:xfrm>
            <a:off x="5989320" y="429768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080759" y="437083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Round-up + goal nudge</a:t>
            </a:r>
          </a:p>
        </p:txBody>
      </p:sp>
      <p:sp>
        <p:nvSpPr>
          <p:cNvPr id="56" name="Rounded Rectangle 55"/>
          <p:cNvSpPr/>
          <p:nvPr/>
        </p:nvSpPr>
        <p:spPr>
          <a:xfrm>
            <a:off x="7818120" y="429768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09560" y="437083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Smart triggers + badges</a:t>
            </a:r>
          </a:p>
        </p:txBody>
      </p:sp>
      <p:sp>
        <p:nvSpPr>
          <p:cNvPr id="58" name="Rounded Rectangle 57"/>
          <p:cNvSpPr/>
          <p:nvPr/>
        </p:nvSpPr>
        <p:spPr>
          <a:xfrm>
            <a:off x="9646920" y="4297680"/>
            <a:ext cx="1764792" cy="1005839"/>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370832"/>
            <a:ext cx="1581912" cy="914400"/>
          </a:xfrm>
          <a:prstGeom prst="rect">
            <a:avLst/>
          </a:prstGeom>
          <a:noFill/>
        </p:spPr>
        <p:txBody>
          <a:bodyPr wrap="square" anchor="t" lIns="0" rIns="0" tIns="0" bIns="0">
            <a:spAutoFit/>
          </a:bodyPr>
          <a:lstStyle/>
          <a:p>
            <a:pPr algn="l">
              <a:lnSpc>
                <a:spcPct val="100000"/>
              </a:lnSpc>
              <a:spcBef>
                <a:spcPts val="0"/>
              </a:spcBef>
              <a:spcAft>
                <a:spcPts val="400"/>
              </a:spcAft>
            </a:pPr>
            <a:r>
              <a:rPr sz="930" b="0" i="0">
                <a:solidFill>
                  <a:srgbClr val="1A2A33"/>
                </a:solidFill>
                <a:latin typeface="Calibri"/>
              </a:rPr>
              <a:t>Give ₦1k/Get ₦1k</a:t>
            </a:r>
          </a:p>
        </p:txBody>
      </p:sp>
      <p:sp>
        <p:nvSpPr>
          <p:cNvPr id="60" name="Rounded Rectangle 59"/>
          <p:cNvSpPr/>
          <p:nvPr/>
        </p:nvSpPr>
        <p:spPr>
          <a:xfrm>
            <a:off x="502920" y="5413248"/>
            <a:ext cx="1764792" cy="41148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5486400"/>
            <a:ext cx="1764792"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FFFFFF"/>
                </a:solidFill>
                <a:latin typeface="Calibri"/>
              </a:rPr>
              <a:t>😐 Curious</a:t>
            </a:r>
          </a:p>
        </p:txBody>
      </p:sp>
      <p:sp>
        <p:nvSpPr>
          <p:cNvPr id="62" name="Rounded Rectangle 61"/>
          <p:cNvSpPr/>
          <p:nvPr/>
        </p:nvSpPr>
        <p:spPr>
          <a:xfrm>
            <a:off x="2331720" y="5413248"/>
            <a:ext cx="1764792" cy="41148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31720" y="5486400"/>
            <a:ext cx="1764792"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FFFFFF"/>
                </a:solidFill>
                <a:latin typeface="Calibri"/>
              </a:rPr>
              <a:t>🤔 Skeptical</a:t>
            </a:r>
          </a:p>
        </p:txBody>
      </p:sp>
      <p:sp>
        <p:nvSpPr>
          <p:cNvPr id="64" name="Rounded Rectangle 63"/>
          <p:cNvSpPr/>
          <p:nvPr/>
        </p:nvSpPr>
        <p:spPr>
          <a:xfrm>
            <a:off x="4160520" y="5413248"/>
            <a:ext cx="1764792" cy="41148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60520" y="5486400"/>
            <a:ext cx="1764792"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FFFFFF"/>
                </a:solidFill>
                <a:latin typeface="Calibri"/>
              </a:rPr>
              <a:t>🙂 Hopeful</a:t>
            </a:r>
          </a:p>
        </p:txBody>
      </p:sp>
      <p:sp>
        <p:nvSpPr>
          <p:cNvPr id="66" name="Rounded Rectangle 65"/>
          <p:cNvSpPr/>
          <p:nvPr/>
        </p:nvSpPr>
        <p:spPr>
          <a:xfrm>
            <a:off x="5989320" y="5413248"/>
            <a:ext cx="1764792" cy="41148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89320" y="5486400"/>
            <a:ext cx="1764792"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FFFFFF"/>
                </a:solidFill>
                <a:latin typeface="Calibri"/>
              </a:rPr>
              <a:t>😀 Relieved</a:t>
            </a:r>
          </a:p>
        </p:txBody>
      </p:sp>
      <p:sp>
        <p:nvSpPr>
          <p:cNvPr id="68" name="Rounded Rectangle 67"/>
          <p:cNvSpPr/>
          <p:nvPr/>
        </p:nvSpPr>
        <p:spPr>
          <a:xfrm>
            <a:off x="7818120" y="5413248"/>
            <a:ext cx="1764792" cy="41148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818120" y="5486400"/>
            <a:ext cx="1764792"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FFFFFF"/>
                </a:solidFill>
                <a:latin typeface="Calibri"/>
              </a:rPr>
              <a:t>😎 Confident</a:t>
            </a:r>
          </a:p>
        </p:txBody>
      </p:sp>
      <p:sp>
        <p:nvSpPr>
          <p:cNvPr id="70" name="Rounded Rectangle 69"/>
          <p:cNvSpPr/>
          <p:nvPr/>
        </p:nvSpPr>
        <p:spPr>
          <a:xfrm>
            <a:off x="9646920" y="5413248"/>
            <a:ext cx="1764792" cy="41148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46920" y="5486400"/>
            <a:ext cx="1764792"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0">
                <a:solidFill>
                  <a:srgbClr val="FFFFFF"/>
                </a:solidFill>
                <a:latin typeface="Calibri"/>
              </a:rPr>
              <a:t>🤩 Proud</a:t>
            </a:r>
          </a:p>
        </p:txBody>
      </p:sp>
      <p:sp>
        <p:nvSpPr>
          <p:cNvPr id="72" name="TextBox 71"/>
          <p:cNvSpPr txBox="1"/>
          <p:nvPr/>
        </p:nvSpPr>
        <p:spPr>
          <a:xfrm>
            <a:off x="502920" y="5961888"/>
            <a:ext cx="1115568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A86B"/>
                </a:solidFill>
                <a:latin typeface="Calibri"/>
              </a:rPr>
              <a:t>Critical moment:  </a:t>
            </a:r>
            <a:r>
              <a:rPr sz="1150" b="0" i="0">
                <a:solidFill>
                  <a:srgbClr val="1A2A33"/>
                </a:solidFill>
                <a:latin typeface="Calibri"/>
              </a:rPr>
              <a:t>the jump from Onboarding to First Save is where 82% currently drop. Every tactic above is engineered to carry the user across that gap.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C · STRATEGY</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The Growth Funnel (AARRR)</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17</a:t>
            </a:r>
          </a:p>
        </p:txBody>
      </p:sp>
      <p:sp>
        <p:nvSpPr>
          <p:cNvPr id="9" name="Rounded Rectangle 8"/>
          <p:cNvSpPr/>
          <p:nvPr/>
        </p:nvSpPr>
        <p:spPr>
          <a:xfrm>
            <a:off x="777240" y="1600200"/>
            <a:ext cx="6400800" cy="713232"/>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91640"/>
            <a:ext cx="6400800" cy="292608"/>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Calibri"/>
              </a:rPr>
              <a:t>ACQUISITION</a:t>
            </a:r>
          </a:p>
        </p:txBody>
      </p:sp>
      <p:sp>
        <p:nvSpPr>
          <p:cNvPr id="11" name="TextBox 10"/>
          <p:cNvSpPr txBox="1"/>
          <p:nvPr/>
        </p:nvSpPr>
        <p:spPr>
          <a:xfrm>
            <a:off x="777240" y="1993392"/>
            <a:ext cx="6400800" cy="274320"/>
          </a:xfrm>
          <a:prstGeom prst="rect">
            <a:avLst/>
          </a:prstGeom>
          <a:noFill/>
        </p:spPr>
        <p:txBody>
          <a:bodyPr wrap="square" anchor="t" lIns="0" rIns="0" tIns="0" bIns="0">
            <a:spAutoFit/>
          </a:bodyPr>
          <a:lstStyle/>
          <a:p>
            <a:pPr algn="ctr">
              <a:lnSpc>
                <a:spcPct val="100000"/>
              </a:lnSpc>
              <a:spcBef>
                <a:spcPts val="0"/>
              </a:spcBef>
              <a:spcAft>
                <a:spcPts val="400"/>
              </a:spcAft>
            </a:pPr>
            <a:r>
              <a:rPr sz="930" b="0" i="0">
                <a:solidFill>
                  <a:srgbClr val="FFFFFF"/>
                </a:solidFill>
                <a:latin typeface="Calibri"/>
              </a:rPr>
              <a:t>Reach young Nigerians cheaply</a:t>
            </a:r>
          </a:p>
        </p:txBody>
      </p:sp>
      <p:sp>
        <p:nvSpPr>
          <p:cNvPr id="12" name="TextBox 11"/>
          <p:cNvSpPr txBox="1"/>
          <p:nvPr/>
        </p:nvSpPr>
        <p:spPr>
          <a:xfrm>
            <a:off x="7635240" y="1645920"/>
            <a:ext cx="4069080" cy="365760"/>
          </a:xfrm>
          <a:prstGeom prst="rect">
            <a:avLst/>
          </a:prstGeom>
          <a:noFill/>
        </p:spPr>
        <p:txBody>
          <a:bodyPr wrap="square" anchor="t" lIns="0" rIns="0" tIns="0" bIns="0">
            <a:spAutoFit/>
          </a:bodyPr>
          <a:lstStyle/>
          <a:p>
            <a:pPr algn="l">
              <a:lnSpc>
                <a:spcPct val="95000"/>
              </a:lnSpc>
              <a:spcBef>
                <a:spcPts val="0"/>
              </a:spcBef>
              <a:spcAft>
                <a:spcPts val="400"/>
              </a:spcAft>
            </a:pPr>
            <a:r>
              <a:rPr sz="950" b="1" i="0">
                <a:solidFill>
                  <a:srgbClr val="00A86B"/>
                </a:solidFill>
                <a:latin typeface="Calibri"/>
              </a:rPr>
              <a:t>How:  </a:t>
            </a:r>
            <a:r>
              <a:rPr sz="950" b="0" i="0">
                <a:solidFill>
                  <a:srgbClr val="5B6B73"/>
                </a:solidFill>
                <a:latin typeface="Calibri"/>
              </a:rPr>
              <a:t>Referral, TikTok, campus, influencers</a:t>
            </a:r>
          </a:p>
        </p:txBody>
      </p:sp>
      <p:sp>
        <p:nvSpPr>
          <p:cNvPr id="13" name="TextBox 12"/>
          <p:cNvSpPr txBox="1"/>
          <p:nvPr/>
        </p:nvSpPr>
        <p:spPr>
          <a:xfrm>
            <a:off x="7635240" y="1984248"/>
            <a:ext cx="4069080" cy="320040"/>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00A86B"/>
                </a:solidFill>
                <a:latin typeface="Calibri"/>
              </a:rPr>
              <a:t>Target:  </a:t>
            </a:r>
            <a:r>
              <a:rPr sz="950" b="1" i="0">
                <a:solidFill>
                  <a:srgbClr val="0B1F3A"/>
                </a:solidFill>
                <a:latin typeface="Calibri"/>
              </a:rPr>
              <a:t>CAC ₦4,200 → ₦2,600</a:t>
            </a:r>
          </a:p>
        </p:txBody>
      </p:sp>
      <p:sp>
        <p:nvSpPr>
          <p:cNvPr id="14" name="Rounded Rectangle 13"/>
          <p:cNvSpPr/>
          <p:nvPr/>
        </p:nvSpPr>
        <p:spPr>
          <a:xfrm>
            <a:off x="1188720" y="2468880"/>
            <a:ext cx="5577840" cy="713232"/>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560320"/>
            <a:ext cx="5577840" cy="292608"/>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Calibri"/>
              </a:rPr>
              <a:t>ACTIVATION</a:t>
            </a:r>
          </a:p>
        </p:txBody>
      </p:sp>
      <p:sp>
        <p:nvSpPr>
          <p:cNvPr id="16" name="TextBox 15"/>
          <p:cNvSpPr txBox="1"/>
          <p:nvPr/>
        </p:nvSpPr>
        <p:spPr>
          <a:xfrm>
            <a:off x="1188720" y="2862072"/>
            <a:ext cx="5577840" cy="274320"/>
          </a:xfrm>
          <a:prstGeom prst="rect">
            <a:avLst/>
          </a:prstGeom>
          <a:noFill/>
        </p:spPr>
        <p:txBody>
          <a:bodyPr wrap="square" anchor="t" lIns="0" rIns="0" tIns="0" bIns="0">
            <a:spAutoFit/>
          </a:bodyPr>
          <a:lstStyle/>
          <a:p>
            <a:pPr algn="ctr">
              <a:lnSpc>
                <a:spcPct val="100000"/>
              </a:lnSpc>
              <a:spcBef>
                <a:spcPts val="0"/>
              </a:spcBef>
              <a:spcAft>
                <a:spcPts val="400"/>
              </a:spcAft>
            </a:pPr>
            <a:r>
              <a:rPr sz="930" b="0" i="0">
                <a:solidFill>
                  <a:srgbClr val="FFFFFF"/>
                </a:solidFill>
                <a:latin typeface="Calibri"/>
              </a:rPr>
              <a:t>Get them to their FIRST SAVE fast</a:t>
            </a:r>
          </a:p>
        </p:txBody>
      </p:sp>
      <p:sp>
        <p:nvSpPr>
          <p:cNvPr id="17" name="TextBox 16"/>
          <p:cNvSpPr txBox="1"/>
          <p:nvPr/>
        </p:nvSpPr>
        <p:spPr>
          <a:xfrm>
            <a:off x="7635240" y="2514600"/>
            <a:ext cx="4069080" cy="365760"/>
          </a:xfrm>
          <a:prstGeom prst="rect">
            <a:avLst/>
          </a:prstGeom>
          <a:noFill/>
        </p:spPr>
        <p:txBody>
          <a:bodyPr wrap="square" anchor="t" lIns="0" rIns="0" tIns="0" bIns="0">
            <a:spAutoFit/>
          </a:bodyPr>
          <a:lstStyle/>
          <a:p>
            <a:pPr algn="l">
              <a:lnSpc>
                <a:spcPct val="95000"/>
              </a:lnSpc>
              <a:spcBef>
                <a:spcPts val="0"/>
              </a:spcBef>
              <a:spcAft>
                <a:spcPts val="400"/>
              </a:spcAft>
            </a:pPr>
            <a:r>
              <a:rPr sz="950" b="1" i="0">
                <a:solidFill>
                  <a:srgbClr val="0B1F3A"/>
                </a:solidFill>
                <a:latin typeface="Calibri"/>
              </a:rPr>
              <a:t>How:  </a:t>
            </a:r>
            <a:r>
              <a:rPr sz="950" b="0" i="0">
                <a:solidFill>
                  <a:srgbClr val="5B6B73"/>
                </a:solidFill>
                <a:latin typeface="Calibri"/>
              </a:rPr>
              <a:t>&lt;3-min onboarding + ₦500 bonus</a:t>
            </a:r>
          </a:p>
        </p:txBody>
      </p:sp>
      <p:sp>
        <p:nvSpPr>
          <p:cNvPr id="18" name="TextBox 17"/>
          <p:cNvSpPr txBox="1"/>
          <p:nvPr/>
        </p:nvSpPr>
        <p:spPr>
          <a:xfrm>
            <a:off x="7635240" y="2852928"/>
            <a:ext cx="4069080" cy="320040"/>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0B1F3A"/>
                </a:solidFill>
                <a:latin typeface="Calibri"/>
              </a:rPr>
              <a:t>Target:  </a:t>
            </a:r>
            <a:r>
              <a:rPr sz="950" b="1" i="0">
                <a:solidFill>
                  <a:srgbClr val="0B1F3A"/>
                </a:solidFill>
                <a:latin typeface="Calibri"/>
              </a:rPr>
              <a:t>Activation 55%+</a:t>
            </a:r>
          </a:p>
        </p:txBody>
      </p:sp>
      <p:sp>
        <p:nvSpPr>
          <p:cNvPr id="19" name="Rounded Rectangle 18"/>
          <p:cNvSpPr/>
          <p:nvPr/>
        </p:nvSpPr>
        <p:spPr>
          <a:xfrm>
            <a:off x="1600200" y="3337560"/>
            <a:ext cx="4754880" cy="713232"/>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00200" y="3429000"/>
            <a:ext cx="4754880" cy="292608"/>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Calibri"/>
              </a:rPr>
              <a:t>RETENTION</a:t>
            </a:r>
          </a:p>
        </p:txBody>
      </p:sp>
      <p:sp>
        <p:nvSpPr>
          <p:cNvPr id="21" name="TextBox 20"/>
          <p:cNvSpPr txBox="1"/>
          <p:nvPr/>
        </p:nvSpPr>
        <p:spPr>
          <a:xfrm>
            <a:off x="1600200" y="3730752"/>
            <a:ext cx="4754880" cy="274320"/>
          </a:xfrm>
          <a:prstGeom prst="rect">
            <a:avLst/>
          </a:prstGeom>
          <a:noFill/>
        </p:spPr>
        <p:txBody>
          <a:bodyPr wrap="square" anchor="t" lIns="0" rIns="0" tIns="0" bIns="0">
            <a:spAutoFit/>
          </a:bodyPr>
          <a:lstStyle/>
          <a:p>
            <a:pPr algn="ctr">
              <a:lnSpc>
                <a:spcPct val="100000"/>
              </a:lnSpc>
              <a:spcBef>
                <a:spcPts val="0"/>
              </a:spcBef>
              <a:spcAft>
                <a:spcPts val="400"/>
              </a:spcAft>
            </a:pPr>
            <a:r>
              <a:rPr sz="930" b="0" i="0">
                <a:solidFill>
                  <a:srgbClr val="FFFFFF"/>
                </a:solidFill>
                <a:latin typeface="Calibri"/>
              </a:rPr>
              <a:t>Build a daily money habit</a:t>
            </a:r>
          </a:p>
        </p:txBody>
      </p:sp>
      <p:sp>
        <p:nvSpPr>
          <p:cNvPr id="22" name="TextBox 21"/>
          <p:cNvSpPr txBox="1"/>
          <p:nvPr/>
        </p:nvSpPr>
        <p:spPr>
          <a:xfrm>
            <a:off x="7635240" y="3383280"/>
            <a:ext cx="4069080" cy="365760"/>
          </a:xfrm>
          <a:prstGeom prst="rect">
            <a:avLst/>
          </a:prstGeom>
          <a:noFill/>
        </p:spPr>
        <p:txBody>
          <a:bodyPr wrap="square" anchor="t" lIns="0" rIns="0" tIns="0" bIns="0">
            <a:spAutoFit/>
          </a:bodyPr>
          <a:lstStyle/>
          <a:p>
            <a:pPr algn="l">
              <a:lnSpc>
                <a:spcPct val="95000"/>
              </a:lnSpc>
              <a:spcBef>
                <a:spcPts val="0"/>
              </a:spcBef>
              <a:spcAft>
                <a:spcPts val="400"/>
              </a:spcAft>
            </a:pPr>
            <a:r>
              <a:rPr sz="950" b="1" i="0">
                <a:solidFill>
                  <a:srgbClr val="00A86B"/>
                </a:solidFill>
                <a:latin typeface="Calibri"/>
              </a:rPr>
              <a:t>How:  </a:t>
            </a:r>
            <a:r>
              <a:rPr sz="950" b="0" i="0">
                <a:solidFill>
                  <a:srgbClr val="5B6B73"/>
                </a:solidFill>
                <a:latin typeface="Calibri"/>
              </a:rPr>
              <a:t>Streaks, push, community, challenges</a:t>
            </a:r>
          </a:p>
        </p:txBody>
      </p:sp>
      <p:sp>
        <p:nvSpPr>
          <p:cNvPr id="23" name="TextBox 22"/>
          <p:cNvSpPr txBox="1"/>
          <p:nvPr/>
        </p:nvSpPr>
        <p:spPr>
          <a:xfrm>
            <a:off x="7635240" y="3721608"/>
            <a:ext cx="4069080" cy="320040"/>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00A86B"/>
                </a:solidFill>
                <a:latin typeface="Calibri"/>
              </a:rPr>
              <a:t>Target:  </a:t>
            </a:r>
            <a:r>
              <a:rPr sz="950" b="1" i="0">
                <a:solidFill>
                  <a:srgbClr val="0B1F3A"/>
                </a:solidFill>
                <a:latin typeface="Calibri"/>
              </a:rPr>
              <a:t>D30 18% → 35%+</a:t>
            </a:r>
          </a:p>
        </p:txBody>
      </p:sp>
      <p:sp>
        <p:nvSpPr>
          <p:cNvPr id="24" name="Rounded Rectangle 23"/>
          <p:cNvSpPr/>
          <p:nvPr/>
        </p:nvSpPr>
        <p:spPr>
          <a:xfrm>
            <a:off x="2011680" y="4206240"/>
            <a:ext cx="3931920" cy="713232"/>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11680" y="4297680"/>
            <a:ext cx="3931920" cy="292608"/>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Calibri"/>
              </a:rPr>
              <a:t>REFERRAL</a:t>
            </a:r>
          </a:p>
        </p:txBody>
      </p:sp>
      <p:sp>
        <p:nvSpPr>
          <p:cNvPr id="26" name="TextBox 25"/>
          <p:cNvSpPr txBox="1"/>
          <p:nvPr/>
        </p:nvSpPr>
        <p:spPr>
          <a:xfrm>
            <a:off x="2011680" y="4599432"/>
            <a:ext cx="3931920" cy="274320"/>
          </a:xfrm>
          <a:prstGeom prst="rect">
            <a:avLst/>
          </a:prstGeom>
          <a:noFill/>
        </p:spPr>
        <p:txBody>
          <a:bodyPr wrap="square" anchor="t" lIns="0" rIns="0" tIns="0" bIns="0">
            <a:spAutoFit/>
          </a:bodyPr>
          <a:lstStyle/>
          <a:p>
            <a:pPr algn="ctr">
              <a:lnSpc>
                <a:spcPct val="100000"/>
              </a:lnSpc>
              <a:spcBef>
                <a:spcPts val="0"/>
              </a:spcBef>
              <a:spcAft>
                <a:spcPts val="400"/>
              </a:spcAft>
            </a:pPr>
            <a:r>
              <a:rPr sz="930" b="0" i="0">
                <a:solidFill>
                  <a:srgbClr val="FFFFFF"/>
                </a:solidFill>
                <a:latin typeface="Calibri"/>
              </a:rPr>
              <a:t>Turn savers into recruiters</a:t>
            </a:r>
          </a:p>
        </p:txBody>
      </p:sp>
      <p:sp>
        <p:nvSpPr>
          <p:cNvPr id="27" name="TextBox 26"/>
          <p:cNvSpPr txBox="1"/>
          <p:nvPr/>
        </p:nvSpPr>
        <p:spPr>
          <a:xfrm>
            <a:off x="7635240" y="4251960"/>
            <a:ext cx="4069080" cy="365760"/>
          </a:xfrm>
          <a:prstGeom prst="rect">
            <a:avLst/>
          </a:prstGeom>
          <a:noFill/>
        </p:spPr>
        <p:txBody>
          <a:bodyPr wrap="square" anchor="t" lIns="0" rIns="0" tIns="0" bIns="0">
            <a:spAutoFit/>
          </a:bodyPr>
          <a:lstStyle/>
          <a:p>
            <a:pPr algn="l">
              <a:lnSpc>
                <a:spcPct val="95000"/>
              </a:lnSpc>
              <a:spcBef>
                <a:spcPts val="0"/>
              </a:spcBef>
              <a:spcAft>
                <a:spcPts val="400"/>
              </a:spcAft>
            </a:pPr>
            <a:r>
              <a:rPr sz="950" b="1" i="0">
                <a:solidFill>
                  <a:srgbClr val="0B1F3A"/>
                </a:solidFill>
                <a:latin typeface="Calibri"/>
              </a:rPr>
              <a:t>How:  </a:t>
            </a:r>
            <a:r>
              <a:rPr sz="950" b="0" i="0">
                <a:solidFill>
                  <a:srgbClr val="5B6B73"/>
                </a:solidFill>
                <a:latin typeface="Calibri"/>
              </a:rPr>
              <a:t>Give ₦1k / Get ₦1k on first save</a:t>
            </a:r>
          </a:p>
        </p:txBody>
      </p:sp>
      <p:sp>
        <p:nvSpPr>
          <p:cNvPr id="28" name="TextBox 27"/>
          <p:cNvSpPr txBox="1"/>
          <p:nvPr/>
        </p:nvSpPr>
        <p:spPr>
          <a:xfrm>
            <a:off x="7635240" y="4590288"/>
            <a:ext cx="4069080" cy="320040"/>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0B1F3A"/>
                </a:solidFill>
                <a:latin typeface="Calibri"/>
              </a:rPr>
              <a:t>Target:  </a:t>
            </a:r>
            <a:r>
              <a:rPr sz="950" b="1" i="0">
                <a:solidFill>
                  <a:srgbClr val="0B1F3A"/>
                </a:solidFill>
                <a:latin typeface="Calibri"/>
              </a:rPr>
              <a:t>K-factor 0.3–0.5</a:t>
            </a:r>
          </a:p>
        </p:txBody>
      </p:sp>
      <p:sp>
        <p:nvSpPr>
          <p:cNvPr id="29" name="Rounded Rectangle 28"/>
          <p:cNvSpPr/>
          <p:nvPr/>
        </p:nvSpPr>
        <p:spPr>
          <a:xfrm>
            <a:off x="2423160" y="5074920"/>
            <a:ext cx="3108960" cy="713232"/>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23160" y="5166360"/>
            <a:ext cx="3108960" cy="292608"/>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FFFFFF"/>
                </a:solidFill>
                <a:latin typeface="Calibri"/>
              </a:rPr>
              <a:t>REVENUE</a:t>
            </a:r>
          </a:p>
        </p:txBody>
      </p:sp>
      <p:sp>
        <p:nvSpPr>
          <p:cNvPr id="31" name="TextBox 30"/>
          <p:cNvSpPr txBox="1"/>
          <p:nvPr/>
        </p:nvSpPr>
        <p:spPr>
          <a:xfrm>
            <a:off x="2423160" y="5468112"/>
            <a:ext cx="3108960" cy="274320"/>
          </a:xfrm>
          <a:prstGeom prst="rect">
            <a:avLst/>
          </a:prstGeom>
          <a:noFill/>
        </p:spPr>
        <p:txBody>
          <a:bodyPr wrap="square" anchor="t" lIns="0" rIns="0" tIns="0" bIns="0">
            <a:spAutoFit/>
          </a:bodyPr>
          <a:lstStyle/>
          <a:p>
            <a:pPr algn="ctr">
              <a:lnSpc>
                <a:spcPct val="100000"/>
              </a:lnSpc>
              <a:spcBef>
                <a:spcPts val="0"/>
              </a:spcBef>
              <a:spcAft>
                <a:spcPts val="400"/>
              </a:spcAft>
            </a:pPr>
            <a:r>
              <a:rPr sz="930" b="0" i="0">
                <a:solidFill>
                  <a:srgbClr val="FFFFFF"/>
                </a:solidFill>
                <a:latin typeface="Calibri"/>
              </a:rPr>
              <a:t>Sustainable unit economics</a:t>
            </a:r>
          </a:p>
        </p:txBody>
      </p:sp>
      <p:sp>
        <p:nvSpPr>
          <p:cNvPr id="32" name="TextBox 31"/>
          <p:cNvSpPr txBox="1"/>
          <p:nvPr/>
        </p:nvSpPr>
        <p:spPr>
          <a:xfrm>
            <a:off x="7635240" y="5120640"/>
            <a:ext cx="4069080" cy="365760"/>
          </a:xfrm>
          <a:prstGeom prst="rect">
            <a:avLst/>
          </a:prstGeom>
          <a:noFill/>
        </p:spPr>
        <p:txBody>
          <a:bodyPr wrap="square" anchor="t" lIns="0" rIns="0" tIns="0" bIns="0">
            <a:spAutoFit/>
          </a:bodyPr>
          <a:lstStyle/>
          <a:p>
            <a:pPr algn="l">
              <a:lnSpc>
                <a:spcPct val="95000"/>
              </a:lnSpc>
              <a:spcBef>
                <a:spcPts val="0"/>
              </a:spcBef>
              <a:spcAft>
                <a:spcPts val="400"/>
              </a:spcAft>
            </a:pPr>
            <a:r>
              <a:rPr sz="950" b="1" i="0">
                <a:solidFill>
                  <a:srgbClr val="00A86B"/>
                </a:solidFill>
                <a:latin typeface="Calibri"/>
              </a:rPr>
              <a:t>How:  </a:t>
            </a:r>
            <a:r>
              <a:rPr sz="950" b="0" i="0">
                <a:solidFill>
                  <a:srgbClr val="5B6B73"/>
                </a:solidFill>
                <a:latin typeface="Calibri"/>
              </a:rPr>
              <a:t>Advance fees + premium + float</a:t>
            </a:r>
          </a:p>
        </p:txBody>
      </p:sp>
      <p:sp>
        <p:nvSpPr>
          <p:cNvPr id="33" name="TextBox 32"/>
          <p:cNvSpPr txBox="1"/>
          <p:nvPr/>
        </p:nvSpPr>
        <p:spPr>
          <a:xfrm>
            <a:off x="7635240" y="5458968"/>
            <a:ext cx="4069080" cy="320040"/>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00A86B"/>
                </a:solidFill>
                <a:latin typeface="Calibri"/>
              </a:rPr>
              <a:t>Target:  </a:t>
            </a:r>
            <a:r>
              <a:rPr sz="950" b="1" i="0">
                <a:solidFill>
                  <a:srgbClr val="0B1F3A"/>
                </a:solidFill>
                <a:latin typeface="Calibri"/>
              </a:rPr>
              <a:t>LTV:CAC ≥ 3:1</a:t>
            </a:r>
          </a:p>
        </p:txBody>
      </p:sp>
      <p:sp>
        <p:nvSpPr>
          <p:cNvPr id="34" name="TextBox 33"/>
          <p:cNvSpPr txBox="1"/>
          <p:nvPr/>
        </p:nvSpPr>
        <p:spPr>
          <a:xfrm>
            <a:off x="640080" y="6080760"/>
            <a:ext cx="109728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A86B"/>
                </a:solidFill>
                <a:latin typeface="Calibri"/>
              </a:rPr>
              <a:t>Where the leverage is:  </a:t>
            </a:r>
            <a:r>
              <a:rPr sz="1150" b="0" i="0">
                <a:solidFill>
                  <a:srgbClr val="1A2A33"/>
                </a:solidFill>
                <a:latin typeface="Calibri"/>
              </a:rPr>
              <a:t>the funnel is widest at Acquisition but breaks at Activation &amp; Retention. Fixing the middle is worth more than widening the top.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C6 · POSITIONING &amp; MESSAGING</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Positioning &amp; Messaging Architecture</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18</a:t>
            </a:r>
          </a:p>
        </p:txBody>
      </p:sp>
      <p:sp>
        <p:nvSpPr>
          <p:cNvPr id="9" name="Rounded Rectangle 8"/>
          <p:cNvSpPr/>
          <p:nvPr/>
        </p:nvSpPr>
        <p:spPr>
          <a:xfrm>
            <a:off x="640080" y="1417320"/>
            <a:ext cx="10972800" cy="12344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36192"/>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POSITIONING STATEMENT</a:t>
            </a:r>
          </a:p>
        </p:txBody>
      </p:sp>
      <p:sp>
        <p:nvSpPr>
          <p:cNvPr id="11" name="TextBox 10"/>
          <p:cNvSpPr txBox="1"/>
          <p:nvPr/>
        </p:nvSpPr>
        <p:spPr>
          <a:xfrm>
            <a:off x="868680" y="1828800"/>
            <a:ext cx="10515600" cy="777240"/>
          </a:xfrm>
          <a:prstGeom prst="rect">
            <a:avLst/>
          </a:prstGeom>
          <a:noFill/>
        </p:spPr>
        <p:txBody>
          <a:bodyPr wrap="square" anchor="t" lIns="0" rIns="0" tIns="0" bIns="0">
            <a:spAutoFit/>
          </a:bodyPr>
          <a:lstStyle/>
          <a:p>
            <a:pPr algn="l">
              <a:lnSpc>
                <a:spcPct val="103000"/>
              </a:lnSpc>
              <a:spcBef>
                <a:spcPts val="0"/>
              </a:spcBef>
              <a:spcAft>
                <a:spcPts val="400"/>
              </a:spcAft>
            </a:pPr>
            <a:r>
              <a:rPr sz="1450" b="0" i="0">
                <a:solidFill>
                  <a:srgbClr val="FFFFFF"/>
                </a:solidFill>
                <a:latin typeface="Calibri"/>
              </a:rPr>
              <a:t>For </a:t>
            </a:r>
            <a:r>
              <a:rPr sz="1450" b="1" i="0">
                <a:solidFill>
                  <a:srgbClr val="5FD3A3"/>
                </a:solidFill>
                <a:latin typeface="Calibri"/>
              </a:rPr>
              <a:t>ambitious young Nigerians</a:t>
            </a:r>
            <a:r>
              <a:rPr sz="1450" b="0" i="0">
                <a:solidFill>
                  <a:srgbClr val="FFFFFF"/>
                </a:solidFill>
                <a:latin typeface="Calibri"/>
              </a:rPr>
              <a:t> with irregular income, </a:t>
            </a:r>
            <a:r>
              <a:rPr sz="1450" b="1" i="0">
                <a:solidFill>
                  <a:srgbClr val="5FD3A3"/>
                </a:solidFill>
                <a:latin typeface="Calibri"/>
              </a:rPr>
              <a:t>Moni</a:t>
            </a:r>
            <a:r>
              <a:rPr sz="1450" b="0" i="0">
                <a:solidFill>
                  <a:srgbClr val="FFFFFF"/>
                </a:solidFill>
                <a:latin typeface="Calibri"/>
              </a:rPr>
              <a:t> is the everyday money companion that automatically saves, tracks, reminds and rescues — so that </a:t>
            </a:r>
            <a:r>
              <a:rPr sz="1450" b="1" i="0">
                <a:solidFill>
                  <a:srgbClr val="5FD3A3"/>
                </a:solidFill>
                <a:latin typeface="Calibri"/>
              </a:rPr>
              <a:t>unlike single-purpose savings or payment apps</a:t>
            </a:r>
            <a:r>
              <a:rPr sz="1450" b="0" i="0">
                <a:solidFill>
                  <a:srgbClr val="FFFFFF"/>
                </a:solidFill>
                <a:latin typeface="Calibri"/>
              </a:rPr>
              <a:t>, money anxiety never gets in the way of ambition.</a:t>
            </a:r>
          </a:p>
        </p:txBody>
      </p:sp>
      <p:sp>
        <p:nvSpPr>
          <p:cNvPr id="12" name="Rounded Rectangle 11"/>
          <p:cNvSpPr/>
          <p:nvPr/>
        </p:nvSpPr>
        <p:spPr>
          <a:xfrm>
            <a:off x="640080" y="2788920"/>
            <a:ext cx="5349240" cy="1005840"/>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889504"/>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B1F3A"/>
                </a:solidFill>
                <a:latin typeface="Calibri"/>
              </a:rPr>
              <a:t>CAMPAIGN TAGLINE</a:t>
            </a:r>
          </a:p>
        </p:txBody>
      </p:sp>
      <p:sp>
        <p:nvSpPr>
          <p:cNvPr id="14" name="TextBox 13"/>
          <p:cNvSpPr txBox="1"/>
          <p:nvPr/>
        </p:nvSpPr>
        <p:spPr>
          <a:xfrm>
            <a:off x="868680" y="3154680"/>
            <a:ext cx="4937760" cy="594360"/>
          </a:xfrm>
          <a:prstGeom prst="rect">
            <a:avLst/>
          </a:prstGeom>
          <a:noFill/>
        </p:spPr>
        <p:txBody>
          <a:bodyPr wrap="square" anchor="t" lIns="0" rIns="0" tIns="0" bIns="0">
            <a:spAutoFit/>
          </a:bodyPr>
          <a:lstStyle/>
          <a:p>
            <a:pPr algn="l">
              <a:lnSpc>
                <a:spcPct val="100000"/>
              </a:lnSpc>
              <a:spcBef>
                <a:spcPts val="0"/>
              </a:spcBef>
              <a:spcAft>
                <a:spcPts val="400"/>
              </a:spcAft>
            </a:pPr>
            <a:r>
              <a:rPr sz="2300" b="1" i="0">
                <a:solidFill>
                  <a:srgbClr val="FFFFFF"/>
                </a:solidFill>
                <a:latin typeface="Calibri"/>
              </a:rPr>
              <a:t>“Moni Don Set You.”</a:t>
            </a:r>
          </a:p>
        </p:txBody>
      </p:sp>
      <p:sp>
        <p:nvSpPr>
          <p:cNvPr id="15" name="TextBox 14"/>
          <p:cNvSpPr txBox="1"/>
          <p:nvPr/>
        </p:nvSpPr>
        <p:spPr>
          <a:xfrm>
            <a:off x="868680" y="3675887"/>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1">
                <a:solidFill>
                  <a:srgbClr val="0B1F3A"/>
                </a:solidFill>
                <a:latin typeface="Calibri"/>
              </a:rPr>
              <a:t>(Naija for: Moni has you sorted / set up)</a:t>
            </a:r>
          </a:p>
        </p:txBody>
      </p:sp>
      <p:sp>
        <p:nvSpPr>
          <p:cNvPr id="16" name="Rounded Rectangle 15"/>
          <p:cNvSpPr/>
          <p:nvPr/>
        </p:nvSpPr>
        <p:spPr>
          <a:xfrm>
            <a:off x="6172200" y="2788920"/>
            <a:ext cx="5394960" cy="1005840"/>
          </a:xfrm>
          <a:prstGeom prst="roundRect">
            <a:avLst>
              <a:gd name="adj" fmla="val 6000"/>
            </a:avLst>
          </a:prstGeom>
          <a:solidFill>
            <a:srgbClr val="E3F6ED"/>
          </a:solidFill>
          <a:ln w="12700">
            <a:solidFill>
              <a:srgbClr val="5FD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889504"/>
            <a:ext cx="502920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0A86B"/>
                </a:solidFill>
                <a:latin typeface="Calibri"/>
              </a:rPr>
              <a:t>EMOTIONAL ANGLE</a:t>
            </a:r>
          </a:p>
        </p:txBody>
      </p:sp>
      <p:sp>
        <p:nvSpPr>
          <p:cNvPr id="18" name="TextBox 17"/>
          <p:cNvSpPr txBox="1"/>
          <p:nvPr/>
        </p:nvSpPr>
        <p:spPr>
          <a:xfrm>
            <a:off x="6355080" y="3154680"/>
            <a:ext cx="5029200" cy="5486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B1F3A"/>
                </a:solidFill>
                <a:latin typeface="Calibri"/>
              </a:rPr>
              <a:t>“From broke before month-end to one step ahead.” Dignity, calm and confidence over money.</a:t>
            </a:r>
          </a:p>
        </p:txBody>
      </p:sp>
      <p:sp>
        <p:nvSpPr>
          <p:cNvPr id="19" name="TextBox 18"/>
          <p:cNvSpPr txBox="1"/>
          <p:nvPr/>
        </p:nvSpPr>
        <p:spPr>
          <a:xfrm>
            <a:off x="640080" y="4023360"/>
            <a:ext cx="1097280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B1F3A"/>
                </a:solidFill>
                <a:latin typeface="Calibri"/>
              </a:rPr>
              <a:t>CORE MESSAGING PILLARS</a:t>
            </a:r>
          </a:p>
        </p:txBody>
      </p:sp>
      <p:sp>
        <p:nvSpPr>
          <p:cNvPr id="20" name="Rounded Rectangle 19"/>
          <p:cNvSpPr/>
          <p:nvPr/>
        </p:nvSpPr>
        <p:spPr>
          <a:xfrm>
            <a:off x="640080" y="4389120"/>
            <a:ext cx="2670048" cy="11430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4389120"/>
            <a:ext cx="2670048" cy="82296"/>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1" y="4526280"/>
            <a:ext cx="23774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0A86B"/>
                </a:solidFill>
                <a:latin typeface="Calibri"/>
              </a:rPr>
              <a:t>Automatic</a:t>
            </a:r>
          </a:p>
        </p:txBody>
      </p:sp>
      <p:sp>
        <p:nvSpPr>
          <p:cNvPr id="23" name="TextBox 22"/>
          <p:cNvSpPr txBox="1"/>
          <p:nvPr/>
        </p:nvSpPr>
        <p:spPr>
          <a:xfrm>
            <a:off x="804671" y="4892040"/>
            <a:ext cx="2377440" cy="594360"/>
          </a:xfrm>
          <a:prstGeom prst="rect">
            <a:avLst/>
          </a:prstGeom>
          <a:noFill/>
        </p:spPr>
        <p:txBody>
          <a:bodyPr wrap="square" anchor="t" lIns="0" rIns="0" tIns="0" bIns="0">
            <a:spAutoFit/>
          </a:bodyPr>
          <a:lstStyle/>
          <a:p>
            <a:pPr algn="l">
              <a:lnSpc>
                <a:spcPct val="100000"/>
              </a:lnSpc>
              <a:spcBef>
                <a:spcPts val="0"/>
              </a:spcBef>
              <a:spcAft>
                <a:spcPts val="400"/>
              </a:spcAft>
            </a:pPr>
            <a:r>
              <a:rPr sz="1019" b="0" i="0">
                <a:solidFill>
                  <a:srgbClr val="5B6B73"/>
                </a:solidFill>
                <a:latin typeface="Calibri"/>
              </a:rPr>
              <a:t>It saves &amp; reminds for you — discipline without willpower.</a:t>
            </a:r>
          </a:p>
        </p:txBody>
      </p:sp>
      <p:sp>
        <p:nvSpPr>
          <p:cNvPr id="24" name="Rounded Rectangle 23"/>
          <p:cNvSpPr/>
          <p:nvPr/>
        </p:nvSpPr>
        <p:spPr>
          <a:xfrm>
            <a:off x="3429000" y="4389120"/>
            <a:ext cx="2670048" cy="11430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29000" y="4389120"/>
            <a:ext cx="2670048" cy="82296"/>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93592" y="4526280"/>
            <a:ext cx="23774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B1F3A"/>
                </a:solidFill>
                <a:latin typeface="Calibri"/>
              </a:rPr>
              <a:t>Trustworthy</a:t>
            </a:r>
          </a:p>
        </p:txBody>
      </p:sp>
      <p:sp>
        <p:nvSpPr>
          <p:cNvPr id="27" name="TextBox 26"/>
          <p:cNvSpPr txBox="1"/>
          <p:nvPr/>
        </p:nvSpPr>
        <p:spPr>
          <a:xfrm>
            <a:off x="3593592" y="4892040"/>
            <a:ext cx="2377440" cy="594360"/>
          </a:xfrm>
          <a:prstGeom prst="rect">
            <a:avLst/>
          </a:prstGeom>
          <a:noFill/>
        </p:spPr>
        <p:txBody>
          <a:bodyPr wrap="square" anchor="t" lIns="0" rIns="0" tIns="0" bIns="0">
            <a:spAutoFit/>
          </a:bodyPr>
          <a:lstStyle/>
          <a:p>
            <a:pPr algn="l">
              <a:lnSpc>
                <a:spcPct val="100000"/>
              </a:lnSpc>
              <a:spcBef>
                <a:spcPts val="0"/>
              </a:spcBef>
              <a:spcAft>
                <a:spcPts val="400"/>
              </a:spcAft>
            </a:pPr>
            <a:r>
              <a:rPr sz="1019" b="0" i="0">
                <a:solidFill>
                  <a:srgbClr val="5B6B73"/>
                </a:solidFill>
                <a:latin typeface="Calibri"/>
              </a:rPr>
              <a:t>Transparent fees, insured partner, no wahala, no hidden charges.</a:t>
            </a:r>
          </a:p>
        </p:txBody>
      </p:sp>
      <p:sp>
        <p:nvSpPr>
          <p:cNvPr id="28" name="Rounded Rectangle 27"/>
          <p:cNvSpPr/>
          <p:nvPr/>
        </p:nvSpPr>
        <p:spPr>
          <a:xfrm>
            <a:off x="6217920" y="4389120"/>
            <a:ext cx="2670048" cy="11430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4389120"/>
            <a:ext cx="2670048" cy="82296"/>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2512" y="4526280"/>
            <a:ext cx="23774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0A86B"/>
                </a:solidFill>
                <a:latin typeface="Calibri"/>
              </a:rPr>
              <a:t>For your reality</a:t>
            </a:r>
          </a:p>
        </p:txBody>
      </p:sp>
      <p:sp>
        <p:nvSpPr>
          <p:cNvPr id="31" name="TextBox 30"/>
          <p:cNvSpPr txBox="1"/>
          <p:nvPr/>
        </p:nvSpPr>
        <p:spPr>
          <a:xfrm>
            <a:off x="6382512" y="4892040"/>
            <a:ext cx="2377440" cy="594360"/>
          </a:xfrm>
          <a:prstGeom prst="rect">
            <a:avLst/>
          </a:prstGeom>
          <a:noFill/>
        </p:spPr>
        <p:txBody>
          <a:bodyPr wrap="square" anchor="t" lIns="0" rIns="0" tIns="0" bIns="0">
            <a:spAutoFit/>
          </a:bodyPr>
          <a:lstStyle/>
          <a:p>
            <a:pPr algn="l">
              <a:lnSpc>
                <a:spcPct val="100000"/>
              </a:lnSpc>
              <a:spcBef>
                <a:spcPts val="0"/>
              </a:spcBef>
              <a:spcAft>
                <a:spcPts val="400"/>
              </a:spcAft>
            </a:pPr>
            <a:r>
              <a:rPr sz="1019" b="0" i="0">
                <a:solidFill>
                  <a:srgbClr val="5B6B73"/>
                </a:solidFill>
                <a:latin typeface="Calibri"/>
              </a:rPr>
              <a:t>Built for irregular income — students, NYSC, hustlers.</a:t>
            </a:r>
          </a:p>
        </p:txBody>
      </p:sp>
      <p:sp>
        <p:nvSpPr>
          <p:cNvPr id="32" name="Rounded Rectangle 31"/>
          <p:cNvSpPr/>
          <p:nvPr/>
        </p:nvSpPr>
        <p:spPr>
          <a:xfrm>
            <a:off x="9006840" y="4389120"/>
            <a:ext cx="2670048" cy="11430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06840" y="4389120"/>
            <a:ext cx="2670048" cy="82296"/>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71432" y="4526280"/>
            <a:ext cx="23774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B1F3A"/>
                </a:solidFill>
                <a:latin typeface="Calibri"/>
              </a:rPr>
              <a:t>Rewarding</a:t>
            </a:r>
          </a:p>
        </p:txBody>
      </p:sp>
      <p:sp>
        <p:nvSpPr>
          <p:cNvPr id="35" name="TextBox 34"/>
          <p:cNvSpPr txBox="1"/>
          <p:nvPr/>
        </p:nvSpPr>
        <p:spPr>
          <a:xfrm>
            <a:off x="9171432" y="4892040"/>
            <a:ext cx="2377440" cy="594360"/>
          </a:xfrm>
          <a:prstGeom prst="rect">
            <a:avLst/>
          </a:prstGeom>
          <a:noFill/>
        </p:spPr>
        <p:txBody>
          <a:bodyPr wrap="square" anchor="t" lIns="0" rIns="0" tIns="0" bIns="0">
            <a:spAutoFit/>
          </a:bodyPr>
          <a:lstStyle/>
          <a:p>
            <a:pPr algn="l">
              <a:lnSpc>
                <a:spcPct val="100000"/>
              </a:lnSpc>
              <a:spcBef>
                <a:spcPts val="0"/>
              </a:spcBef>
              <a:spcAft>
                <a:spcPts val="400"/>
              </a:spcAft>
            </a:pPr>
            <a:r>
              <a:rPr sz="1019" b="0" i="0">
                <a:solidFill>
                  <a:srgbClr val="5B6B73"/>
                </a:solidFill>
                <a:latin typeface="Calibri"/>
              </a:rPr>
              <a:t>Challenges, streaks &amp; referrals make progress feel good.</a:t>
            </a:r>
          </a:p>
        </p:txBody>
      </p:sp>
      <p:sp>
        <p:nvSpPr>
          <p:cNvPr id="36" name="Rounded Rectangle 35"/>
          <p:cNvSpPr/>
          <p:nvPr/>
        </p:nvSpPr>
        <p:spPr>
          <a:xfrm>
            <a:off x="640080" y="5669280"/>
            <a:ext cx="10972800" cy="566928"/>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5760720"/>
            <a:ext cx="10607040" cy="41148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TRUST-BUILDING ANGLE:  </a:t>
            </a:r>
            <a:r>
              <a:rPr sz="1150" b="0" i="0">
                <a:solidFill>
                  <a:srgbClr val="FFFFFF"/>
                </a:solidFill>
                <a:latin typeface="Calibri"/>
              </a:rPr>
              <a:t>“Your money is insured and your fees are written in plain language — see every kobo before you tap.”  Real users, real receipts, real support.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C7 · CREATIVE CAMPAIGN</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Launch Campaign:  #MoniChallenge</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19</a:t>
            </a:r>
          </a:p>
        </p:txBody>
      </p:sp>
      <p:sp>
        <p:nvSpPr>
          <p:cNvPr id="9" name="Rounded Rectangle 8"/>
          <p:cNvSpPr/>
          <p:nvPr/>
        </p:nvSpPr>
        <p:spPr>
          <a:xfrm>
            <a:off x="640080" y="1417320"/>
            <a:ext cx="10972800" cy="1280160"/>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54480"/>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B1F3A"/>
                </a:solidFill>
                <a:latin typeface="Calibri"/>
              </a:rPr>
              <a:t>THE BIG IDEA</a:t>
            </a:r>
          </a:p>
        </p:txBody>
      </p:sp>
      <p:sp>
        <p:nvSpPr>
          <p:cNvPr id="11" name="TextBox 10"/>
          <p:cNvSpPr txBox="1"/>
          <p:nvPr/>
        </p:nvSpPr>
        <p:spPr>
          <a:xfrm>
            <a:off x="868680" y="1874519"/>
            <a:ext cx="10515600" cy="822960"/>
          </a:xfrm>
          <a:prstGeom prst="rect">
            <a:avLst/>
          </a:prstGeom>
          <a:noFill/>
        </p:spPr>
        <p:txBody>
          <a:bodyPr wrap="square" anchor="t" lIns="0" rIns="0" tIns="0" bIns="0">
            <a:spAutoFit/>
          </a:bodyPr>
          <a:lstStyle/>
          <a:p>
            <a:pPr algn="l">
              <a:lnSpc>
                <a:spcPct val="103000"/>
              </a:lnSpc>
              <a:spcBef>
                <a:spcPts val="0"/>
              </a:spcBef>
              <a:spcAft>
                <a:spcPts val="400"/>
              </a:spcAft>
            </a:pPr>
            <a:r>
              <a:rPr sz="1600" b="1" i="0">
                <a:solidFill>
                  <a:srgbClr val="FFFFFF"/>
                </a:solidFill>
                <a:latin typeface="Calibri"/>
              </a:rPr>
              <a:t>“From Broke to Set in 30 Days.”  </a:t>
            </a:r>
            <a:r>
              <a:rPr sz="1400" b="0" i="0">
                <a:solidFill>
                  <a:srgbClr val="FFFFFF"/>
                </a:solidFill>
                <a:latin typeface="Calibri"/>
              </a:rPr>
              <a:t>A public 30-day savings challenge where young Nigerians post their Day 1 vs Day 30 'Moni glow-up' — turning a private money struggle into a shared, gamified win with bragging rights, streaks and prizes.</a:t>
            </a:r>
          </a:p>
        </p:txBody>
      </p:sp>
      <p:sp>
        <p:nvSpPr>
          <p:cNvPr id="12" name="Rounded Rectangle 11"/>
          <p:cNvSpPr/>
          <p:nvPr/>
        </p:nvSpPr>
        <p:spPr>
          <a:xfrm>
            <a:off x="640080" y="2834640"/>
            <a:ext cx="5349240" cy="146304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2953512"/>
            <a:ext cx="502920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A86B"/>
                </a:solidFill>
                <a:latin typeface="Calibri"/>
              </a:rPr>
              <a:t>📱 SOCIAL EXECUTION</a:t>
            </a:r>
          </a:p>
        </p:txBody>
      </p:sp>
      <p:sp>
        <p:nvSpPr>
          <p:cNvPr id="14" name="TextBox 13"/>
          <p:cNvSpPr txBox="1"/>
          <p:nvPr/>
        </p:nvSpPr>
        <p:spPr>
          <a:xfrm>
            <a:off x="868680" y="3310128"/>
            <a:ext cx="4937760" cy="914400"/>
          </a:xfrm>
          <a:prstGeom prst="rect">
            <a:avLst/>
          </a:prstGeom>
          <a:noFill/>
        </p:spPr>
        <p:txBody>
          <a:bodyPr wrap="square" lIns="0" rIns="0" tIns="0" bIns="0">
            <a:spAutoFit/>
          </a:bodyPr>
          <a:lstStyle/>
          <a:p>
            <a:pPr>
              <a:lnSpc>
                <a:spcPct val="98000"/>
              </a:lnSpc>
              <a:spcAft>
                <a:spcPts val="200"/>
              </a:spcAft>
            </a:pPr>
            <a:r>
              <a:rPr sz="960" b="1">
                <a:solidFill>
                  <a:srgbClr val="00A86B"/>
                </a:solidFill>
                <a:latin typeface="Calibri"/>
              </a:rPr>
              <a:t>▸  </a:t>
            </a:r>
            <a:r>
              <a:rPr sz="960">
                <a:solidFill>
                  <a:srgbClr val="1A2A33"/>
                </a:solidFill>
                <a:latin typeface="Calibri"/>
              </a:rPr>
              <a:t>TikTok/Reels 'Day 1 vs Day 30' transformation trend</a:t>
            </a:r>
          </a:p>
          <a:p>
            <a:pPr>
              <a:lnSpc>
                <a:spcPct val="98000"/>
              </a:lnSpc>
              <a:spcAft>
                <a:spcPts val="200"/>
              </a:spcAft>
            </a:pPr>
            <a:r>
              <a:rPr sz="960" b="1">
                <a:solidFill>
                  <a:srgbClr val="00A86B"/>
                </a:solidFill>
                <a:latin typeface="Calibri"/>
              </a:rPr>
              <a:t>▸  </a:t>
            </a:r>
            <a:r>
              <a:rPr sz="960">
                <a:solidFill>
                  <a:srgbClr val="1A2A33"/>
                </a:solidFill>
                <a:latin typeface="Calibri"/>
              </a:rPr>
              <a:t>Original sound + on-screen savings counter</a:t>
            </a:r>
          </a:p>
          <a:p>
            <a:pPr>
              <a:lnSpc>
                <a:spcPct val="98000"/>
              </a:lnSpc>
              <a:spcAft>
                <a:spcPts val="200"/>
              </a:spcAft>
            </a:pPr>
            <a:r>
              <a:rPr sz="960" b="1">
                <a:solidFill>
                  <a:srgbClr val="00A86B"/>
                </a:solidFill>
                <a:latin typeface="Calibri"/>
              </a:rPr>
              <a:t>▸  </a:t>
            </a:r>
            <a:r>
              <a:rPr sz="960">
                <a:solidFill>
                  <a:srgbClr val="1A2A33"/>
                </a:solidFill>
                <a:latin typeface="Calibri"/>
              </a:rPr>
              <a:t>X threads: 'How I saved ₦50k on stipend' stories</a:t>
            </a:r>
          </a:p>
          <a:p>
            <a:pPr>
              <a:lnSpc>
                <a:spcPct val="98000"/>
              </a:lnSpc>
              <a:spcAft>
                <a:spcPts val="200"/>
              </a:spcAft>
            </a:pPr>
            <a:r>
              <a:rPr sz="960" b="1">
                <a:solidFill>
                  <a:srgbClr val="00A86B"/>
                </a:solidFill>
                <a:latin typeface="Calibri"/>
              </a:rPr>
              <a:t>▸  </a:t>
            </a:r>
            <a:r>
              <a:rPr sz="960">
                <a:solidFill>
                  <a:srgbClr val="1A2A33"/>
                </a:solidFill>
                <a:latin typeface="Calibri"/>
              </a:rPr>
              <a:t>Weekly leaderboard &amp; badge reveals</a:t>
            </a:r>
          </a:p>
        </p:txBody>
      </p:sp>
      <p:sp>
        <p:nvSpPr>
          <p:cNvPr id="15" name="Rounded Rectangle 14"/>
          <p:cNvSpPr/>
          <p:nvPr/>
        </p:nvSpPr>
        <p:spPr>
          <a:xfrm>
            <a:off x="6172200" y="2834640"/>
            <a:ext cx="5349240" cy="146304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2953512"/>
            <a:ext cx="502920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B1F3A"/>
                </a:solidFill>
                <a:latin typeface="Calibri"/>
              </a:rPr>
              <a:t>⭐ INFLUENCERS</a:t>
            </a:r>
          </a:p>
        </p:txBody>
      </p:sp>
      <p:sp>
        <p:nvSpPr>
          <p:cNvPr id="17" name="TextBox 16"/>
          <p:cNvSpPr txBox="1"/>
          <p:nvPr/>
        </p:nvSpPr>
        <p:spPr>
          <a:xfrm>
            <a:off x="6400800" y="3310128"/>
            <a:ext cx="4937760" cy="914400"/>
          </a:xfrm>
          <a:prstGeom prst="rect">
            <a:avLst/>
          </a:prstGeom>
          <a:noFill/>
        </p:spPr>
        <p:txBody>
          <a:bodyPr wrap="square" lIns="0" rIns="0" tIns="0" bIns="0">
            <a:spAutoFit/>
          </a:bodyPr>
          <a:lstStyle/>
          <a:p>
            <a:pPr>
              <a:lnSpc>
                <a:spcPct val="98000"/>
              </a:lnSpc>
              <a:spcAft>
                <a:spcPts val="200"/>
              </a:spcAft>
            </a:pPr>
            <a:r>
              <a:rPr sz="960" b="1">
                <a:solidFill>
                  <a:srgbClr val="0B1F3A"/>
                </a:solidFill>
                <a:latin typeface="Calibri"/>
              </a:rPr>
              <a:t>▸  </a:t>
            </a:r>
            <a:r>
              <a:rPr sz="960">
                <a:solidFill>
                  <a:srgbClr val="1A2A33"/>
                </a:solidFill>
                <a:latin typeface="Calibri"/>
              </a:rPr>
              <a:t>3–4 mid-tier creators (finance/comedy/campus, 50k–300k)</a:t>
            </a:r>
          </a:p>
          <a:p>
            <a:pPr>
              <a:lnSpc>
                <a:spcPct val="98000"/>
              </a:lnSpc>
              <a:spcAft>
                <a:spcPts val="200"/>
              </a:spcAft>
            </a:pPr>
            <a:r>
              <a:rPr sz="960" b="1">
                <a:solidFill>
                  <a:srgbClr val="0B1F3A"/>
                </a:solidFill>
                <a:latin typeface="Calibri"/>
              </a:rPr>
              <a:t>▸  </a:t>
            </a:r>
            <a:r>
              <a:rPr sz="960">
                <a:solidFill>
                  <a:srgbClr val="1A2A33"/>
                </a:solidFill>
                <a:latin typeface="Calibri"/>
              </a:rPr>
              <a:t>20–30 nano campus creators (₦ + free premium)</a:t>
            </a:r>
          </a:p>
          <a:p>
            <a:pPr>
              <a:lnSpc>
                <a:spcPct val="98000"/>
              </a:lnSpc>
              <a:spcAft>
                <a:spcPts val="200"/>
              </a:spcAft>
            </a:pPr>
            <a:r>
              <a:rPr sz="960" b="1">
                <a:solidFill>
                  <a:srgbClr val="0B1F3A"/>
                </a:solidFill>
                <a:latin typeface="Calibri"/>
              </a:rPr>
              <a:t>▸  </a:t>
            </a:r>
            <a:r>
              <a:rPr sz="960">
                <a:solidFill>
                  <a:srgbClr val="1A2A33"/>
                </a:solidFill>
                <a:latin typeface="Calibri"/>
              </a:rPr>
              <a:t>Authentic 'I tried Moni for 30 days' content, not ads</a:t>
            </a:r>
          </a:p>
          <a:p>
            <a:pPr>
              <a:lnSpc>
                <a:spcPct val="98000"/>
              </a:lnSpc>
              <a:spcAft>
                <a:spcPts val="200"/>
              </a:spcAft>
            </a:pPr>
            <a:r>
              <a:rPr sz="960" b="1">
                <a:solidFill>
                  <a:srgbClr val="0B1F3A"/>
                </a:solidFill>
                <a:latin typeface="Calibri"/>
              </a:rPr>
              <a:t>▸  </a:t>
            </a:r>
            <a:r>
              <a:rPr sz="960">
                <a:solidFill>
                  <a:srgbClr val="1A2A33"/>
                </a:solidFill>
                <a:latin typeface="Calibri"/>
              </a:rPr>
              <a:t>Skit-makers for relatable 'broke before month-end' humour</a:t>
            </a:r>
          </a:p>
        </p:txBody>
      </p:sp>
      <p:sp>
        <p:nvSpPr>
          <p:cNvPr id="18" name="Rounded Rectangle 17"/>
          <p:cNvSpPr/>
          <p:nvPr/>
        </p:nvSpPr>
        <p:spPr>
          <a:xfrm>
            <a:off x="640080" y="4462272"/>
            <a:ext cx="5349240" cy="146304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581144"/>
            <a:ext cx="502920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A86B"/>
                </a:solidFill>
                <a:latin typeface="Calibri"/>
              </a:rPr>
              <a:t>🎓 CAMPUS ACTIVATION</a:t>
            </a:r>
          </a:p>
        </p:txBody>
      </p:sp>
      <p:sp>
        <p:nvSpPr>
          <p:cNvPr id="20" name="TextBox 19"/>
          <p:cNvSpPr txBox="1"/>
          <p:nvPr/>
        </p:nvSpPr>
        <p:spPr>
          <a:xfrm>
            <a:off x="868680" y="4937760"/>
            <a:ext cx="4937760" cy="914400"/>
          </a:xfrm>
          <a:prstGeom prst="rect">
            <a:avLst/>
          </a:prstGeom>
          <a:noFill/>
        </p:spPr>
        <p:txBody>
          <a:bodyPr wrap="square" lIns="0" rIns="0" tIns="0" bIns="0">
            <a:spAutoFit/>
          </a:bodyPr>
          <a:lstStyle/>
          <a:p>
            <a:pPr>
              <a:lnSpc>
                <a:spcPct val="98000"/>
              </a:lnSpc>
              <a:spcAft>
                <a:spcPts val="200"/>
              </a:spcAft>
            </a:pPr>
            <a:r>
              <a:rPr sz="960" b="1">
                <a:solidFill>
                  <a:srgbClr val="00A86B"/>
                </a:solidFill>
                <a:latin typeface="Calibri"/>
              </a:rPr>
              <a:t>▸  </a:t>
            </a:r>
            <a:r>
              <a:rPr sz="960">
                <a:solidFill>
                  <a:srgbClr val="1A2A33"/>
                </a:solidFill>
                <a:latin typeface="Calibri"/>
              </a:rPr>
              <a:t>'Moni on Campus' pop-ups at UNILAG, UI, UNIBEN</a:t>
            </a:r>
          </a:p>
          <a:p>
            <a:pPr>
              <a:lnSpc>
                <a:spcPct val="98000"/>
              </a:lnSpc>
              <a:spcAft>
                <a:spcPts val="200"/>
              </a:spcAft>
            </a:pPr>
            <a:r>
              <a:rPr sz="960" b="1">
                <a:solidFill>
                  <a:srgbClr val="00A86B"/>
                </a:solidFill>
                <a:latin typeface="Calibri"/>
              </a:rPr>
              <a:t>▸  </a:t>
            </a:r>
            <a:r>
              <a:rPr sz="960">
                <a:solidFill>
                  <a:srgbClr val="1A2A33"/>
                </a:solidFill>
                <a:latin typeface="Calibri"/>
              </a:rPr>
              <a:t>Live sign-up + instant ₦500 save bonus</a:t>
            </a:r>
          </a:p>
          <a:p>
            <a:pPr>
              <a:lnSpc>
                <a:spcPct val="98000"/>
              </a:lnSpc>
              <a:spcAft>
                <a:spcPts val="200"/>
              </a:spcAft>
            </a:pPr>
            <a:r>
              <a:rPr sz="960" b="1">
                <a:solidFill>
                  <a:srgbClr val="00A86B"/>
                </a:solidFill>
                <a:latin typeface="Calibri"/>
              </a:rPr>
              <a:t>▸  </a:t>
            </a:r>
            <a:r>
              <a:rPr sz="960">
                <a:solidFill>
                  <a:srgbClr val="1A2A33"/>
                </a:solidFill>
                <a:latin typeface="Calibri"/>
              </a:rPr>
              <a:t>Brand ambassadors run hostel challenges</a:t>
            </a:r>
          </a:p>
          <a:p>
            <a:pPr>
              <a:lnSpc>
                <a:spcPct val="98000"/>
              </a:lnSpc>
              <a:spcAft>
                <a:spcPts val="200"/>
              </a:spcAft>
            </a:pPr>
            <a:r>
              <a:rPr sz="960" b="1">
                <a:solidFill>
                  <a:srgbClr val="00A86B"/>
                </a:solidFill>
                <a:latin typeface="Calibri"/>
              </a:rPr>
              <a:t>▸  </a:t>
            </a:r>
            <a:r>
              <a:rPr sz="960">
                <a:solidFill>
                  <a:srgbClr val="1A2A33"/>
                </a:solidFill>
                <a:latin typeface="Calibri"/>
              </a:rPr>
              <a:t>Class-vs-class &amp; faculty savings leaderboards</a:t>
            </a:r>
          </a:p>
        </p:txBody>
      </p:sp>
      <p:sp>
        <p:nvSpPr>
          <p:cNvPr id="21" name="Rounded Rectangle 20"/>
          <p:cNvSpPr/>
          <p:nvPr/>
        </p:nvSpPr>
        <p:spPr>
          <a:xfrm>
            <a:off x="6172200" y="4462272"/>
            <a:ext cx="5349240" cy="146304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581144"/>
            <a:ext cx="502920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B1F3A"/>
                </a:solidFill>
                <a:latin typeface="Calibri"/>
              </a:rPr>
              <a:t>🔁 REFERRAL &amp; OFFLINE</a:t>
            </a:r>
          </a:p>
        </p:txBody>
      </p:sp>
      <p:sp>
        <p:nvSpPr>
          <p:cNvPr id="23" name="TextBox 22"/>
          <p:cNvSpPr txBox="1"/>
          <p:nvPr/>
        </p:nvSpPr>
        <p:spPr>
          <a:xfrm>
            <a:off x="6400800" y="4937760"/>
            <a:ext cx="4937760" cy="914400"/>
          </a:xfrm>
          <a:prstGeom prst="rect">
            <a:avLst/>
          </a:prstGeom>
          <a:noFill/>
        </p:spPr>
        <p:txBody>
          <a:bodyPr wrap="square" lIns="0" rIns="0" tIns="0" bIns="0">
            <a:spAutoFit/>
          </a:bodyPr>
          <a:lstStyle/>
          <a:p>
            <a:pPr>
              <a:lnSpc>
                <a:spcPct val="98000"/>
              </a:lnSpc>
              <a:spcAft>
                <a:spcPts val="200"/>
              </a:spcAft>
            </a:pPr>
            <a:r>
              <a:rPr sz="960" b="1">
                <a:solidFill>
                  <a:srgbClr val="0B1F3A"/>
                </a:solidFill>
                <a:latin typeface="Calibri"/>
              </a:rPr>
              <a:t>▸  </a:t>
            </a:r>
            <a:r>
              <a:rPr sz="960">
                <a:solidFill>
                  <a:srgbClr val="1A2A33"/>
                </a:solidFill>
                <a:latin typeface="Calibri"/>
              </a:rPr>
              <a:t>Give ₦1,000 / Get ₦1,000 on referee's first save</a:t>
            </a:r>
          </a:p>
          <a:p>
            <a:pPr>
              <a:lnSpc>
                <a:spcPct val="98000"/>
              </a:lnSpc>
              <a:spcAft>
                <a:spcPts val="200"/>
              </a:spcAft>
            </a:pPr>
            <a:r>
              <a:rPr sz="960" b="1">
                <a:solidFill>
                  <a:srgbClr val="0B1F3A"/>
                </a:solidFill>
                <a:latin typeface="Calibri"/>
              </a:rPr>
              <a:t>▸  </a:t>
            </a:r>
            <a:r>
              <a:rPr sz="960">
                <a:solidFill>
                  <a:srgbClr val="1A2A33"/>
                </a:solidFill>
                <a:latin typeface="Calibri"/>
              </a:rPr>
              <a:t>Shareable referral cards with personal streak</a:t>
            </a:r>
          </a:p>
          <a:p>
            <a:pPr>
              <a:lnSpc>
                <a:spcPct val="98000"/>
              </a:lnSpc>
              <a:spcAft>
                <a:spcPts val="200"/>
              </a:spcAft>
            </a:pPr>
            <a:r>
              <a:rPr sz="960" b="1">
                <a:solidFill>
                  <a:srgbClr val="0B1F3A"/>
                </a:solidFill>
                <a:latin typeface="Calibri"/>
              </a:rPr>
              <a:t>▸  </a:t>
            </a:r>
            <a:r>
              <a:rPr sz="960">
                <a:solidFill>
                  <a:srgbClr val="1A2A33"/>
                </a:solidFill>
                <a:latin typeface="Calibri"/>
              </a:rPr>
              <a:t>Branded danfo/keke wraps &amp; campus billboards</a:t>
            </a:r>
          </a:p>
          <a:p>
            <a:pPr>
              <a:lnSpc>
                <a:spcPct val="98000"/>
              </a:lnSpc>
              <a:spcAft>
                <a:spcPts val="200"/>
              </a:spcAft>
            </a:pPr>
            <a:r>
              <a:rPr sz="960" b="1">
                <a:solidFill>
                  <a:srgbClr val="0B1F3A"/>
                </a:solidFill>
                <a:latin typeface="Calibri"/>
              </a:rPr>
              <a:t>▸  </a:t>
            </a:r>
            <a:r>
              <a:rPr sz="960">
                <a:solidFill>
                  <a:srgbClr val="1A2A33"/>
                </a:solidFill>
                <a:latin typeface="Calibri"/>
              </a:rPr>
              <a:t>Market &amp; NYSC camp activations with QR sign-up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C8 · CHANNELS &amp; BUDGET</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Allocating the ₦12,000,000 Launch Budget</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20</a:t>
            </a:r>
          </a:p>
        </p:txBody>
      </p:sp>
      <p:graphicFrame>
        <p:nvGraphicFramePr>
          <p:cNvPr id="9" name="Chart 8"/>
          <p:cNvGraphicFramePr>
            <a:graphicFrameLocks noGrp="1"/>
          </p:cNvGraphicFramePr>
          <p:nvPr/>
        </p:nvGraphicFramePr>
        <p:xfrm>
          <a:off x="502920" y="1554480"/>
          <a:ext cx="4297680" cy="4297680"/>
        </p:xfrm>
        <a:graphic>
          <a:graphicData uri="http://schemas.openxmlformats.org/drawingml/2006/chart">
            <c:chart xmlns:c="http://schemas.openxmlformats.org/drawingml/2006/chart" r:id="rId2"/>
          </a:graphicData>
        </a:graphic>
      </p:graphicFrame>
      <p:graphicFrame>
        <p:nvGraphicFramePr>
          <p:cNvPr id="10" name="Table 9"/>
          <p:cNvGraphicFramePr>
            <a:graphicFrameLocks noGrp="1"/>
          </p:cNvGraphicFramePr>
          <p:nvPr/>
        </p:nvGraphicFramePr>
        <p:xfrm>
          <a:off x="4983480" y="1554480"/>
          <a:ext cx="6720838" cy="4261104"/>
        </p:xfrm>
        <a:graphic>
          <a:graphicData uri="http://schemas.openxmlformats.org/drawingml/2006/table">
            <a:tbl>
              <a:tblPr firstRow="1" bandRow="0">
                <a:tableStyleId>{5C22544A-7EE6-4342-B048-85BDC9FD1C3A}</a:tableStyleId>
              </a:tblPr>
              <a:tblGrid>
                <a:gridCol w="1406687"/>
                <a:gridCol w="625194"/>
                <a:gridCol w="2604976"/>
                <a:gridCol w="2083981"/>
              </a:tblGrid>
              <a:tr h="329184">
                <a:tc>
                  <a:txBody>
                    <a:bodyPr/>
                    <a:lstStyle/>
                    <a:p>
                      <a:pPr>
                        <a:lnSpc>
                          <a:spcPct val="98000"/>
                        </a:lnSpc>
                      </a:pPr>
                      <a:r>
                        <a:rPr sz="980" b="1">
                          <a:solidFill>
                            <a:srgbClr val="FFFFFF"/>
                          </a:solidFill>
                          <a:latin typeface="Calibri"/>
                        </a:rPr>
                        <a:t>Channel</a:t>
                      </a:r>
                    </a:p>
                  </a:txBody>
                  <a:tcPr marL="76200" marR="76200" marT="38100" marB="38100" anchor="ctr">
                    <a:solidFill>
                      <a:srgbClr val="0B1F3A"/>
                    </a:solidFill>
                  </a:tcPr>
                </a:tc>
                <a:tc>
                  <a:txBody>
                    <a:bodyPr/>
                    <a:lstStyle/>
                    <a:p>
                      <a:pPr>
                        <a:lnSpc>
                          <a:spcPct val="98000"/>
                        </a:lnSpc>
                      </a:pPr>
                      <a:r>
                        <a:rPr sz="980" b="1">
                          <a:solidFill>
                            <a:srgbClr val="FFFFFF"/>
                          </a:solidFill>
                          <a:latin typeface="Calibri"/>
                        </a:rPr>
                        <a:t>₦</a:t>
                      </a:r>
                    </a:p>
                  </a:txBody>
                  <a:tcPr marL="76200" marR="76200" marT="38100" marB="38100" anchor="ctr">
                    <a:solidFill>
                      <a:srgbClr val="0B1F3A"/>
                    </a:solidFill>
                  </a:tcPr>
                </a:tc>
                <a:tc>
                  <a:txBody>
                    <a:bodyPr/>
                    <a:lstStyle/>
                    <a:p>
                      <a:pPr>
                        <a:lnSpc>
                          <a:spcPct val="98000"/>
                        </a:lnSpc>
                      </a:pPr>
                      <a:r>
                        <a:rPr sz="980" b="1">
                          <a:solidFill>
                            <a:srgbClr val="FFFFFF"/>
                          </a:solidFill>
                          <a:latin typeface="Calibri"/>
                        </a:rPr>
                        <a:t>Why it matters</a:t>
                      </a:r>
                    </a:p>
                  </a:txBody>
                  <a:tcPr marL="76200" marR="76200" marT="38100" marB="38100" anchor="ctr">
                    <a:solidFill>
                      <a:srgbClr val="0B1F3A"/>
                    </a:solidFill>
                  </a:tcPr>
                </a:tc>
                <a:tc>
                  <a:txBody>
                    <a:bodyPr/>
                    <a:lstStyle/>
                    <a:p>
                      <a:pPr>
                        <a:lnSpc>
                          <a:spcPct val="98000"/>
                        </a:lnSpc>
                      </a:pPr>
                      <a:r>
                        <a:rPr sz="980" b="1">
                          <a:solidFill>
                            <a:srgbClr val="FFFFFF"/>
                          </a:solidFill>
                          <a:latin typeface="Calibri"/>
                        </a:rPr>
                        <a:t>Expected outcome</a:t>
                      </a:r>
                    </a:p>
                  </a:txBody>
                  <a:tcPr marL="76200" marR="76200" marT="38100" marB="38100" anchor="ctr">
                    <a:solidFill>
                      <a:srgbClr val="0B1F3A"/>
                    </a:solidFill>
                  </a:tcPr>
                </a:tc>
              </a:tr>
              <a:tr h="393192">
                <a:tc>
                  <a:txBody>
                    <a:bodyPr/>
                    <a:lstStyle/>
                    <a:p>
                      <a:pPr>
                        <a:lnSpc>
                          <a:spcPct val="98000"/>
                        </a:lnSpc>
                      </a:pPr>
                      <a:r>
                        <a:rPr sz="869" b="1">
                          <a:solidFill>
                            <a:srgbClr val="1A2A33"/>
                          </a:solidFill>
                          <a:latin typeface="Calibri"/>
                        </a:rPr>
                        <a:t>Referral rewards</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2.4m</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Lowest-CAC, compounding word-of-mouth</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~3,000 activated installs</a:t>
                      </a:r>
                    </a:p>
                  </a:txBody>
                  <a:tcPr marL="76200" marR="76200" marT="38100" marB="38100" anchor="ctr">
                    <a:solidFill>
                      <a:srgbClr val="FFFFFF"/>
                    </a:solidFill>
                  </a:tcPr>
                </a:tc>
              </a:tr>
              <a:tr h="393192">
                <a:tc>
                  <a:txBody>
                    <a:bodyPr/>
                    <a:lstStyle/>
                    <a:p>
                      <a:pPr>
                        <a:lnSpc>
                          <a:spcPct val="98000"/>
                        </a:lnSpc>
                      </a:pPr>
                      <a:r>
                        <a:rPr sz="869" b="1">
                          <a:solidFill>
                            <a:srgbClr val="1A2A33"/>
                          </a:solidFill>
                          <a:latin typeface="Calibri"/>
                        </a:rPr>
                        <a:t>Influencer marketing</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2.2m</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Trust by association; mid + nano creators</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4–6m views; ~2,500 installs</a:t>
                      </a:r>
                    </a:p>
                  </a:txBody>
                  <a:tcPr marL="76200" marR="76200" marT="38100" marB="38100" anchor="ctr">
                    <a:solidFill>
                      <a:srgbClr val="E3F6ED"/>
                    </a:solidFill>
                  </a:tcPr>
                </a:tc>
              </a:tr>
              <a:tr h="393192">
                <a:tc>
                  <a:txBody>
                    <a:bodyPr/>
                    <a:lstStyle/>
                    <a:p>
                      <a:pPr>
                        <a:lnSpc>
                          <a:spcPct val="98000"/>
                        </a:lnSpc>
                      </a:pPr>
                      <a:r>
                        <a:rPr sz="869" b="1">
                          <a:solidFill>
                            <a:srgbClr val="1A2A33"/>
                          </a:solidFill>
                          <a:latin typeface="Calibri"/>
                        </a:rPr>
                        <a:t>Campus activations</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1.8m</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Face-to-face trust; high-intent sign-ups</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12 campuses; ~3,000 sign-ups</a:t>
                      </a:r>
                    </a:p>
                  </a:txBody>
                  <a:tcPr marL="76200" marR="76200" marT="38100" marB="38100" anchor="ctr">
                    <a:solidFill>
                      <a:srgbClr val="FFFFFF"/>
                    </a:solidFill>
                  </a:tcPr>
                </a:tc>
              </a:tr>
              <a:tr h="393192">
                <a:tc>
                  <a:txBody>
                    <a:bodyPr/>
                    <a:lstStyle/>
                    <a:p>
                      <a:pPr>
                        <a:lnSpc>
                          <a:spcPct val="98000"/>
                        </a:lnSpc>
                      </a:pPr>
                      <a:r>
                        <a:rPr sz="869" b="1">
                          <a:solidFill>
                            <a:srgbClr val="1A2A33"/>
                          </a:solidFill>
                          <a:latin typeface="Calibri"/>
                        </a:rPr>
                        <a:t>TikTok ads</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1.5m</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Cheapest reach to Gen-Z; #MoniChallenge fuel</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5–7m impressions</a:t>
                      </a:r>
                    </a:p>
                  </a:txBody>
                  <a:tcPr marL="76200" marR="76200" marT="38100" marB="38100" anchor="ctr">
                    <a:solidFill>
                      <a:srgbClr val="E3F6ED"/>
                    </a:solidFill>
                  </a:tcPr>
                </a:tc>
              </a:tr>
              <a:tr h="393192">
                <a:tc>
                  <a:txBody>
                    <a:bodyPr/>
                    <a:lstStyle/>
                    <a:p>
                      <a:pPr>
                        <a:lnSpc>
                          <a:spcPct val="98000"/>
                        </a:lnSpc>
                      </a:pPr>
                      <a:r>
                        <a:rPr sz="869" b="1">
                          <a:solidFill>
                            <a:srgbClr val="1A2A33"/>
                          </a:solidFill>
                          <a:latin typeface="Calibri"/>
                        </a:rPr>
                        <a:t>Instagram ads</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1.2m</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Polished retargeting &amp; lookalikes</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3–4m impressions</a:t>
                      </a:r>
                    </a:p>
                  </a:txBody>
                  <a:tcPr marL="76200" marR="76200" marT="38100" marB="38100" anchor="ctr">
                    <a:solidFill>
                      <a:srgbClr val="FFFFFF"/>
                    </a:solidFill>
                  </a:tcPr>
                </a:tc>
              </a:tr>
              <a:tr h="393192">
                <a:tc>
                  <a:txBody>
                    <a:bodyPr/>
                    <a:lstStyle/>
                    <a:p>
                      <a:pPr>
                        <a:lnSpc>
                          <a:spcPct val="98000"/>
                        </a:lnSpc>
                      </a:pPr>
                      <a:r>
                        <a:rPr sz="869" b="1">
                          <a:solidFill>
                            <a:srgbClr val="1A2A33"/>
                          </a:solidFill>
                          <a:latin typeface="Calibri"/>
                        </a:rPr>
                        <a:t>Community marketing</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1.0m</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Retention engine: WhatsApp/Telegram groups</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Higher D30 retention</a:t>
                      </a:r>
                    </a:p>
                  </a:txBody>
                  <a:tcPr marL="76200" marR="76200" marT="38100" marB="38100" anchor="ctr">
                    <a:solidFill>
                      <a:srgbClr val="E3F6ED"/>
                    </a:solidFill>
                  </a:tcPr>
                </a:tc>
              </a:tr>
              <a:tr h="393192">
                <a:tc>
                  <a:txBody>
                    <a:bodyPr/>
                    <a:lstStyle/>
                    <a:p>
                      <a:pPr>
                        <a:lnSpc>
                          <a:spcPct val="98000"/>
                        </a:lnSpc>
                      </a:pPr>
                      <a:r>
                        <a:rPr sz="869" b="1">
                          <a:solidFill>
                            <a:srgbClr val="1A2A33"/>
                          </a:solidFill>
                          <a:latin typeface="Calibri"/>
                        </a:rPr>
                        <a:t>X (Twitter)</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0.7m</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Fintech Twitter buzz, threads, trust talk</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Earned reach &amp; credibility</a:t>
                      </a:r>
                    </a:p>
                  </a:txBody>
                  <a:tcPr marL="76200" marR="76200" marT="38100" marB="38100" anchor="ctr">
                    <a:solidFill>
                      <a:srgbClr val="FFFFFF"/>
                    </a:solidFill>
                  </a:tcPr>
                </a:tc>
              </a:tr>
              <a:tr h="393192">
                <a:tc>
                  <a:txBody>
                    <a:bodyPr/>
                    <a:lstStyle/>
                    <a:p>
                      <a:pPr>
                        <a:lnSpc>
                          <a:spcPct val="98000"/>
                        </a:lnSpc>
                      </a:pPr>
                      <a:r>
                        <a:rPr sz="869" b="1">
                          <a:solidFill>
                            <a:srgbClr val="1A2A33"/>
                          </a:solidFill>
                          <a:latin typeface="Calibri"/>
                        </a:rPr>
                        <a:t>PR &amp; media</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0.7m</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Legitimacy via TechCabal, press, NDIC story</a:t>
                      </a:r>
                    </a:p>
                  </a:txBody>
                  <a:tcPr marL="76200" marR="76200" marT="38100" marB="38100" anchor="ctr">
                    <a:solidFill>
                      <a:srgbClr val="E3F6ED"/>
                    </a:solidFill>
                  </a:tcPr>
                </a:tc>
                <a:tc>
                  <a:txBody>
                    <a:bodyPr/>
                    <a:lstStyle/>
                    <a:p>
                      <a:pPr>
                        <a:lnSpc>
                          <a:spcPct val="98000"/>
                        </a:lnSpc>
                      </a:pPr>
                      <a:r>
                        <a:rPr sz="869" b="0">
                          <a:solidFill>
                            <a:srgbClr val="1A2A33"/>
                          </a:solidFill>
                          <a:latin typeface="Calibri"/>
                        </a:rPr>
                        <a:t>Trust signal &amp; backlinks</a:t>
                      </a:r>
                    </a:p>
                  </a:txBody>
                  <a:tcPr marL="76200" marR="76200" marT="38100" marB="38100" anchor="ctr">
                    <a:solidFill>
                      <a:srgbClr val="E3F6ED"/>
                    </a:solidFill>
                  </a:tcPr>
                </a:tc>
              </a:tr>
              <a:tr h="393192">
                <a:tc>
                  <a:txBody>
                    <a:bodyPr/>
                    <a:lstStyle/>
                    <a:p>
                      <a:pPr>
                        <a:lnSpc>
                          <a:spcPct val="98000"/>
                        </a:lnSpc>
                      </a:pPr>
                      <a:r>
                        <a:rPr sz="869" b="1">
                          <a:solidFill>
                            <a:srgbClr val="1A2A33"/>
                          </a:solidFill>
                          <a:latin typeface="Calibri"/>
                        </a:rPr>
                        <a:t>OOH / offline</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0.5m</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Local salience: campus boards, transport wraps</a:t>
                      </a:r>
                    </a:p>
                  </a:txBody>
                  <a:tcPr marL="76200" marR="76200" marT="38100" marB="38100" anchor="ctr">
                    <a:solidFill>
                      <a:srgbClr val="FFFFFF"/>
                    </a:solidFill>
                  </a:tcPr>
                </a:tc>
                <a:tc>
                  <a:txBody>
                    <a:bodyPr/>
                    <a:lstStyle/>
                    <a:p>
                      <a:pPr>
                        <a:lnSpc>
                          <a:spcPct val="98000"/>
                        </a:lnSpc>
                      </a:pPr>
                      <a:r>
                        <a:rPr sz="869" b="0">
                          <a:solidFill>
                            <a:srgbClr val="1A2A33"/>
                          </a:solidFill>
                          <a:latin typeface="Calibri"/>
                        </a:rPr>
                        <a:t>Geo-targeted awareness</a:t>
                      </a:r>
                    </a:p>
                  </a:txBody>
                  <a:tcPr marL="76200" marR="76200" marT="38100" marB="38100" anchor="ctr">
                    <a:solidFill>
                      <a:srgbClr val="FFFFFF"/>
                    </a:solidFill>
                  </a:tcPr>
                </a:tc>
              </a:tr>
              <a:tr h="393192">
                <a:tc>
                  <a:txBody>
                    <a:bodyPr/>
                    <a:lstStyle/>
                    <a:p>
                      <a:pPr>
                        <a:lnSpc>
                          <a:spcPct val="98000"/>
                        </a:lnSpc>
                      </a:pPr>
                      <a:r>
                        <a:rPr sz="869" b="1">
                          <a:solidFill>
                            <a:srgbClr val="0B1F3A"/>
                          </a:solidFill>
                          <a:latin typeface="Calibri"/>
                        </a:rPr>
                        <a:t>TOTAL</a:t>
                      </a:r>
                    </a:p>
                  </a:txBody>
                  <a:tcPr marL="76200" marR="76200" marT="38100" marB="38100" anchor="ctr">
                    <a:solidFill>
                      <a:srgbClr val="E3F6ED"/>
                    </a:solidFill>
                  </a:tcPr>
                </a:tc>
                <a:tc>
                  <a:txBody>
                    <a:bodyPr/>
                    <a:lstStyle/>
                    <a:p>
                      <a:pPr>
                        <a:lnSpc>
                          <a:spcPct val="98000"/>
                        </a:lnSpc>
                      </a:pPr>
                      <a:r>
                        <a:rPr sz="869" b="1">
                          <a:solidFill>
                            <a:srgbClr val="0B1F3A"/>
                          </a:solidFill>
                          <a:latin typeface="Calibri"/>
                        </a:rPr>
                        <a:t>12.0m</a:t>
                      </a:r>
                    </a:p>
                  </a:txBody>
                  <a:tcPr marL="76200" marR="76200" marT="38100" marB="38100" anchor="ctr">
                    <a:solidFill>
                      <a:srgbClr val="E3F6ED"/>
                    </a:solidFill>
                  </a:tcPr>
                </a:tc>
                <a:tc>
                  <a:txBody>
                    <a:bodyPr/>
                    <a:lstStyle/>
                    <a:p>
                      <a:pPr>
                        <a:lnSpc>
                          <a:spcPct val="98000"/>
                        </a:lnSpc>
                      </a:pPr>
                      <a:r>
                        <a:rPr sz="869" b="1">
                          <a:solidFill>
                            <a:srgbClr val="0B1F3A"/>
                          </a:solidFill>
                          <a:latin typeface="Calibri"/>
                        </a:rPr>
                        <a:t>Compounding-first mix (61% earned/owned-leaning)</a:t>
                      </a:r>
                    </a:p>
                  </a:txBody>
                  <a:tcPr marL="76200" marR="76200" marT="38100" marB="38100" anchor="ctr">
                    <a:solidFill>
                      <a:srgbClr val="E3F6ED"/>
                    </a:solidFill>
                  </a:tcPr>
                </a:tc>
                <a:tc>
                  <a:txBody>
                    <a:bodyPr/>
                    <a:lstStyle/>
                    <a:p>
                      <a:pPr>
                        <a:lnSpc>
                          <a:spcPct val="98000"/>
                        </a:lnSpc>
                      </a:pPr>
                      <a:r>
                        <a:rPr sz="869" b="1">
                          <a:solidFill>
                            <a:srgbClr val="0B1F3A"/>
                          </a:solidFill>
                          <a:latin typeface="Calibri"/>
                        </a:rPr>
                        <a:t>≈ 10–14k activated installs</a:t>
                      </a:r>
                    </a:p>
                  </a:txBody>
                  <a:tcPr marL="76200" marR="76200" marT="38100" marB="38100" anchor="ctr">
                    <a:solidFill>
                      <a:srgbClr val="E3F6ED"/>
                    </a:solidFill>
                  </a:tcPr>
                </a:tc>
              </a:tr>
            </a:tbl>
          </a:graphicData>
        </a:graphic>
      </p:graphicFrame>
      <p:sp>
        <p:nvSpPr>
          <p:cNvPr id="11" name="TextBox 10"/>
          <p:cNvSpPr txBox="1"/>
          <p:nvPr/>
        </p:nvSpPr>
        <p:spPr>
          <a:xfrm>
            <a:off x="502920" y="6080760"/>
            <a:ext cx="1124712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A86B"/>
                </a:solidFill>
                <a:latin typeface="Calibri"/>
              </a:rPr>
              <a:t>Logic:  </a:t>
            </a:r>
            <a:r>
              <a:rPr sz="1150" b="0" i="0">
                <a:solidFill>
                  <a:srgbClr val="1A2A33"/>
                </a:solidFill>
                <a:latin typeface="Calibri"/>
              </a:rPr>
              <a:t>over-index on channels that compound and build trust (referral, influencers, campus, community = 61%) and use paid social as accelerant, not crutch — the path to driving CAC from ₦4,200 toward ₦2,600.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C · GO-TO-MARKET</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Launch Roadmap: 3 Phases</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21</a:t>
            </a:r>
          </a:p>
        </p:txBody>
      </p:sp>
      <p:sp>
        <p:nvSpPr>
          <p:cNvPr id="9" name="Rounded Rectangle 8"/>
          <p:cNvSpPr/>
          <p:nvPr/>
        </p:nvSpPr>
        <p:spPr>
          <a:xfrm>
            <a:off x="640080" y="1463040"/>
            <a:ext cx="3520440" cy="416052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463040"/>
            <a:ext cx="3520440" cy="713232"/>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28800"/>
            <a:ext cx="3520440" cy="347472"/>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 y="155448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FFFFFF"/>
                </a:solidFill>
                <a:latin typeface="Calibri"/>
              </a:rPr>
              <a:t>PHASE 1 · PRE-LAUNCH</a:t>
            </a:r>
          </a:p>
        </p:txBody>
      </p:sp>
      <p:sp>
        <p:nvSpPr>
          <p:cNvPr id="13" name="TextBox 12"/>
          <p:cNvSpPr txBox="1"/>
          <p:nvPr/>
        </p:nvSpPr>
        <p:spPr>
          <a:xfrm>
            <a:off x="804671" y="1865376"/>
            <a:ext cx="32004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FFFFFF"/>
                </a:solidFill>
                <a:latin typeface="Calibri"/>
              </a:rPr>
              <a:t>Weeks -4 → 0</a:t>
            </a:r>
          </a:p>
        </p:txBody>
      </p:sp>
      <p:sp>
        <p:nvSpPr>
          <p:cNvPr id="14" name="TextBox 13"/>
          <p:cNvSpPr txBox="1"/>
          <p:nvPr/>
        </p:nvSpPr>
        <p:spPr>
          <a:xfrm>
            <a:off x="841247" y="2331720"/>
            <a:ext cx="3154680" cy="2377440"/>
          </a:xfrm>
          <a:prstGeom prst="rect">
            <a:avLst/>
          </a:prstGeom>
          <a:noFill/>
        </p:spPr>
        <p:txBody>
          <a:bodyPr wrap="square" lIns="0" rIns="0" tIns="0" bIns="0">
            <a:spAutoFit/>
          </a:bodyPr>
          <a:lstStyle/>
          <a:p>
            <a:pPr>
              <a:lnSpc>
                <a:spcPct val="100000"/>
              </a:lnSpc>
              <a:spcAft>
                <a:spcPts val="450"/>
              </a:spcAft>
            </a:pPr>
            <a:r>
              <a:rPr sz="980" b="1">
                <a:solidFill>
                  <a:srgbClr val="00A86B"/>
                </a:solidFill>
                <a:latin typeface="Calibri"/>
              </a:rPr>
              <a:t>▸  </a:t>
            </a:r>
            <a:r>
              <a:rPr sz="980">
                <a:solidFill>
                  <a:srgbClr val="1A2A33"/>
                </a:solidFill>
                <a:latin typeface="Calibri"/>
              </a:rPr>
              <a:t>Finish research &amp; finalise personas</a:t>
            </a:r>
          </a:p>
          <a:p>
            <a:pPr>
              <a:lnSpc>
                <a:spcPct val="100000"/>
              </a:lnSpc>
              <a:spcAft>
                <a:spcPts val="450"/>
              </a:spcAft>
            </a:pPr>
            <a:r>
              <a:rPr sz="980" b="1">
                <a:solidFill>
                  <a:srgbClr val="00A86B"/>
                </a:solidFill>
                <a:latin typeface="Calibri"/>
              </a:rPr>
              <a:t>▸  </a:t>
            </a:r>
            <a:r>
              <a:rPr sz="980">
                <a:solidFill>
                  <a:srgbClr val="1A2A33"/>
                </a:solidFill>
                <a:latin typeface="Calibri"/>
              </a:rPr>
              <a:t>Lock positioning, creative &amp; assets</a:t>
            </a:r>
          </a:p>
          <a:p>
            <a:pPr>
              <a:lnSpc>
                <a:spcPct val="100000"/>
              </a:lnSpc>
              <a:spcAft>
                <a:spcPts val="450"/>
              </a:spcAft>
            </a:pPr>
            <a:r>
              <a:rPr sz="980" b="1">
                <a:solidFill>
                  <a:srgbClr val="00A86B"/>
                </a:solidFill>
                <a:latin typeface="Calibri"/>
              </a:rPr>
              <a:t>▸  </a:t>
            </a:r>
            <a:r>
              <a:rPr sz="980">
                <a:solidFill>
                  <a:srgbClr val="1A2A33"/>
                </a:solidFill>
                <a:latin typeface="Calibri"/>
              </a:rPr>
              <a:t>Recruit influencers &amp; 30 campus ambassadors</a:t>
            </a:r>
          </a:p>
          <a:p>
            <a:pPr>
              <a:lnSpc>
                <a:spcPct val="100000"/>
              </a:lnSpc>
              <a:spcAft>
                <a:spcPts val="450"/>
              </a:spcAft>
            </a:pPr>
            <a:r>
              <a:rPr sz="980" b="1">
                <a:solidFill>
                  <a:srgbClr val="00A86B"/>
                </a:solidFill>
                <a:latin typeface="Calibri"/>
              </a:rPr>
              <a:t>▸  </a:t>
            </a:r>
            <a:r>
              <a:rPr sz="980">
                <a:solidFill>
                  <a:srgbClr val="1A2A33"/>
                </a:solidFill>
                <a:latin typeface="Calibri"/>
              </a:rPr>
              <a:t>Seed WhatsApp/Telegram communities</a:t>
            </a:r>
          </a:p>
          <a:p>
            <a:pPr>
              <a:lnSpc>
                <a:spcPct val="100000"/>
              </a:lnSpc>
              <a:spcAft>
                <a:spcPts val="450"/>
              </a:spcAft>
            </a:pPr>
            <a:r>
              <a:rPr sz="980" b="1">
                <a:solidFill>
                  <a:srgbClr val="00A86B"/>
                </a:solidFill>
                <a:latin typeface="Calibri"/>
              </a:rPr>
              <a:t>▸  </a:t>
            </a:r>
            <a:r>
              <a:rPr sz="980">
                <a:solidFill>
                  <a:srgbClr val="1A2A33"/>
                </a:solidFill>
                <a:latin typeface="Calibri"/>
              </a:rPr>
              <a:t>Set up analytics, events &amp; dashboard</a:t>
            </a:r>
          </a:p>
          <a:p>
            <a:pPr>
              <a:lnSpc>
                <a:spcPct val="100000"/>
              </a:lnSpc>
              <a:spcAft>
                <a:spcPts val="450"/>
              </a:spcAft>
            </a:pPr>
            <a:r>
              <a:rPr sz="980" b="1">
                <a:solidFill>
                  <a:srgbClr val="00A86B"/>
                </a:solidFill>
                <a:latin typeface="Calibri"/>
              </a:rPr>
              <a:t>▸  </a:t>
            </a:r>
            <a:r>
              <a:rPr sz="980">
                <a:solidFill>
                  <a:srgbClr val="1A2A33"/>
                </a:solidFill>
                <a:latin typeface="Calibri"/>
              </a:rPr>
              <a:t>Brief PR; line up launch coverage</a:t>
            </a:r>
          </a:p>
        </p:txBody>
      </p:sp>
      <p:sp>
        <p:nvSpPr>
          <p:cNvPr id="15" name="Rectangle 14"/>
          <p:cNvSpPr/>
          <p:nvPr/>
        </p:nvSpPr>
        <p:spPr>
          <a:xfrm>
            <a:off x="804671" y="5029200"/>
            <a:ext cx="3200400" cy="502920"/>
          </a:xfrm>
          <a:prstGeom prst="rect">
            <a:avLst/>
          </a:prstGeom>
          <a:solidFill>
            <a:srgbClr val="E3F6ED"/>
          </a:solidFill>
          <a:ln w="12700">
            <a:solidFill>
              <a:srgbClr val="5FD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93208"/>
            <a:ext cx="3017520" cy="411480"/>
          </a:xfrm>
          <a:prstGeom prst="rect">
            <a:avLst/>
          </a:prstGeom>
          <a:noFill/>
        </p:spPr>
        <p:txBody>
          <a:bodyPr wrap="square" anchor="t" lIns="0" rIns="0" tIns="0" bIns="0">
            <a:spAutoFit/>
          </a:bodyPr>
          <a:lstStyle/>
          <a:p>
            <a:pPr algn="l">
              <a:lnSpc>
                <a:spcPct val="95000"/>
              </a:lnSpc>
              <a:spcBef>
                <a:spcPts val="0"/>
              </a:spcBef>
              <a:spcAft>
                <a:spcPts val="400"/>
              </a:spcAft>
            </a:pPr>
            <a:r>
              <a:rPr sz="900" b="1" i="0">
                <a:solidFill>
                  <a:srgbClr val="0B1F3A"/>
                </a:solidFill>
                <a:latin typeface="Calibri"/>
              </a:rPr>
              <a:t>Goal: ready to launch with trust assets &amp; tracking live</a:t>
            </a:r>
          </a:p>
        </p:txBody>
      </p:sp>
      <p:sp>
        <p:nvSpPr>
          <p:cNvPr id="17" name="TextBox 16"/>
          <p:cNvSpPr txBox="1"/>
          <p:nvPr/>
        </p:nvSpPr>
        <p:spPr>
          <a:xfrm>
            <a:off x="4096511" y="3200400"/>
            <a:ext cx="3200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800" b="1" i="0">
                <a:solidFill>
                  <a:srgbClr val="00A86B"/>
                </a:solidFill>
                <a:latin typeface="Calibri"/>
              </a:rPr>
              <a:t>→</a:t>
            </a:r>
          </a:p>
        </p:txBody>
      </p:sp>
      <p:sp>
        <p:nvSpPr>
          <p:cNvPr id="18" name="Rounded Rectangle 17"/>
          <p:cNvSpPr/>
          <p:nvPr/>
        </p:nvSpPr>
        <p:spPr>
          <a:xfrm>
            <a:off x="4325112" y="1463040"/>
            <a:ext cx="3520440" cy="416052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25112" y="1463040"/>
            <a:ext cx="3520440" cy="713232"/>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25112" y="1828800"/>
            <a:ext cx="3520440" cy="34747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9704" y="155448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FFFFFF"/>
                </a:solidFill>
                <a:latin typeface="Calibri"/>
              </a:rPr>
              <a:t>PHASE 2 · LAUNCH</a:t>
            </a:r>
          </a:p>
        </p:txBody>
      </p:sp>
      <p:sp>
        <p:nvSpPr>
          <p:cNvPr id="22" name="TextBox 21"/>
          <p:cNvSpPr txBox="1"/>
          <p:nvPr/>
        </p:nvSpPr>
        <p:spPr>
          <a:xfrm>
            <a:off x="4489704" y="1865376"/>
            <a:ext cx="32004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FFFFFF"/>
                </a:solidFill>
                <a:latin typeface="Calibri"/>
              </a:rPr>
              <a:t>Weeks 1 → 4</a:t>
            </a:r>
          </a:p>
        </p:txBody>
      </p:sp>
      <p:sp>
        <p:nvSpPr>
          <p:cNvPr id="23" name="TextBox 22"/>
          <p:cNvSpPr txBox="1"/>
          <p:nvPr/>
        </p:nvSpPr>
        <p:spPr>
          <a:xfrm>
            <a:off x="4526280" y="2331720"/>
            <a:ext cx="3154680" cy="2377440"/>
          </a:xfrm>
          <a:prstGeom prst="rect">
            <a:avLst/>
          </a:prstGeom>
          <a:noFill/>
        </p:spPr>
        <p:txBody>
          <a:bodyPr wrap="square" lIns="0" rIns="0" tIns="0" bIns="0">
            <a:spAutoFit/>
          </a:bodyPr>
          <a:lstStyle/>
          <a:p>
            <a:pPr>
              <a:lnSpc>
                <a:spcPct val="100000"/>
              </a:lnSpc>
              <a:spcAft>
                <a:spcPts val="450"/>
              </a:spcAft>
            </a:pPr>
            <a:r>
              <a:rPr sz="980" b="1">
                <a:solidFill>
                  <a:srgbClr val="0B1F3A"/>
                </a:solidFill>
                <a:latin typeface="Calibri"/>
              </a:rPr>
              <a:t>▸  </a:t>
            </a:r>
            <a:r>
              <a:rPr sz="980">
                <a:solidFill>
                  <a:srgbClr val="1A2A33"/>
                </a:solidFill>
                <a:latin typeface="Calibri"/>
              </a:rPr>
              <a:t>Kick off #MoniChallenge across all channels</a:t>
            </a:r>
          </a:p>
          <a:p>
            <a:pPr>
              <a:lnSpc>
                <a:spcPct val="100000"/>
              </a:lnSpc>
              <a:spcAft>
                <a:spcPts val="450"/>
              </a:spcAft>
            </a:pPr>
            <a:r>
              <a:rPr sz="980" b="1">
                <a:solidFill>
                  <a:srgbClr val="0B1F3A"/>
                </a:solidFill>
                <a:latin typeface="Calibri"/>
              </a:rPr>
              <a:t>▸  </a:t>
            </a:r>
            <a:r>
              <a:rPr sz="980">
                <a:solidFill>
                  <a:srgbClr val="1A2A33"/>
                </a:solidFill>
                <a:latin typeface="Calibri"/>
              </a:rPr>
              <a:t>Campus activations in 12 schools</a:t>
            </a:r>
          </a:p>
          <a:p>
            <a:pPr>
              <a:lnSpc>
                <a:spcPct val="100000"/>
              </a:lnSpc>
              <a:spcAft>
                <a:spcPts val="450"/>
              </a:spcAft>
            </a:pPr>
            <a:r>
              <a:rPr sz="980" b="1">
                <a:solidFill>
                  <a:srgbClr val="0B1F3A"/>
                </a:solidFill>
                <a:latin typeface="Calibri"/>
              </a:rPr>
              <a:t>▸  </a:t>
            </a:r>
            <a:r>
              <a:rPr sz="980">
                <a:solidFill>
                  <a:srgbClr val="1A2A33"/>
                </a:solidFill>
                <a:latin typeface="Calibri"/>
              </a:rPr>
              <a:t>Influencer + paid social go live</a:t>
            </a:r>
          </a:p>
          <a:p>
            <a:pPr>
              <a:lnSpc>
                <a:spcPct val="100000"/>
              </a:lnSpc>
              <a:spcAft>
                <a:spcPts val="450"/>
              </a:spcAft>
            </a:pPr>
            <a:r>
              <a:rPr sz="980" b="1">
                <a:solidFill>
                  <a:srgbClr val="0B1F3A"/>
                </a:solidFill>
                <a:latin typeface="Calibri"/>
              </a:rPr>
              <a:t>▸  </a:t>
            </a:r>
            <a:r>
              <a:rPr sz="980">
                <a:solidFill>
                  <a:srgbClr val="1A2A33"/>
                </a:solidFill>
                <a:latin typeface="Calibri"/>
              </a:rPr>
              <a:t>Daily content per the calendar</a:t>
            </a:r>
          </a:p>
          <a:p>
            <a:pPr>
              <a:lnSpc>
                <a:spcPct val="100000"/>
              </a:lnSpc>
              <a:spcAft>
                <a:spcPts val="450"/>
              </a:spcAft>
            </a:pPr>
            <a:r>
              <a:rPr sz="980" b="1">
                <a:solidFill>
                  <a:srgbClr val="0B1F3A"/>
                </a:solidFill>
                <a:latin typeface="Calibri"/>
              </a:rPr>
              <a:t>▸  </a:t>
            </a:r>
            <a:r>
              <a:rPr sz="980">
                <a:solidFill>
                  <a:srgbClr val="1A2A33"/>
                </a:solidFill>
                <a:latin typeface="Calibri"/>
              </a:rPr>
              <a:t>Run first A/B tests (creative, CTA)</a:t>
            </a:r>
          </a:p>
          <a:p>
            <a:pPr>
              <a:lnSpc>
                <a:spcPct val="100000"/>
              </a:lnSpc>
              <a:spcAft>
                <a:spcPts val="450"/>
              </a:spcAft>
            </a:pPr>
            <a:r>
              <a:rPr sz="980" b="1">
                <a:solidFill>
                  <a:srgbClr val="0B1F3A"/>
                </a:solidFill>
                <a:latin typeface="Calibri"/>
              </a:rPr>
              <a:t>▸  </a:t>
            </a:r>
            <a:r>
              <a:rPr sz="980">
                <a:solidFill>
                  <a:srgbClr val="1A2A33"/>
                </a:solidFill>
                <a:latin typeface="Calibri"/>
              </a:rPr>
              <a:t>Daily CAC &amp; activation monitoring</a:t>
            </a:r>
          </a:p>
        </p:txBody>
      </p:sp>
      <p:sp>
        <p:nvSpPr>
          <p:cNvPr id="24" name="Rectangle 23"/>
          <p:cNvSpPr/>
          <p:nvPr/>
        </p:nvSpPr>
        <p:spPr>
          <a:xfrm>
            <a:off x="4489704" y="5029200"/>
            <a:ext cx="3200400" cy="502920"/>
          </a:xfrm>
          <a:prstGeom prst="rect">
            <a:avLst/>
          </a:prstGeom>
          <a:solidFill>
            <a:srgbClr val="E3F6ED"/>
          </a:solidFill>
          <a:ln w="12700">
            <a:solidFill>
              <a:srgbClr val="5FD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99432" y="5093208"/>
            <a:ext cx="3017520" cy="411480"/>
          </a:xfrm>
          <a:prstGeom prst="rect">
            <a:avLst/>
          </a:prstGeom>
          <a:noFill/>
        </p:spPr>
        <p:txBody>
          <a:bodyPr wrap="square" anchor="t" lIns="0" rIns="0" tIns="0" bIns="0">
            <a:spAutoFit/>
          </a:bodyPr>
          <a:lstStyle/>
          <a:p>
            <a:pPr algn="l">
              <a:lnSpc>
                <a:spcPct val="95000"/>
              </a:lnSpc>
              <a:spcBef>
                <a:spcPts val="0"/>
              </a:spcBef>
              <a:spcAft>
                <a:spcPts val="400"/>
              </a:spcAft>
            </a:pPr>
            <a:r>
              <a:rPr sz="900" b="1" i="0">
                <a:solidFill>
                  <a:srgbClr val="0B1F3A"/>
                </a:solidFill>
                <a:latin typeface="Calibri"/>
              </a:rPr>
              <a:t>Goal: maximise awareness + first-save activation</a:t>
            </a:r>
          </a:p>
        </p:txBody>
      </p:sp>
      <p:sp>
        <p:nvSpPr>
          <p:cNvPr id="26" name="TextBox 25"/>
          <p:cNvSpPr txBox="1"/>
          <p:nvPr/>
        </p:nvSpPr>
        <p:spPr>
          <a:xfrm>
            <a:off x="7781544" y="3200400"/>
            <a:ext cx="3200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800" b="1" i="0">
                <a:solidFill>
                  <a:srgbClr val="00A86B"/>
                </a:solidFill>
                <a:latin typeface="Calibri"/>
              </a:rPr>
              <a:t>→</a:t>
            </a:r>
          </a:p>
        </p:txBody>
      </p:sp>
      <p:sp>
        <p:nvSpPr>
          <p:cNvPr id="27" name="Rounded Rectangle 26"/>
          <p:cNvSpPr/>
          <p:nvPr/>
        </p:nvSpPr>
        <p:spPr>
          <a:xfrm>
            <a:off x="8010144" y="1463040"/>
            <a:ext cx="3520440" cy="416052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10144" y="1463040"/>
            <a:ext cx="3520440" cy="713232"/>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0144" y="1828800"/>
            <a:ext cx="3520440" cy="347472"/>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4736" y="155448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FFFFFF"/>
                </a:solidFill>
                <a:latin typeface="Calibri"/>
              </a:rPr>
              <a:t>PHASE 3 · SCALE &amp; OPTIMISE</a:t>
            </a:r>
          </a:p>
        </p:txBody>
      </p:sp>
      <p:sp>
        <p:nvSpPr>
          <p:cNvPr id="31" name="TextBox 30"/>
          <p:cNvSpPr txBox="1"/>
          <p:nvPr/>
        </p:nvSpPr>
        <p:spPr>
          <a:xfrm>
            <a:off x="8174736" y="1865376"/>
            <a:ext cx="32004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FFFFFF"/>
                </a:solidFill>
                <a:latin typeface="Calibri"/>
              </a:rPr>
              <a:t>Weeks 5 → 12</a:t>
            </a:r>
          </a:p>
        </p:txBody>
      </p:sp>
      <p:sp>
        <p:nvSpPr>
          <p:cNvPr id="32" name="TextBox 31"/>
          <p:cNvSpPr txBox="1"/>
          <p:nvPr/>
        </p:nvSpPr>
        <p:spPr>
          <a:xfrm>
            <a:off x="8211312" y="2331720"/>
            <a:ext cx="3154680" cy="2377440"/>
          </a:xfrm>
          <a:prstGeom prst="rect">
            <a:avLst/>
          </a:prstGeom>
          <a:noFill/>
        </p:spPr>
        <p:txBody>
          <a:bodyPr wrap="square" lIns="0" rIns="0" tIns="0" bIns="0">
            <a:spAutoFit/>
          </a:bodyPr>
          <a:lstStyle/>
          <a:p>
            <a:pPr>
              <a:lnSpc>
                <a:spcPct val="100000"/>
              </a:lnSpc>
              <a:spcAft>
                <a:spcPts val="450"/>
              </a:spcAft>
            </a:pPr>
            <a:r>
              <a:rPr sz="980" b="1">
                <a:solidFill>
                  <a:srgbClr val="00A86B"/>
                </a:solidFill>
                <a:latin typeface="Calibri"/>
              </a:rPr>
              <a:t>▸  </a:t>
            </a:r>
            <a:r>
              <a:rPr sz="980">
                <a:solidFill>
                  <a:srgbClr val="1A2A33"/>
                </a:solidFill>
                <a:latin typeface="Calibri"/>
              </a:rPr>
              <a:t>Double down on winning channels (low CAC)</a:t>
            </a:r>
          </a:p>
          <a:p>
            <a:pPr>
              <a:lnSpc>
                <a:spcPct val="100000"/>
              </a:lnSpc>
              <a:spcAft>
                <a:spcPts val="450"/>
              </a:spcAft>
            </a:pPr>
            <a:r>
              <a:rPr sz="980" b="1">
                <a:solidFill>
                  <a:srgbClr val="00A86B"/>
                </a:solidFill>
                <a:latin typeface="Calibri"/>
              </a:rPr>
              <a:t>▸  </a:t>
            </a:r>
            <a:r>
              <a:rPr sz="980">
                <a:solidFill>
                  <a:srgbClr val="1A2A33"/>
                </a:solidFill>
                <a:latin typeface="Calibri"/>
              </a:rPr>
              <a:t>Referral engine front-and-centre</a:t>
            </a:r>
          </a:p>
          <a:p>
            <a:pPr>
              <a:lnSpc>
                <a:spcPct val="100000"/>
              </a:lnSpc>
              <a:spcAft>
                <a:spcPts val="450"/>
              </a:spcAft>
            </a:pPr>
            <a:r>
              <a:rPr sz="980" b="1">
                <a:solidFill>
                  <a:srgbClr val="00A86B"/>
                </a:solidFill>
                <a:latin typeface="Calibri"/>
              </a:rPr>
              <a:t>▸  </a:t>
            </a:r>
            <a:r>
              <a:rPr sz="980">
                <a:solidFill>
                  <a:srgbClr val="1A2A33"/>
                </a:solidFill>
                <a:latin typeface="Calibri"/>
              </a:rPr>
              <a:t>Retention pushes &amp; resurrection campaigns</a:t>
            </a:r>
          </a:p>
          <a:p>
            <a:pPr>
              <a:lnSpc>
                <a:spcPct val="100000"/>
              </a:lnSpc>
              <a:spcAft>
                <a:spcPts val="450"/>
              </a:spcAft>
            </a:pPr>
            <a:r>
              <a:rPr sz="980" b="1">
                <a:solidFill>
                  <a:srgbClr val="00A86B"/>
                </a:solidFill>
                <a:latin typeface="Calibri"/>
              </a:rPr>
              <a:t>▸  </a:t>
            </a:r>
            <a:r>
              <a:rPr sz="980">
                <a:solidFill>
                  <a:srgbClr val="1A2A33"/>
                </a:solidFill>
                <a:latin typeface="Calibri"/>
              </a:rPr>
              <a:t>Continuous A/B testing cadence</a:t>
            </a:r>
          </a:p>
          <a:p>
            <a:pPr>
              <a:lnSpc>
                <a:spcPct val="100000"/>
              </a:lnSpc>
              <a:spcAft>
                <a:spcPts val="450"/>
              </a:spcAft>
            </a:pPr>
            <a:r>
              <a:rPr sz="980" b="1">
                <a:solidFill>
                  <a:srgbClr val="00A86B"/>
                </a:solidFill>
                <a:latin typeface="Calibri"/>
              </a:rPr>
              <a:t>▸  </a:t>
            </a:r>
            <a:r>
              <a:rPr sz="980">
                <a:solidFill>
                  <a:srgbClr val="1A2A33"/>
                </a:solidFill>
                <a:latin typeface="Calibri"/>
              </a:rPr>
              <a:t>Monthly investor &amp; stakeholder reports</a:t>
            </a:r>
          </a:p>
          <a:p>
            <a:pPr>
              <a:lnSpc>
                <a:spcPct val="100000"/>
              </a:lnSpc>
              <a:spcAft>
                <a:spcPts val="450"/>
              </a:spcAft>
            </a:pPr>
            <a:r>
              <a:rPr sz="980" b="1">
                <a:solidFill>
                  <a:srgbClr val="00A86B"/>
                </a:solidFill>
                <a:latin typeface="Calibri"/>
              </a:rPr>
              <a:t>▸  </a:t>
            </a:r>
            <a:r>
              <a:rPr sz="980">
                <a:solidFill>
                  <a:srgbClr val="1A2A33"/>
                </a:solidFill>
                <a:latin typeface="Calibri"/>
              </a:rPr>
              <a:t>Reallocate budget toward LTV:CAC ≥ 3:1</a:t>
            </a:r>
          </a:p>
        </p:txBody>
      </p:sp>
      <p:sp>
        <p:nvSpPr>
          <p:cNvPr id="33" name="Rectangle 32"/>
          <p:cNvSpPr/>
          <p:nvPr/>
        </p:nvSpPr>
        <p:spPr>
          <a:xfrm>
            <a:off x="8174736" y="5029200"/>
            <a:ext cx="3200400" cy="502920"/>
          </a:xfrm>
          <a:prstGeom prst="rect">
            <a:avLst/>
          </a:prstGeom>
          <a:solidFill>
            <a:srgbClr val="E3F6ED"/>
          </a:solidFill>
          <a:ln w="12700">
            <a:solidFill>
              <a:srgbClr val="5FD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84464" y="5093208"/>
            <a:ext cx="3017520" cy="411480"/>
          </a:xfrm>
          <a:prstGeom prst="rect">
            <a:avLst/>
          </a:prstGeom>
          <a:noFill/>
        </p:spPr>
        <p:txBody>
          <a:bodyPr wrap="square" anchor="t" lIns="0" rIns="0" tIns="0" bIns="0">
            <a:spAutoFit/>
          </a:bodyPr>
          <a:lstStyle/>
          <a:p>
            <a:pPr algn="l">
              <a:lnSpc>
                <a:spcPct val="95000"/>
              </a:lnSpc>
              <a:spcBef>
                <a:spcPts val="0"/>
              </a:spcBef>
              <a:spcAft>
                <a:spcPts val="400"/>
              </a:spcAft>
            </a:pPr>
            <a:r>
              <a:rPr sz="900" b="1" i="0">
                <a:solidFill>
                  <a:srgbClr val="0B1F3A"/>
                </a:solidFill>
                <a:latin typeface="Calibri"/>
              </a:rPr>
              <a:t>Goal: drive CAC down, retention up, prove unit economics</a:t>
            </a:r>
          </a:p>
        </p:txBody>
      </p:sp>
      <p:sp>
        <p:nvSpPr>
          <p:cNvPr id="35" name="TextBox 34"/>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0" y="-1828800"/>
            <a:ext cx="5486400" cy="5486400"/>
          </a:xfrm>
          <a:prstGeom prst="ellipse">
            <a:avLst/>
          </a:prstGeom>
          <a:solidFill>
            <a:srgbClr val="1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164592" cy="310896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88720" y="1783080"/>
            <a:ext cx="1371600" cy="13716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6400" b="1">
                <a:solidFill>
                  <a:srgbClr val="FFFFFF"/>
                </a:solidFill>
                <a:latin typeface="Calibri"/>
              </a:rPr>
              <a:t>D</a:t>
            </a:r>
          </a:p>
        </p:txBody>
      </p:sp>
      <p:sp>
        <p:nvSpPr>
          <p:cNvPr id="7" name="TextBox 6"/>
          <p:cNvSpPr txBox="1"/>
          <p:nvPr/>
        </p:nvSpPr>
        <p:spPr>
          <a:xfrm>
            <a:off x="2834640" y="1828800"/>
            <a:ext cx="82296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D3A3"/>
                </a:solidFill>
                <a:latin typeface="Calibri"/>
              </a:rPr>
              <a:t>SECTION D   •   15 MARKS</a:t>
            </a:r>
          </a:p>
        </p:txBody>
      </p:sp>
      <p:sp>
        <p:nvSpPr>
          <p:cNvPr id="8" name="TextBox 7"/>
          <p:cNvSpPr txBox="1"/>
          <p:nvPr/>
        </p:nvSpPr>
        <p:spPr>
          <a:xfrm>
            <a:off x="2834640" y="2240280"/>
            <a:ext cx="8595360" cy="1097280"/>
          </a:xfrm>
          <a:prstGeom prst="rect">
            <a:avLst/>
          </a:prstGeom>
          <a:noFill/>
        </p:spPr>
        <p:txBody>
          <a:bodyPr wrap="square" anchor="t" lIns="0" rIns="0" tIns="0" bIns="0">
            <a:spAutoFit/>
          </a:bodyPr>
          <a:lstStyle/>
          <a:p>
            <a:pPr algn="l">
              <a:lnSpc>
                <a:spcPct val="100000"/>
              </a:lnSpc>
              <a:spcBef>
                <a:spcPts val="0"/>
              </a:spcBef>
              <a:spcAft>
                <a:spcPts val="400"/>
              </a:spcAft>
            </a:pPr>
            <a:r>
              <a:rPr sz="3400" b="1" i="0">
                <a:solidFill>
                  <a:srgbClr val="FFFFFF"/>
                </a:solidFill>
                <a:latin typeface="Calibri"/>
              </a:rPr>
              <a:t>Metrics, Data &amp; Optimization</a:t>
            </a:r>
          </a:p>
        </p:txBody>
      </p:sp>
      <p:sp>
        <p:nvSpPr>
          <p:cNvPr id="9" name="TextBox 8"/>
          <p:cNvSpPr txBox="1"/>
          <p:nvPr/>
        </p:nvSpPr>
        <p:spPr>
          <a:xfrm>
            <a:off x="2862072" y="3429000"/>
            <a:ext cx="8229600"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0" i="1">
                <a:solidFill>
                  <a:srgbClr val="D9E0DF"/>
                </a:solidFill>
                <a:latin typeface="Calibri"/>
              </a:rPr>
              <a:t>What we measure, the dashboard we watch, and how we test our way to lower CAC.</a:t>
            </a:r>
          </a:p>
        </p:txBody>
      </p:sp>
      <p:sp>
        <p:nvSpPr>
          <p:cNvPr id="10" name="Oval 9"/>
          <p:cNvSpPr/>
          <p:nvPr/>
        </p:nvSpPr>
        <p:spPr>
          <a:xfrm>
            <a:off x="2862072" y="4224528"/>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4160520"/>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The KPI set: before vs after launch &amp; why each matters</a:t>
            </a:r>
          </a:p>
        </p:txBody>
      </p:sp>
      <p:sp>
        <p:nvSpPr>
          <p:cNvPr id="12" name="Oval 11"/>
          <p:cNvSpPr/>
          <p:nvPr/>
        </p:nvSpPr>
        <p:spPr>
          <a:xfrm>
            <a:off x="2862072" y="4645152"/>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54680" y="4581144"/>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A live metrics dashboard outline</a:t>
            </a:r>
          </a:p>
        </p:txBody>
      </p:sp>
      <p:sp>
        <p:nvSpPr>
          <p:cNvPr id="14" name="Oval 13"/>
          <p:cNvSpPr/>
          <p:nvPr/>
        </p:nvSpPr>
        <p:spPr>
          <a:xfrm>
            <a:off x="2862072" y="5065776"/>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5001768"/>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A full A/B testing framework across five levers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D9 · PRODUCT MARKETING METRICS</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The Metrics That Matter</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23</a:t>
            </a:r>
          </a:p>
        </p:txBody>
      </p:sp>
      <p:graphicFrame>
        <p:nvGraphicFramePr>
          <p:cNvPr id="9" name="Table 8"/>
          <p:cNvGraphicFramePr>
            <a:graphicFrameLocks noGrp="1"/>
          </p:cNvGraphicFramePr>
          <p:nvPr/>
        </p:nvGraphicFramePr>
        <p:xfrm>
          <a:off x="640080" y="1463040"/>
          <a:ext cx="10927078" cy="3950208"/>
        </p:xfrm>
        <a:graphic>
          <a:graphicData uri="http://schemas.openxmlformats.org/drawingml/2006/table">
            <a:tbl>
              <a:tblPr firstRow="1" bandRow="0">
                <a:tableStyleId>{5C22544A-7EE6-4342-B048-85BDC9FD1C3A}</a:tableStyleId>
              </a:tblPr>
              <a:tblGrid>
                <a:gridCol w="2044421"/>
                <a:gridCol w="1973924"/>
                <a:gridCol w="1832929"/>
                <a:gridCol w="5075804"/>
              </a:tblGrid>
              <a:tr h="365760">
                <a:tc>
                  <a:txBody>
                    <a:bodyPr/>
                    <a:lstStyle/>
                    <a:p>
                      <a:pPr>
                        <a:lnSpc>
                          <a:spcPct val="98000"/>
                        </a:lnSpc>
                      </a:pPr>
                      <a:r>
                        <a:rPr sz="1100" b="1">
                          <a:solidFill>
                            <a:srgbClr val="FFFFFF"/>
                          </a:solidFill>
                          <a:latin typeface="Calibri"/>
                        </a:rPr>
                        <a:t>Metric</a:t>
                      </a:r>
                    </a:p>
                  </a:txBody>
                  <a:tcPr marL="76200" marR="76200" marT="38100" marB="38100" anchor="ctr">
                    <a:solidFill>
                      <a:srgbClr val="0B1F3A"/>
                    </a:solidFill>
                  </a:tcPr>
                </a:tc>
                <a:tc>
                  <a:txBody>
                    <a:bodyPr/>
                    <a:lstStyle/>
                    <a:p>
                      <a:pPr>
                        <a:lnSpc>
                          <a:spcPct val="98000"/>
                        </a:lnSpc>
                      </a:pPr>
                      <a:r>
                        <a:rPr sz="1100" b="1">
                          <a:solidFill>
                            <a:srgbClr val="FFFFFF"/>
                          </a:solidFill>
                          <a:latin typeface="Calibri"/>
                        </a:rPr>
                        <a:t>Now (baseline)</a:t>
                      </a:r>
                    </a:p>
                  </a:txBody>
                  <a:tcPr marL="76200" marR="76200" marT="38100" marB="38100" anchor="ctr">
                    <a:solidFill>
                      <a:srgbClr val="0B1F3A"/>
                    </a:solidFill>
                  </a:tcPr>
                </a:tc>
                <a:tc>
                  <a:txBody>
                    <a:bodyPr/>
                    <a:lstStyle/>
                    <a:p>
                      <a:pPr>
                        <a:lnSpc>
                          <a:spcPct val="98000"/>
                        </a:lnSpc>
                      </a:pPr>
                      <a:r>
                        <a:rPr sz="1100" b="1">
                          <a:solidFill>
                            <a:srgbClr val="FFFFFF"/>
                          </a:solidFill>
                          <a:latin typeface="Calibri"/>
                        </a:rPr>
                        <a:t>90-day target</a:t>
                      </a:r>
                    </a:p>
                  </a:txBody>
                  <a:tcPr marL="76200" marR="76200" marT="38100" marB="38100" anchor="ctr">
                    <a:solidFill>
                      <a:srgbClr val="0B1F3A"/>
                    </a:solidFill>
                  </a:tcPr>
                </a:tc>
                <a:tc>
                  <a:txBody>
                    <a:bodyPr/>
                    <a:lstStyle/>
                    <a:p>
                      <a:pPr>
                        <a:lnSpc>
                          <a:spcPct val="98000"/>
                        </a:lnSpc>
                      </a:pPr>
                      <a:r>
                        <a:rPr sz="1100" b="1">
                          <a:solidFill>
                            <a:srgbClr val="FFFFFF"/>
                          </a:solidFill>
                          <a:latin typeface="Calibri"/>
                        </a:rPr>
                        <a:t>Why it matters</a:t>
                      </a:r>
                    </a:p>
                  </a:txBody>
                  <a:tcPr marL="76200" marR="76200" marT="38100" marB="38100" anchor="ctr">
                    <a:solidFill>
                      <a:srgbClr val="0B1F3A"/>
                    </a:solidFill>
                  </a:tcPr>
                </a:tc>
              </a:tr>
              <a:tr h="448056">
                <a:tc>
                  <a:txBody>
                    <a:bodyPr/>
                    <a:lstStyle/>
                    <a:p>
                      <a:pPr>
                        <a:lnSpc>
                          <a:spcPct val="98000"/>
                        </a:lnSpc>
                      </a:pPr>
                      <a:r>
                        <a:rPr sz="1030" b="1">
                          <a:solidFill>
                            <a:srgbClr val="1A2A33"/>
                          </a:solidFill>
                          <a:latin typeface="Calibri"/>
                        </a:rPr>
                        <a:t>CAC</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₦4,200</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₦2,600</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Efficiency of spend; lower CAC = scalable growth</a:t>
                      </a:r>
                    </a:p>
                  </a:txBody>
                  <a:tcPr marL="76200" marR="76200" marT="38100" marB="38100" anchor="ctr">
                    <a:solidFill>
                      <a:srgbClr val="FFFFFF"/>
                    </a:solidFill>
                  </a:tcPr>
                </a:tc>
              </a:tr>
              <a:tr h="448056">
                <a:tc>
                  <a:txBody>
                    <a:bodyPr/>
                    <a:lstStyle/>
                    <a:p>
                      <a:pPr>
                        <a:lnSpc>
                          <a:spcPct val="98000"/>
                        </a:lnSpc>
                      </a:pPr>
                      <a:r>
                        <a:rPr sz="1030" b="1">
                          <a:solidFill>
                            <a:srgbClr val="1A2A33"/>
                          </a:solidFill>
                          <a:latin typeface="Calibri"/>
                        </a:rPr>
                        <a:t>Activation rate</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 n/a (track)</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55%+</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 who complete first save — the real 'aha' moment</a:t>
                      </a:r>
                    </a:p>
                  </a:txBody>
                  <a:tcPr marL="76200" marR="76200" marT="38100" marB="38100" anchor="ctr">
                    <a:solidFill>
                      <a:srgbClr val="E3F6ED"/>
                    </a:solidFill>
                  </a:tcPr>
                </a:tc>
              </a:tr>
              <a:tr h="448056">
                <a:tc>
                  <a:txBody>
                    <a:bodyPr/>
                    <a:lstStyle/>
                    <a:p>
                      <a:pPr>
                        <a:lnSpc>
                          <a:spcPct val="98000"/>
                        </a:lnSpc>
                      </a:pPr>
                      <a:r>
                        <a:rPr sz="1030" b="1">
                          <a:solidFill>
                            <a:srgbClr val="1A2A33"/>
                          </a:solidFill>
                          <a:latin typeface="Calibri"/>
                        </a:rPr>
                        <a:t>30-day retention</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18%</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35%+</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The core problem; proves habit &amp; product value</a:t>
                      </a:r>
                    </a:p>
                  </a:txBody>
                  <a:tcPr marL="76200" marR="76200" marT="38100" marB="38100" anchor="ctr">
                    <a:solidFill>
                      <a:srgbClr val="FFFFFF"/>
                    </a:solidFill>
                  </a:tcPr>
                </a:tc>
              </a:tr>
              <a:tr h="448056">
                <a:tc>
                  <a:txBody>
                    <a:bodyPr/>
                    <a:lstStyle/>
                    <a:p>
                      <a:pPr>
                        <a:lnSpc>
                          <a:spcPct val="98000"/>
                        </a:lnSpc>
                      </a:pPr>
                      <a:r>
                        <a:rPr sz="1030" b="1">
                          <a:solidFill>
                            <a:srgbClr val="1A2A33"/>
                          </a:solidFill>
                          <a:latin typeface="Calibri"/>
                        </a:rPr>
                        <a:t>Churn rate (D30)</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82%</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&lt;65%</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Inverse of retention; flags leaks to fix fast</a:t>
                      </a:r>
                    </a:p>
                  </a:txBody>
                  <a:tcPr marL="76200" marR="76200" marT="38100" marB="38100" anchor="ctr">
                    <a:solidFill>
                      <a:srgbClr val="E3F6ED"/>
                    </a:solidFill>
                  </a:tcPr>
                </a:tc>
              </a:tr>
              <a:tr h="448056">
                <a:tc>
                  <a:txBody>
                    <a:bodyPr/>
                    <a:lstStyle/>
                    <a:p>
                      <a:pPr>
                        <a:lnSpc>
                          <a:spcPct val="98000"/>
                        </a:lnSpc>
                      </a:pPr>
                      <a:r>
                        <a:rPr sz="1030" b="1">
                          <a:solidFill>
                            <a:srgbClr val="1A2A33"/>
                          </a:solidFill>
                          <a:latin typeface="Calibri"/>
                        </a:rPr>
                        <a:t>DAU / WAU</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640 WAU</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6,000+ WAU</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Daily habit &amp; engagement health</a:t>
                      </a:r>
                    </a:p>
                  </a:txBody>
                  <a:tcPr marL="76200" marR="76200" marT="38100" marB="38100" anchor="ctr">
                    <a:solidFill>
                      <a:srgbClr val="FFFFFF"/>
                    </a:solidFill>
                  </a:tcPr>
                </a:tc>
              </a:tr>
              <a:tr h="448056">
                <a:tc>
                  <a:txBody>
                    <a:bodyPr/>
                    <a:lstStyle/>
                    <a:p>
                      <a:pPr>
                        <a:lnSpc>
                          <a:spcPct val="98000"/>
                        </a:lnSpc>
                      </a:pPr>
                      <a:r>
                        <a:rPr sz="1030" b="1">
                          <a:solidFill>
                            <a:srgbClr val="1A2A33"/>
                          </a:solidFill>
                          <a:latin typeface="Calibri"/>
                        </a:rPr>
                        <a:t>Conversion rate</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track</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8–12%</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Install → funded account; funnel efficiency</a:t>
                      </a:r>
                    </a:p>
                  </a:txBody>
                  <a:tcPr marL="76200" marR="76200" marT="38100" marB="38100" anchor="ctr">
                    <a:solidFill>
                      <a:srgbClr val="E3F6ED"/>
                    </a:solidFill>
                  </a:tcPr>
                </a:tc>
              </a:tr>
              <a:tr h="448056">
                <a:tc>
                  <a:txBody>
                    <a:bodyPr/>
                    <a:lstStyle/>
                    <a:p>
                      <a:pPr>
                        <a:lnSpc>
                          <a:spcPct val="98000"/>
                        </a:lnSpc>
                      </a:pPr>
                      <a:r>
                        <a:rPr sz="1030" b="1">
                          <a:solidFill>
                            <a:srgbClr val="1A2A33"/>
                          </a:solidFill>
                          <a:latin typeface="Calibri"/>
                        </a:rPr>
                        <a:t>Referral rate (K)</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track</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0.3–0.5</a:t>
                      </a:r>
                    </a:p>
                  </a:txBody>
                  <a:tcPr marL="76200" marR="76200" marT="38100" marB="38100" anchor="ctr">
                    <a:solidFill>
                      <a:srgbClr val="FFFFFF"/>
                    </a:solidFill>
                  </a:tcPr>
                </a:tc>
                <a:tc>
                  <a:txBody>
                    <a:bodyPr/>
                    <a:lstStyle/>
                    <a:p>
                      <a:pPr>
                        <a:lnSpc>
                          <a:spcPct val="98000"/>
                        </a:lnSpc>
                      </a:pPr>
                      <a:r>
                        <a:rPr sz="1030" b="0">
                          <a:solidFill>
                            <a:srgbClr val="1A2A33"/>
                          </a:solidFill>
                          <a:latin typeface="Calibri"/>
                        </a:rPr>
                        <a:t>Virality; each user brings ~0.3–0.5 more = lower CAC</a:t>
                      </a:r>
                    </a:p>
                  </a:txBody>
                  <a:tcPr marL="76200" marR="76200" marT="38100" marB="38100" anchor="ctr">
                    <a:solidFill>
                      <a:srgbClr val="FFFFFF"/>
                    </a:solidFill>
                  </a:tcPr>
                </a:tc>
              </a:tr>
              <a:tr h="448056">
                <a:tc>
                  <a:txBody>
                    <a:bodyPr/>
                    <a:lstStyle/>
                    <a:p>
                      <a:pPr>
                        <a:lnSpc>
                          <a:spcPct val="98000"/>
                        </a:lnSpc>
                      </a:pPr>
                      <a:r>
                        <a:rPr sz="1030" b="1">
                          <a:solidFill>
                            <a:srgbClr val="1A2A33"/>
                          </a:solidFill>
                          <a:latin typeface="Calibri"/>
                        </a:rPr>
                        <a:t>LTV  &amp;  LTV:CAC</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track</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 3:1</a:t>
                      </a:r>
                    </a:p>
                  </a:txBody>
                  <a:tcPr marL="76200" marR="76200" marT="38100" marB="38100" anchor="ctr">
                    <a:solidFill>
                      <a:srgbClr val="E3F6ED"/>
                    </a:solidFill>
                  </a:tcPr>
                </a:tc>
                <a:tc>
                  <a:txBody>
                    <a:bodyPr/>
                    <a:lstStyle/>
                    <a:p>
                      <a:pPr>
                        <a:lnSpc>
                          <a:spcPct val="98000"/>
                        </a:lnSpc>
                      </a:pPr>
                      <a:r>
                        <a:rPr sz="1030" b="0">
                          <a:solidFill>
                            <a:srgbClr val="1A2A33"/>
                          </a:solidFill>
                          <a:latin typeface="Calibri"/>
                        </a:rPr>
                        <a:t>Profitability; sustainable unit economics</a:t>
                      </a:r>
                    </a:p>
                  </a:txBody>
                  <a:tcPr marL="76200" marR="76200" marT="38100" marB="38100" anchor="ctr">
                    <a:solidFill>
                      <a:srgbClr val="E3F6ED"/>
                    </a:solidFill>
                  </a:tcPr>
                </a:tc>
              </a:tr>
            </a:tbl>
          </a:graphicData>
        </a:graphic>
      </p:graphicFrame>
      <p:sp>
        <p:nvSpPr>
          <p:cNvPr id="10" name="TextBox 9"/>
          <p:cNvSpPr txBox="1"/>
          <p:nvPr/>
        </p:nvSpPr>
        <p:spPr>
          <a:xfrm>
            <a:off x="640080" y="5989320"/>
            <a:ext cx="10972800"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0A86B"/>
                </a:solidFill>
                <a:latin typeface="Calibri"/>
              </a:rPr>
              <a:t>North-star metric:  </a:t>
            </a:r>
            <a:r>
              <a:rPr sz="1250" b="1" i="0">
                <a:solidFill>
                  <a:srgbClr val="0B1F3A"/>
                </a:solidFill>
                <a:latin typeface="Calibri"/>
              </a:rPr>
              <a:t>weekly count of users who hit a savings streak ≥ 7 days</a:t>
            </a:r>
            <a:r>
              <a:rPr sz="1250" b="0" i="0">
                <a:solidFill>
                  <a:srgbClr val="1A2A33"/>
                </a:solidFill>
                <a:latin typeface="Calibri"/>
              </a:rPr>
              <a:t> — it captures activation, habit and retention in one number.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D9 · METRICS DASHBOARD</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Weekly Growth Dashboard (Outline)</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24</a:t>
            </a:r>
          </a:p>
        </p:txBody>
      </p:sp>
      <p:sp>
        <p:nvSpPr>
          <p:cNvPr id="9" name="TextBox 8"/>
          <p:cNvSpPr txBox="1"/>
          <p:nvPr/>
        </p:nvSpPr>
        <p:spPr>
          <a:xfrm>
            <a:off x="640080" y="137160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0" i="1">
                <a:solidFill>
                  <a:srgbClr val="5B6B73"/>
                </a:solidFill>
                <a:latin typeface="Calibri"/>
              </a:rPr>
              <a:t>One screen, reviewed every Monday — built in Mixpanel/Amplitude + Looker Studio, fed by app events &amp; ad platforms.</a:t>
            </a:r>
          </a:p>
        </p:txBody>
      </p:sp>
      <p:sp>
        <p:nvSpPr>
          <p:cNvPr id="10" name="Rounded Rectangle 9"/>
          <p:cNvSpPr/>
          <p:nvPr/>
        </p:nvSpPr>
        <p:spPr>
          <a:xfrm>
            <a:off x="640080" y="1920240"/>
            <a:ext cx="3520440" cy="18288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920240"/>
            <a:ext cx="3520440" cy="457200"/>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148840"/>
            <a:ext cx="3520440" cy="22860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201168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FFFFF"/>
                </a:solidFill>
                <a:latin typeface="Calibri"/>
              </a:rPr>
              <a:t>ACQUISITION</a:t>
            </a:r>
          </a:p>
        </p:txBody>
      </p:sp>
      <p:sp>
        <p:nvSpPr>
          <p:cNvPr id="14" name="TextBox 13"/>
          <p:cNvSpPr txBox="1"/>
          <p:nvPr/>
        </p:nvSpPr>
        <p:spPr>
          <a:xfrm>
            <a:off x="868680" y="2487168"/>
            <a:ext cx="3108960" cy="1188720"/>
          </a:xfrm>
          <a:prstGeom prst="rect">
            <a:avLst/>
          </a:prstGeom>
          <a:noFill/>
        </p:spPr>
        <p:txBody>
          <a:bodyPr wrap="square" lIns="0" rIns="0" tIns="0" bIns="0">
            <a:spAutoFit/>
          </a:bodyPr>
          <a:lstStyle/>
          <a:p>
            <a:pPr>
              <a:lnSpc>
                <a:spcPct val="104000"/>
              </a:lnSpc>
              <a:spcAft>
                <a:spcPts val="350"/>
              </a:spcAft>
            </a:pPr>
            <a:r>
              <a:rPr sz="1030" b="1">
                <a:solidFill>
                  <a:srgbClr val="00A86B"/>
                </a:solidFill>
                <a:latin typeface="Calibri"/>
              </a:rPr>
              <a:t>▸  </a:t>
            </a:r>
            <a:r>
              <a:rPr sz="1030">
                <a:solidFill>
                  <a:srgbClr val="1A2A33"/>
                </a:solidFill>
                <a:latin typeface="Calibri"/>
              </a:rPr>
              <a:t>Installs by channel</a:t>
            </a:r>
          </a:p>
          <a:p>
            <a:pPr>
              <a:lnSpc>
                <a:spcPct val="104000"/>
              </a:lnSpc>
              <a:spcAft>
                <a:spcPts val="350"/>
              </a:spcAft>
            </a:pPr>
            <a:r>
              <a:rPr sz="1030" b="1">
                <a:solidFill>
                  <a:srgbClr val="00A86B"/>
                </a:solidFill>
                <a:latin typeface="Calibri"/>
              </a:rPr>
              <a:t>▸  </a:t>
            </a:r>
            <a:r>
              <a:rPr sz="1030">
                <a:solidFill>
                  <a:srgbClr val="1A2A33"/>
                </a:solidFill>
                <a:latin typeface="Calibri"/>
              </a:rPr>
              <a:t>CAC by channel</a:t>
            </a:r>
          </a:p>
          <a:p>
            <a:pPr>
              <a:lnSpc>
                <a:spcPct val="104000"/>
              </a:lnSpc>
              <a:spcAft>
                <a:spcPts val="350"/>
              </a:spcAft>
            </a:pPr>
            <a:r>
              <a:rPr sz="1030" b="1">
                <a:solidFill>
                  <a:srgbClr val="00A86B"/>
                </a:solidFill>
                <a:latin typeface="Calibri"/>
              </a:rPr>
              <a:t>▸  </a:t>
            </a:r>
            <a:r>
              <a:rPr sz="1030">
                <a:solidFill>
                  <a:srgbClr val="1A2A33"/>
                </a:solidFill>
                <a:latin typeface="Calibri"/>
              </a:rPr>
              <a:t>Spend pacing vs budget</a:t>
            </a:r>
          </a:p>
          <a:p>
            <a:pPr>
              <a:lnSpc>
                <a:spcPct val="104000"/>
              </a:lnSpc>
              <a:spcAft>
                <a:spcPts val="350"/>
              </a:spcAft>
            </a:pPr>
            <a:r>
              <a:rPr sz="1030" b="1">
                <a:solidFill>
                  <a:srgbClr val="00A86B"/>
                </a:solidFill>
                <a:latin typeface="Calibri"/>
              </a:rPr>
              <a:t>▸  </a:t>
            </a:r>
            <a:r>
              <a:rPr sz="1030">
                <a:solidFill>
                  <a:srgbClr val="1A2A33"/>
                </a:solidFill>
                <a:latin typeface="Calibri"/>
              </a:rPr>
              <a:t>CPM / CPC trends</a:t>
            </a:r>
          </a:p>
        </p:txBody>
      </p:sp>
      <p:sp>
        <p:nvSpPr>
          <p:cNvPr id="15" name="Rounded Rectangle 14"/>
          <p:cNvSpPr/>
          <p:nvPr/>
        </p:nvSpPr>
        <p:spPr>
          <a:xfrm>
            <a:off x="4325112" y="1920240"/>
            <a:ext cx="3520440" cy="18288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25112" y="1920240"/>
            <a:ext cx="3520440" cy="45720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5112" y="2148840"/>
            <a:ext cx="3520440" cy="2286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201168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FFFFF"/>
                </a:solidFill>
                <a:latin typeface="Calibri"/>
              </a:rPr>
              <a:t>ACTIVATION</a:t>
            </a:r>
          </a:p>
        </p:txBody>
      </p:sp>
      <p:sp>
        <p:nvSpPr>
          <p:cNvPr id="19" name="TextBox 18"/>
          <p:cNvSpPr txBox="1"/>
          <p:nvPr/>
        </p:nvSpPr>
        <p:spPr>
          <a:xfrm>
            <a:off x="4553712" y="2487168"/>
            <a:ext cx="3108960" cy="1188720"/>
          </a:xfrm>
          <a:prstGeom prst="rect">
            <a:avLst/>
          </a:prstGeom>
          <a:noFill/>
        </p:spPr>
        <p:txBody>
          <a:bodyPr wrap="square" lIns="0" rIns="0" tIns="0" bIns="0">
            <a:spAutoFit/>
          </a:bodyPr>
          <a:lstStyle/>
          <a:p>
            <a:pPr>
              <a:lnSpc>
                <a:spcPct val="104000"/>
              </a:lnSpc>
              <a:spcAft>
                <a:spcPts val="350"/>
              </a:spcAft>
            </a:pPr>
            <a:r>
              <a:rPr sz="1030" b="1">
                <a:solidFill>
                  <a:srgbClr val="0B1F3A"/>
                </a:solidFill>
                <a:latin typeface="Calibri"/>
              </a:rPr>
              <a:t>▸  </a:t>
            </a:r>
            <a:r>
              <a:rPr sz="1030">
                <a:solidFill>
                  <a:srgbClr val="1A2A33"/>
                </a:solidFill>
                <a:latin typeface="Calibri"/>
              </a:rPr>
              <a:t>First-save rate</a:t>
            </a:r>
          </a:p>
          <a:p>
            <a:pPr>
              <a:lnSpc>
                <a:spcPct val="104000"/>
              </a:lnSpc>
              <a:spcAft>
                <a:spcPts val="350"/>
              </a:spcAft>
            </a:pPr>
            <a:r>
              <a:rPr sz="1030" b="1">
                <a:solidFill>
                  <a:srgbClr val="0B1F3A"/>
                </a:solidFill>
                <a:latin typeface="Calibri"/>
              </a:rPr>
              <a:t>▸  </a:t>
            </a:r>
            <a:r>
              <a:rPr sz="1030">
                <a:solidFill>
                  <a:srgbClr val="1A2A33"/>
                </a:solidFill>
                <a:latin typeface="Calibri"/>
              </a:rPr>
              <a:t>Time-to-first-save</a:t>
            </a:r>
          </a:p>
          <a:p>
            <a:pPr>
              <a:lnSpc>
                <a:spcPct val="104000"/>
              </a:lnSpc>
              <a:spcAft>
                <a:spcPts val="350"/>
              </a:spcAft>
            </a:pPr>
            <a:r>
              <a:rPr sz="1030" b="1">
                <a:solidFill>
                  <a:srgbClr val="0B1F3A"/>
                </a:solidFill>
                <a:latin typeface="Calibri"/>
              </a:rPr>
              <a:t>▸  </a:t>
            </a:r>
            <a:r>
              <a:rPr sz="1030">
                <a:solidFill>
                  <a:srgbClr val="1A2A33"/>
                </a:solidFill>
                <a:latin typeface="Calibri"/>
              </a:rPr>
              <a:t>Onboarding drop-off funnel</a:t>
            </a:r>
          </a:p>
          <a:p>
            <a:pPr>
              <a:lnSpc>
                <a:spcPct val="104000"/>
              </a:lnSpc>
              <a:spcAft>
                <a:spcPts val="350"/>
              </a:spcAft>
            </a:pPr>
            <a:r>
              <a:rPr sz="1030" b="1">
                <a:solidFill>
                  <a:srgbClr val="0B1F3A"/>
                </a:solidFill>
                <a:latin typeface="Calibri"/>
              </a:rPr>
              <a:t>▸  </a:t>
            </a:r>
            <a:r>
              <a:rPr sz="1030">
                <a:solidFill>
                  <a:srgbClr val="1A2A33"/>
                </a:solidFill>
                <a:latin typeface="Calibri"/>
              </a:rPr>
              <a:t>KYC completion</a:t>
            </a:r>
          </a:p>
        </p:txBody>
      </p:sp>
      <p:sp>
        <p:nvSpPr>
          <p:cNvPr id="20" name="Rounded Rectangle 19"/>
          <p:cNvSpPr/>
          <p:nvPr/>
        </p:nvSpPr>
        <p:spPr>
          <a:xfrm>
            <a:off x="8010144" y="1920240"/>
            <a:ext cx="3520440" cy="18288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10144" y="1920240"/>
            <a:ext cx="3520440" cy="457200"/>
          </a:xfrm>
          <a:prstGeom prst="roundRect">
            <a:avLst/>
          </a:prstGeom>
          <a:solidFill>
            <a:srgbClr val="F2B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0144" y="2148840"/>
            <a:ext cx="3520440" cy="228600"/>
          </a:xfrm>
          <a:prstGeom prst="rect">
            <a:avLst/>
          </a:prstGeom>
          <a:solidFill>
            <a:srgbClr val="F2B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93023" y="201168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FFFFF"/>
                </a:solidFill>
                <a:latin typeface="Calibri"/>
              </a:rPr>
              <a:t>ENGAGEMENT</a:t>
            </a:r>
          </a:p>
        </p:txBody>
      </p:sp>
      <p:sp>
        <p:nvSpPr>
          <p:cNvPr id="24" name="TextBox 23"/>
          <p:cNvSpPr txBox="1"/>
          <p:nvPr/>
        </p:nvSpPr>
        <p:spPr>
          <a:xfrm>
            <a:off x="8238744" y="2487168"/>
            <a:ext cx="3108960" cy="1188720"/>
          </a:xfrm>
          <a:prstGeom prst="rect">
            <a:avLst/>
          </a:prstGeom>
          <a:noFill/>
        </p:spPr>
        <p:txBody>
          <a:bodyPr wrap="square" lIns="0" rIns="0" tIns="0" bIns="0">
            <a:spAutoFit/>
          </a:bodyPr>
          <a:lstStyle/>
          <a:p>
            <a:pPr>
              <a:lnSpc>
                <a:spcPct val="104000"/>
              </a:lnSpc>
              <a:spcAft>
                <a:spcPts val="350"/>
              </a:spcAft>
            </a:pPr>
            <a:r>
              <a:rPr sz="1030" b="1">
                <a:solidFill>
                  <a:srgbClr val="F2B02E"/>
                </a:solidFill>
                <a:latin typeface="Calibri"/>
              </a:rPr>
              <a:t>▸  </a:t>
            </a:r>
            <a:r>
              <a:rPr sz="1030">
                <a:solidFill>
                  <a:srgbClr val="1A2A33"/>
                </a:solidFill>
                <a:latin typeface="Calibri"/>
              </a:rPr>
              <a:t>DAU / WAU / MAU</a:t>
            </a:r>
          </a:p>
          <a:p>
            <a:pPr>
              <a:lnSpc>
                <a:spcPct val="104000"/>
              </a:lnSpc>
              <a:spcAft>
                <a:spcPts val="350"/>
              </a:spcAft>
            </a:pPr>
            <a:r>
              <a:rPr sz="1030" b="1">
                <a:solidFill>
                  <a:srgbClr val="F2B02E"/>
                </a:solidFill>
                <a:latin typeface="Calibri"/>
              </a:rPr>
              <a:t>▸  </a:t>
            </a:r>
            <a:r>
              <a:rPr sz="1030">
                <a:solidFill>
                  <a:srgbClr val="1A2A33"/>
                </a:solidFill>
                <a:latin typeface="Calibri"/>
              </a:rPr>
              <a:t>Feature usage mix</a:t>
            </a:r>
          </a:p>
          <a:p>
            <a:pPr>
              <a:lnSpc>
                <a:spcPct val="104000"/>
              </a:lnSpc>
              <a:spcAft>
                <a:spcPts val="350"/>
              </a:spcAft>
            </a:pPr>
            <a:r>
              <a:rPr sz="1030" b="1">
                <a:solidFill>
                  <a:srgbClr val="F2B02E"/>
                </a:solidFill>
                <a:latin typeface="Calibri"/>
              </a:rPr>
              <a:t>▸  </a:t>
            </a:r>
            <a:r>
              <a:rPr sz="1030">
                <a:solidFill>
                  <a:srgbClr val="1A2A33"/>
                </a:solidFill>
                <a:latin typeface="Calibri"/>
              </a:rPr>
              <a:t>Streak distribution</a:t>
            </a:r>
          </a:p>
          <a:p>
            <a:pPr>
              <a:lnSpc>
                <a:spcPct val="104000"/>
              </a:lnSpc>
              <a:spcAft>
                <a:spcPts val="350"/>
              </a:spcAft>
            </a:pPr>
            <a:r>
              <a:rPr sz="1030" b="1">
                <a:solidFill>
                  <a:srgbClr val="F2B02E"/>
                </a:solidFill>
                <a:latin typeface="Calibri"/>
              </a:rPr>
              <a:t>▸  </a:t>
            </a:r>
            <a:r>
              <a:rPr sz="1030">
                <a:solidFill>
                  <a:srgbClr val="1A2A33"/>
                </a:solidFill>
                <a:latin typeface="Calibri"/>
              </a:rPr>
              <a:t>Session frequency</a:t>
            </a:r>
          </a:p>
        </p:txBody>
      </p:sp>
      <p:sp>
        <p:nvSpPr>
          <p:cNvPr id="25" name="Rounded Rectangle 24"/>
          <p:cNvSpPr/>
          <p:nvPr/>
        </p:nvSpPr>
        <p:spPr>
          <a:xfrm>
            <a:off x="640080" y="3931920"/>
            <a:ext cx="3520440" cy="18288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3931920"/>
            <a:ext cx="3520440" cy="457200"/>
          </a:xfrm>
          <a:prstGeom prst="round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4160520"/>
            <a:ext cx="3520440" cy="22860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59" y="402336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FFFFF"/>
                </a:solidFill>
                <a:latin typeface="Calibri"/>
              </a:rPr>
              <a:t>RETENTION</a:t>
            </a:r>
          </a:p>
        </p:txBody>
      </p:sp>
      <p:sp>
        <p:nvSpPr>
          <p:cNvPr id="29" name="TextBox 28"/>
          <p:cNvSpPr txBox="1"/>
          <p:nvPr/>
        </p:nvSpPr>
        <p:spPr>
          <a:xfrm>
            <a:off x="868680" y="4498848"/>
            <a:ext cx="3108960" cy="1188720"/>
          </a:xfrm>
          <a:prstGeom prst="rect">
            <a:avLst/>
          </a:prstGeom>
          <a:noFill/>
        </p:spPr>
        <p:txBody>
          <a:bodyPr wrap="square" lIns="0" rIns="0" tIns="0" bIns="0">
            <a:spAutoFit/>
          </a:bodyPr>
          <a:lstStyle/>
          <a:p>
            <a:pPr>
              <a:lnSpc>
                <a:spcPct val="104000"/>
              </a:lnSpc>
              <a:spcAft>
                <a:spcPts val="350"/>
              </a:spcAft>
            </a:pPr>
            <a:r>
              <a:rPr sz="1030" b="1">
                <a:solidFill>
                  <a:srgbClr val="E86A5C"/>
                </a:solidFill>
                <a:latin typeface="Calibri"/>
              </a:rPr>
              <a:t>▸  </a:t>
            </a:r>
            <a:r>
              <a:rPr sz="1030">
                <a:solidFill>
                  <a:srgbClr val="1A2A33"/>
                </a:solidFill>
                <a:latin typeface="Calibri"/>
              </a:rPr>
              <a:t>D1 / D7 / D30 cohorts</a:t>
            </a:r>
          </a:p>
          <a:p>
            <a:pPr>
              <a:lnSpc>
                <a:spcPct val="104000"/>
              </a:lnSpc>
              <a:spcAft>
                <a:spcPts val="350"/>
              </a:spcAft>
            </a:pPr>
            <a:r>
              <a:rPr sz="1030" b="1">
                <a:solidFill>
                  <a:srgbClr val="E86A5C"/>
                </a:solidFill>
                <a:latin typeface="Calibri"/>
              </a:rPr>
              <a:t>▸  </a:t>
            </a:r>
            <a:r>
              <a:rPr sz="1030">
                <a:solidFill>
                  <a:srgbClr val="1A2A33"/>
                </a:solidFill>
                <a:latin typeface="Calibri"/>
              </a:rPr>
              <a:t>Churn rate &amp; reasons</a:t>
            </a:r>
          </a:p>
          <a:p>
            <a:pPr>
              <a:lnSpc>
                <a:spcPct val="104000"/>
              </a:lnSpc>
              <a:spcAft>
                <a:spcPts val="350"/>
              </a:spcAft>
            </a:pPr>
            <a:r>
              <a:rPr sz="1030" b="1">
                <a:solidFill>
                  <a:srgbClr val="E86A5C"/>
                </a:solidFill>
                <a:latin typeface="Calibri"/>
              </a:rPr>
              <a:t>▸  </a:t>
            </a:r>
            <a:r>
              <a:rPr sz="1030">
                <a:solidFill>
                  <a:srgbClr val="1A2A33"/>
                </a:solidFill>
                <a:latin typeface="Calibri"/>
              </a:rPr>
              <a:t>Resurrection rate</a:t>
            </a:r>
          </a:p>
          <a:p>
            <a:pPr>
              <a:lnSpc>
                <a:spcPct val="104000"/>
              </a:lnSpc>
              <a:spcAft>
                <a:spcPts val="350"/>
              </a:spcAft>
            </a:pPr>
            <a:r>
              <a:rPr sz="1030" b="1">
                <a:solidFill>
                  <a:srgbClr val="E86A5C"/>
                </a:solidFill>
                <a:latin typeface="Calibri"/>
              </a:rPr>
              <a:t>▸  </a:t>
            </a:r>
            <a:r>
              <a:rPr sz="1030">
                <a:solidFill>
                  <a:srgbClr val="1A2A33"/>
                </a:solidFill>
                <a:latin typeface="Calibri"/>
              </a:rPr>
              <a:t>NPS trend</a:t>
            </a:r>
          </a:p>
        </p:txBody>
      </p:sp>
      <p:sp>
        <p:nvSpPr>
          <p:cNvPr id="30" name="Rounded Rectangle 29"/>
          <p:cNvSpPr/>
          <p:nvPr/>
        </p:nvSpPr>
        <p:spPr>
          <a:xfrm>
            <a:off x="4325112" y="3931920"/>
            <a:ext cx="3520440" cy="18288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325112" y="3931920"/>
            <a:ext cx="3520440" cy="457200"/>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25112" y="4160520"/>
            <a:ext cx="3520440" cy="22860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07992" y="402336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FFFFF"/>
                </a:solidFill>
                <a:latin typeface="Calibri"/>
              </a:rPr>
              <a:t>VIRALITY</a:t>
            </a:r>
          </a:p>
        </p:txBody>
      </p:sp>
      <p:sp>
        <p:nvSpPr>
          <p:cNvPr id="34" name="TextBox 33"/>
          <p:cNvSpPr txBox="1"/>
          <p:nvPr/>
        </p:nvSpPr>
        <p:spPr>
          <a:xfrm>
            <a:off x="4553712" y="4498848"/>
            <a:ext cx="3108960" cy="1188720"/>
          </a:xfrm>
          <a:prstGeom prst="rect">
            <a:avLst/>
          </a:prstGeom>
          <a:noFill/>
        </p:spPr>
        <p:txBody>
          <a:bodyPr wrap="square" lIns="0" rIns="0" tIns="0" bIns="0">
            <a:spAutoFit/>
          </a:bodyPr>
          <a:lstStyle/>
          <a:p>
            <a:pPr>
              <a:lnSpc>
                <a:spcPct val="104000"/>
              </a:lnSpc>
              <a:spcAft>
                <a:spcPts val="350"/>
              </a:spcAft>
            </a:pPr>
            <a:r>
              <a:rPr sz="1030" b="1">
                <a:solidFill>
                  <a:srgbClr val="00A86B"/>
                </a:solidFill>
                <a:latin typeface="Calibri"/>
              </a:rPr>
              <a:t>▸  </a:t>
            </a:r>
            <a:r>
              <a:rPr sz="1030">
                <a:solidFill>
                  <a:srgbClr val="1A2A33"/>
                </a:solidFill>
                <a:latin typeface="Calibri"/>
              </a:rPr>
              <a:t>Referral rate (K-factor)</a:t>
            </a:r>
          </a:p>
          <a:p>
            <a:pPr>
              <a:lnSpc>
                <a:spcPct val="104000"/>
              </a:lnSpc>
              <a:spcAft>
                <a:spcPts val="350"/>
              </a:spcAft>
            </a:pPr>
            <a:r>
              <a:rPr sz="1030" b="1">
                <a:solidFill>
                  <a:srgbClr val="00A86B"/>
                </a:solidFill>
                <a:latin typeface="Calibri"/>
              </a:rPr>
              <a:t>▸  </a:t>
            </a:r>
            <a:r>
              <a:rPr sz="1030">
                <a:solidFill>
                  <a:srgbClr val="1A2A33"/>
                </a:solidFill>
                <a:latin typeface="Calibri"/>
              </a:rPr>
              <a:t>Invites sent vs converted</a:t>
            </a:r>
          </a:p>
          <a:p>
            <a:pPr>
              <a:lnSpc>
                <a:spcPct val="104000"/>
              </a:lnSpc>
              <a:spcAft>
                <a:spcPts val="350"/>
              </a:spcAft>
            </a:pPr>
            <a:r>
              <a:rPr sz="1030" b="1">
                <a:solidFill>
                  <a:srgbClr val="00A86B"/>
                </a:solidFill>
                <a:latin typeface="Calibri"/>
              </a:rPr>
              <a:t>▸  </a:t>
            </a:r>
            <a:r>
              <a:rPr sz="1030">
                <a:solidFill>
                  <a:srgbClr val="1A2A33"/>
                </a:solidFill>
                <a:latin typeface="Calibri"/>
              </a:rPr>
              <a:t>Referral CAC</a:t>
            </a:r>
          </a:p>
          <a:p>
            <a:pPr>
              <a:lnSpc>
                <a:spcPct val="104000"/>
              </a:lnSpc>
              <a:spcAft>
                <a:spcPts val="350"/>
              </a:spcAft>
            </a:pPr>
            <a:r>
              <a:rPr sz="1030" b="1">
                <a:solidFill>
                  <a:srgbClr val="00A86B"/>
                </a:solidFill>
                <a:latin typeface="Calibri"/>
              </a:rPr>
              <a:t>▸  </a:t>
            </a:r>
            <a:r>
              <a:rPr sz="1030">
                <a:solidFill>
                  <a:srgbClr val="1A2A33"/>
                </a:solidFill>
                <a:latin typeface="Calibri"/>
              </a:rPr>
              <a:t>Share-of-installs</a:t>
            </a:r>
          </a:p>
        </p:txBody>
      </p:sp>
      <p:sp>
        <p:nvSpPr>
          <p:cNvPr id="35" name="Rounded Rectangle 34"/>
          <p:cNvSpPr/>
          <p:nvPr/>
        </p:nvSpPr>
        <p:spPr>
          <a:xfrm>
            <a:off x="8010144" y="3931920"/>
            <a:ext cx="3520440" cy="18288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010144" y="3931920"/>
            <a:ext cx="3520440" cy="45720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10144" y="4160520"/>
            <a:ext cx="3520440" cy="2286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93023" y="402336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FFFFF"/>
                </a:solidFill>
                <a:latin typeface="Calibri"/>
              </a:rPr>
              <a:t>UNIT ECONOMICS</a:t>
            </a:r>
          </a:p>
        </p:txBody>
      </p:sp>
      <p:sp>
        <p:nvSpPr>
          <p:cNvPr id="39" name="TextBox 38"/>
          <p:cNvSpPr txBox="1"/>
          <p:nvPr/>
        </p:nvSpPr>
        <p:spPr>
          <a:xfrm>
            <a:off x="8238744" y="4498848"/>
            <a:ext cx="3108960" cy="1188720"/>
          </a:xfrm>
          <a:prstGeom prst="rect">
            <a:avLst/>
          </a:prstGeom>
          <a:noFill/>
        </p:spPr>
        <p:txBody>
          <a:bodyPr wrap="square" lIns="0" rIns="0" tIns="0" bIns="0">
            <a:spAutoFit/>
          </a:bodyPr>
          <a:lstStyle/>
          <a:p>
            <a:pPr>
              <a:lnSpc>
                <a:spcPct val="104000"/>
              </a:lnSpc>
              <a:spcAft>
                <a:spcPts val="350"/>
              </a:spcAft>
            </a:pPr>
            <a:r>
              <a:rPr sz="1030" b="1">
                <a:solidFill>
                  <a:srgbClr val="0B1F3A"/>
                </a:solidFill>
                <a:latin typeface="Calibri"/>
              </a:rPr>
              <a:t>▸  </a:t>
            </a:r>
            <a:r>
              <a:rPr sz="1030">
                <a:solidFill>
                  <a:srgbClr val="1A2A33"/>
                </a:solidFill>
                <a:latin typeface="Calibri"/>
              </a:rPr>
              <a:t>LTV</a:t>
            </a:r>
          </a:p>
          <a:p>
            <a:pPr>
              <a:lnSpc>
                <a:spcPct val="104000"/>
              </a:lnSpc>
              <a:spcAft>
                <a:spcPts val="350"/>
              </a:spcAft>
            </a:pPr>
            <a:r>
              <a:rPr sz="1030" b="1">
                <a:solidFill>
                  <a:srgbClr val="0B1F3A"/>
                </a:solidFill>
                <a:latin typeface="Calibri"/>
              </a:rPr>
              <a:t>▸  </a:t>
            </a:r>
            <a:r>
              <a:rPr sz="1030">
                <a:solidFill>
                  <a:srgbClr val="1A2A33"/>
                </a:solidFill>
                <a:latin typeface="Calibri"/>
              </a:rPr>
              <a:t>LTV:CAC ratio</a:t>
            </a:r>
          </a:p>
          <a:p>
            <a:pPr>
              <a:lnSpc>
                <a:spcPct val="104000"/>
              </a:lnSpc>
              <a:spcAft>
                <a:spcPts val="350"/>
              </a:spcAft>
            </a:pPr>
            <a:r>
              <a:rPr sz="1030" b="1">
                <a:solidFill>
                  <a:srgbClr val="0B1F3A"/>
                </a:solidFill>
                <a:latin typeface="Calibri"/>
              </a:rPr>
              <a:t>▸  </a:t>
            </a:r>
            <a:r>
              <a:rPr sz="1030">
                <a:solidFill>
                  <a:srgbClr val="1A2A33"/>
                </a:solidFill>
                <a:latin typeface="Calibri"/>
              </a:rPr>
              <a:t>Payback period</a:t>
            </a:r>
          </a:p>
          <a:p>
            <a:pPr>
              <a:lnSpc>
                <a:spcPct val="104000"/>
              </a:lnSpc>
              <a:spcAft>
                <a:spcPts val="350"/>
              </a:spcAft>
            </a:pPr>
            <a:r>
              <a:rPr sz="1030" b="1">
                <a:solidFill>
                  <a:srgbClr val="0B1F3A"/>
                </a:solidFill>
                <a:latin typeface="Calibri"/>
              </a:rPr>
              <a:t>▸  </a:t>
            </a:r>
            <a:r>
              <a:rPr sz="1030">
                <a:solidFill>
                  <a:srgbClr val="1A2A33"/>
                </a:solidFill>
                <a:latin typeface="Calibri"/>
              </a:rPr>
              <a:t>Revenue per user</a:t>
            </a:r>
          </a:p>
        </p:txBody>
      </p:sp>
      <p:sp>
        <p:nvSpPr>
          <p:cNvPr id="40" name="TextBox 39"/>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D10 · A/B TESTING</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An Always-On A/B Testing Engine</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25</a:t>
            </a:r>
          </a:p>
        </p:txBody>
      </p:sp>
      <p:sp>
        <p:nvSpPr>
          <p:cNvPr id="9" name="Rounded Rectangle 8"/>
          <p:cNvSpPr/>
          <p:nvPr/>
        </p:nvSpPr>
        <p:spPr>
          <a:xfrm>
            <a:off x="640080" y="1417320"/>
            <a:ext cx="1965960" cy="502920"/>
          </a:xfrm>
          <a:prstGeom prst="roundRect">
            <a:avLst>
              <a:gd name="adj" fmla="val 3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000" b="1">
                <a:solidFill>
                  <a:srgbClr val="FFFFFF"/>
                </a:solidFill>
                <a:latin typeface="Calibri"/>
              </a:rPr>
              <a:t>1. Hypothesis</a:t>
            </a:r>
          </a:p>
        </p:txBody>
      </p:sp>
      <p:sp>
        <p:nvSpPr>
          <p:cNvPr id="10" name="TextBox 9"/>
          <p:cNvSpPr txBox="1"/>
          <p:nvPr/>
        </p:nvSpPr>
        <p:spPr>
          <a:xfrm>
            <a:off x="2606039" y="1417320"/>
            <a:ext cx="292608"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00A86B"/>
                </a:solidFill>
                <a:latin typeface="Calibri"/>
              </a:rPr>
              <a:t>→</a:t>
            </a:r>
          </a:p>
        </p:txBody>
      </p:sp>
      <p:sp>
        <p:nvSpPr>
          <p:cNvPr id="11" name="Rounded Rectangle 10"/>
          <p:cNvSpPr/>
          <p:nvPr/>
        </p:nvSpPr>
        <p:spPr>
          <a:xfrm>
            <a:off x="2898648" y="1417320"/>
            <a:ext cx="1965960" cy="50292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000" b="1">
                <a:solidFill>
                  <a:srgbClr val="FFFFFF"/>
                </a:solidFill>
                <a:latin typeface="Calibri"/>
              </a:rPr>
              <a:t>2. Single variable</a:t>
            </a:r>
          </a:p>
        </p:txBody>
      </p:sp>
      <p:sp>
        <p:nvSpPr>
          <p:cNvPr id="12" name="TextBox 11"/>
          <p:cNvSpPr txBox="1"/>
          <p:nvPr/>
        </p:nvSpPr>
        <p:spPr>
          <a:xfrm>
            <a:off x="4864608" y="1417320"/>
            <a:ext cx="292608"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00A86B"/>
                </a:solidFill>
                <a:latin typeface="Calibri"/>
              </a:rPr>
              <a:t>→</a:t>
            </a:r>
          </a:p>
        </p:txBody>
      </p:sp>
      <p:sp>
        <p:nvSpPr>
          <p:cNvPr id="13" name="Rounded Rectangle 12"/>
          <p:cNvSpPr/>
          <p:nvPr/>
        </p:nvSpPr>
        <p:spPr>
          <a:xfrm>
            <a:off x="5157216" y="1417320"/>
            <a:ext cx="1965960" cy="502920"/>
          </a:xfrm>
          <a:prstGeom prst="roundRect">
            <a:avLst>
              <a:gd name="adj" fmla="val 3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000" b="1">
                <a:solidFill>
                  <a:srgbClr val="FFFFFF"/>
                </a:solidFill>
                <a:latin typeface="Calibri"/>
              </a:rPr>
              <a:t>3. Split traffic 50/50</a:t>
            </a:r>
          </a:p>
        </p:txBody>
      </p:sp>
      <p:sp>
        <p:nvSpPr>
          <p:cNvPr id="14" name="TextBox 13"/>
          <p:cNvSpPr txBox="1"/>
          <p:nvPr/>
        </p:nvSpPr>
        <p:spPr>
          <a:xfrm>
            <a:off x="7123176" y="1417320"/>
            <a:ext cx="292608"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00A86B"/>
                </a:solidFill>
                <a:latin typeface="Calibri"/>
              </a:rPr>
              <a:t>→</a:t>
            </a:r>
          </a:p>
        </p:txBody>
      </p:sp>
      <p:sp>
        <p:nvSpPr>
          <p:cNvPr id="15" name="Rounded Rectangle 14"/>
          <p:cNvSpPr/>
          <p:nvPr/>
        </p:nvSpPr>
        <p:spPr>
          <a:xfrm>
            <a:off x="7415784" y="1417320"/>
            <a:ext cx="1965960" cy="50292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000" b="1">
                <a:solidFill>
                  <a:srgbClr val="FFFFFF"/>
                </a:solidFill>
                <a:latin typeface="Calibri"/>
              </a:rPr>
              <a:t>4. Reach significance (95%)</a:t>
            </a:r>
          </a:p>
        </p:txBody>
      </p:sp>
      <p:sp>
        <p:nvSpPr>
          <p:cNvPr id="16" name="TextBox 15"/>
          <p:cNvSpPr txBox="1"/>
          <p:nvPr/>
        </p:nvSpPr>
        <p:spPr>
          <a:xfrm>
            <a:off x="9381744" y="1417320"/>
            <a:ext cx="292608"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00A86B"/>
                </a:solidFill>
                <a:latin typeface="Calibri"/>
              </a:rPr>
              <a:t>→</a:t>
            </a:r>
          </a:p>
        </p:txBody>
      </p:sp>
      <p:sp>
        <p:nvSpPr>
          <p:cNvPr id="17" name="Rounded Rectangle 16"/>
          <p:cNvSpPr/>
          <p:nvPr/>
        </p:nvSpPr>
        <p:spPr>
          <a:xfrm>
            <a:off x="9674352" y="1417320"/>
            <a:ext cx="1965960" cy="502920"/>
          </a:xfrm>
          <a:prstGeom prst="roundRect">
            <a:avLst>
              <a:gd name="adj" fmla="val 3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000" b="1">
                <a:solidFill>
                  <a:srgbClr val="FFFFFF"/>
                </a:solidFill>
                <a:latin typeface="Calibri"/>
              </a:rPr>
              <a:t>5. Ship winner, iterate</a:t>
            </a:r>
          </a:p>
        </p:txBody>
      </p:sp>
      <p:graphicFrame>
        <p:nvGraphicFramePr>
          <p:cNvPr id="18" name="Table 17"/>
          <p:cNvGraphicFramePr>
            <a:graphicFrameLocks noGrp="1"/>
          </p:cNvGraphicFramePr>
          <p:nvPr/>
        </p:nvGraphicFramePr>
        <p:xfrm>
          <a:off x="640080" y="2194560"/>
          <a:ext cx="10927078" cy="3063240"/>
        </p:xfrm>
        <a:graphic>
          <a:graphicData uri="http://schemas.openxmlformats.org/drawingml/2006/table">
            <a:tbl>
              <a:tblPr firstRow="1" bandRow="0">
                <a:tableStyleId>{5C22544A-7EE6-4342-B048-85BDC9FD1C3A}</a:tableStyleId>
              </a:tblPr>
              <a:tblGrid>
                <a:gridCol w="1728577"/>
                <a:gridCol w="2160722"/>
                <a:gridCol w="2407661"/>
                <a:gridCol w="2037252"/>
                <a:gridCol w="2592866"/>
              </a:tblGrid>
              <a:tr h="411480">
                <a:tc>
                  <a:txBody>
                    <a:bodyPr/>
                    <a:lstStyle/>
                    <a:p>
                      <a:pPr>
                        <a:lnSpc>
                          <a:spcPct val="98000"/>
                        </a:lnSpc>
                      </a:pPr>
                      <a:r>
                        <a:rPr sz="1050" b="1">
                          <a:solidFill>
                            <a:srgbClr val="FFFFFF"/>
                          </a:solidFill>
                          <a:latin typeface="Calibri"/>
                        </a:rPr>
                        <a:t>What we test</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Variant A</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Variant B</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Primary KPI (winner)</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Success looks like</a:t>
                      </a:r>
                    </a:p>
                  </a:txBody>
                  <a:tcPr marL="76200" marR="76200" marT="38100" marB="38100" anchor="ctr">
                    <a:solidFill>
                      <a:srgbClr val="0B1F3A"/>
                    </a:solidFill>
                  </a:tcPr>
                </a:tc>
              </a:tr>
              <a:tr h="530352">
                <a:tc>
                  <a:txBody>
                    <a:bodyPr/>
                    <a:lstStyle/>
                    <a:p>
                      <a:pPr>
                        <a:lnSpc>
                          <a:spcPct val="98000"/>
                        </a:lnSpc>
                      </a:pPr>
                      <a:r>
                        <a:rPr sz="1000" b="1">
                          <a:solidFill>
                            <a:srgbClr val="1A2A33"/>
                          </a:solidFill>
                          <a:latin typeface="Calibri"/>
                        </a:rPr>
                        <a:t>Ad creative</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Aspirational glow-up</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Comedy/skit 'broke' humour</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CTR &amp; CAC</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≥20% lower CAC at equal CTR</a:t>
                      </a:r>
                    </a:p>
                  </a:txBody>
                  <a:tcPr marL="76200" marR="76200" marT="38100" marB="38100" anchor="ctr">
                    <a:solidFill>
                      <a:srgbClr val="FFFFFF"/>
                    </a:solidFill>
                  </a:tcPr>
                </a:tc>
              </a:tr>
              <a:tr h="530352">
                <a:tc>
                  <a:txBody>
                    <a:bodyPr/>
                    <a:lstStyle/>
                    <a:p>
                      <a:pPr>
                        <a:lnSpc>
                          <a:spcPct val="98000"/>
                        </a:lnSpc>
                      </a:pPr>
                      <a:r>
                        <a:rPr sz="1000" b="1">
                          <a:solidFill>
                            <a:srgbClr val="1A2A33"/>
                          </a:solidFill>
                          <a:latin typeface="Calibri"/>
                        </a:rPr>
                        <a:t>Messaging</a:t>
                      </a:r>
                    </a:p>
                  </a:txBody>
                  <a:tcPr marL="76200" marR="76200" marT="38100" marB="38100" anchor="ctr">
                    <a:solidFill>
                      <a:srgbClr val="E3F6ED"/>
                    </a:solidFill>
                  </a:tcPr>
                </a:tc>
                <a:tc>
                  <a:txBody>
                    <a:bodyPr/>
                    <a:lstStyle/>
                    <a:p>
                      <a:pPr>
                        <a:lnSpc>
                          <a:spcPct val="98000"/>
                        </a:lnSpc>
                      </a:pPr>
                      <a:r>
                        <a:rPr sz="1000" b="0">
                          <a:solidFill>
                            <a:srgbClr val="1A2A33"/>
                          </a:solidFill>
                          <a:latin typeface="Calibri"/>
                        </a:rPr>
                        <a:t>“Save automatically”</a:t>
                      </a:r>
                    </a:p>
                  </a:txBody>
                  <a:tcPr marL="76200" marR="76200" marT="38100" marB="38100" anchor="ctr">
                    <a:solidFill>
                      <a:srgbClr val="E3F6ED"/>
                    </a:solidFill>
                  </a:tcPr>
                </a:tc>
                <a:tc>
                  <a:txBody>
                    <a:bodyPr/>
                    <a:lstStyle/>
                    <a:p>
                      <a:pPr>
                        <a:lnSpc>
                          <a:spcPct val="98000"/>
                        </a:lnSpc>
                      </a:pPr>
                      <a:r>
                        <a:rPr sz="1000" b="0">
                          <a:solidFill>
                            <a:srgbClr val="1A2A33"/>
                          </a:solidFill>
                          <a:latin typeface="Calibri"/>
                        </a:rPr>
                        <a:t>“Never be broke before month-end”</a:t>
                      </a:r>
                    </a:p>
                  </a:txBody>
                  <a:tcPr marL="76200" marR="76200" marT="38100" marB="38100" anchor="ctr">
                    <a:solidFill>
                      <a:srgbClr val="E3F6ED"/>
                    </a:solidFill>
                  </a:tcPr>
                </a:tc>
                <a:tc>
                  <a:txBody>
                    <a:bodyPr/>
                    <a:lstStyle/>
                    <a:p>
                      <a:pPr>
                        <a:lnSpc>
                          <a:spcPct val="98000"/>
                        </a:lnSpc>
                      </a:pPr>
                      <a:r>
                        <a:rPr sz="1000" b="0">
                          <a:solidFill>
                            <a:srgbClr val="1A2A33"/>
                          </a:solidFill>
                          <a:latin typeface="Calibri"/>
                        </a:rPr>
                        <a:t>Install conv. rate</a:t>
                      </a:r>
                    </a:p>
                  </a:txBody>
                  <a:tcPr marL="76200" marR="76200" marT="38100" marB="38100" anchor="ctr">
                    <a:solidFill>
                      <a:srgbClr val="E3F6ED"/>
                    </a:solidFill>
                  </a:tcPr>
                </a:tc>
                <a:tc>
                  <a:txBody>
                    <a:bodyPr/>
                    <a:lstStyle/>
                    <a:p>
                      <a:pPr>
                        <a:lnSpc>
                          <a:spcPct val="98000"/>
                        </a:lnSpc>
                      </a:pPr>
                      <a:r>
                        <a:rPr sz="1000" b="0">
                          <a:solidFill>
                            <a:srgbClr val="1A2A33"/>
                          </a:solidFill>
                          <a:latin typeface="Calibri"/>
                        </a:rPr>
                        <a:t>≥15% lift in install→signup</a:t>
                      </a:r>
                    </a:p>
                  </a:txBody>
                  <a:tcPr marL="76200" marR="76200" marT="38100" marB="38100" anchor="ctr">
                    <a:solidFill>
                      <a:srgbClr val="E3F6ED"/>
                    </a:solidFill>
                  </a:tcPr>
                </a:tc>
              </a:tr>
              <a:tr h="530352">
                <a:tc>
                  <a:txBody>
                    <a:bodyPr/>
                    <a:lstStyle/>
                    <a:p>
                      <a:pPr>
                        <a:lnSpc>
                          <a:spcPct val="98000"/>
                        </a:lnSpc>
                      </a:pPr>
                      <a:r>
                        <a:rPr sz="1000" b="1">
                          <a:solidFill>
                            <a:srgbClr val="1A2A33"/>
                          </a:solidFill>
                          <a:latin typeface="Calibri"/>
                        </a:rPr>
                        <a:t>Call-to-action</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“Start Saving”</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“Set Yourself”</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Tap-through rate</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Higher CTR at 95% confidence</a:t>
                      </a:r>
                    </a:p>
                  </a:txBody>
                  <a:tcPr marL="76200" marR="76200" marT="38100" marB="38100" anchor="ctr">
                    <a:solidFill>
                      <a:srgbClr val="FFFFFF"/>
                    </a:solidFill>
                  </a:tcPr>
                </a:tc>
              </a:tr>
              <a:tr h="530352">
                <a:tc>
                  <a:txBody>
                    <a:bodyPr/>
                    <a:lstStyle/>
                    <a:p>
                      <a:pPr>
                        <a:lnSpc>
                          <a:spcPct val="98000"/>
                        </a:lnSpc>
                      </a:pPr>
                      <a:r>
                        <a:rPr sz="1000" b="1">
                          <a:solidFill>
                            <a:srgbClr val="1A2A33"/>
                          </a:solidFill>
                          <a:latin typeface="Calibri"/>
                        </a:rPr>
                        <a:t>Referral incentive</a:t>
                      </a:r>
                    </a:p>
                  </a:txBody>
                  <a:tcPr marL="76200" marR="76200" marT="38100" marB="38100" anchor="ctr">
                    <a:solidFill>
                      <a:srgbClr val="E3F6ED"/>
                    </a:solidFill>
                  </a:tcPr>
                </a:tc>
                <a:tc>
                  <a:txBody>
                    <a:bodyPr/>
                    <a:lstStyle/>
                    <a:p>
                      <a:pPr>
                        <a:lnSpc>
                          <a:spcPct val="98000"/>
                        </a:lnSpc>
                      </a:pPr>
                      <a:r>
                        <a:rPr sz="1000" b="0">
                          <a:solidFill>
                            <a:srgbClr val="1A2A33"/>
                          </a:solidFill>
                          <a:latin typeface="Calibri"/>
                        </a:rPr>
                        <a:t>Give ₦1k / Get ₦1k</a:t>
                      </a:r>
                    </a:p>
                  </a:txBody>
                  <a:tcPr marL="76200" marR="76200" marT="38100" marB="38100" anchor="ctr">
                    <a:solidFill>
                      <a:srgbClr val="E3F6ED"/>
                    </a:solidFill>
                  </a:tcPr>
                </a:tc>
                <a:tc>
                  <a:txBody>
                    <a:bodyPr/>
                    <a:lstStyle/>
                    <a:p>
                      <a:pPr>
                        <a:lnSpc>
                          <a:spcPct val="98000"/>
                        </a:lnSpc>
                      </a:pPr>
                      <a:r>
                        <a:rPr sz="1000" b="0">
                          <a:solidFill>
                            <a:srgbClr val="1A2A33"/>
                          </a:solidFill>
                          <a:latin typeface="Calibri"/>
                        </a:rPr>
                        <a:t>Give 2 weeks Premium</a:t>
                      </a:r>
                    </a:p>
                  </a:txBody>
                  <a:tcPr marL="76200" marR="76200" marT="38100" marB="38100" anchor="ctr">
                    <a:solidFill>
                      <a:srgbClr val="E3F6ED"/>
                    </a:solidFill>
                  </a:tcPr>
                </a:tc>
                <a:tc>
                  <a:txBody>
                    <a:bodyPr/>
                    <a:lstStyle/>
                    <a:p>
                      <a:pPr>
                        <a:lnSpc>
                          <a:spcPct val="98000"/>
                        </a:lnSpc>
                      </a:pPr>
                      <a:r>
                        <a:rPr sz="1000" b="0">
                          <a:solidFill>
                            <a:srgbClr val="1A2A33"/>
                          </a:solidFill>
                          <a:latin typeface="Calibri"/>
                        </a:rPr>
                        <a:t>Referral rate &amp; ref-CAC</a:t>
                      </a:r>
                    </a:p>
                  </a:txBody>
                  <a:tcPr marL="76200" marR="76200" marT="38100" marB="38100" anchor="ctr">
                    <a:solidFill>
                      <a:srgbClr val="E3F6ED"/>
                    </a:solidFill>
                  </a:tcPr>
                </a:tc>
                <a:tc>
                  <a:txBody>
                    <a:bodyPr/>
                    <a:lstStyle/>
                    <a:p>
                      <a:pPr>
                        <a:lnSpc>
                          <a:spcPct val="98000"/>
                        </a:lnSpc>
                      </a:pPr>
                      <a:r>
                        <a:rPr sz="1000" b="0">
                          <a:solidFill>
                            <a:srgbClr val="1A2A33"/>
                          </a:solidFill>
                          <a:latin typeface="Calibri"/>
                        </a:rPr>
                        <a:t>Higher K-factor at lower cost</a:t>
                      </a:r>
                    </a:p>
                  </a:txBody>
                  <a:tcPr marL="76200" marR="76200" marT="38100" marB="38100" anchor="ctr">
                    <a:solidFill>
                      <a:srgbClr val="E3F6ED"/>
                    </a:solidFill>
                  </a:tcPr>
                </a:tc>
              </a:tr>
              <a:tr h="530352">
                <a:tc>
                  <a:txBody>
                    <a:bodyPr/>
                    <a:lstStyle/>
                    <a:p>
                      <a:pPr>
                        <a:lnSpc>
                          <a:spcPct val="98000"/>
                        </a:lnSpc>
                      </a:pPr>
                      <a:r>
                        <a:rPr sz="1000" b="1">
                          <a:solidFill>
                            <a:srgbClr val="1A2A33"/>
                          </a:solidFill>
                          <a:latin typeface="Calibri"/>
                        </a:rPr>
                        <a:t>Push notification</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Plain reminder</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Personalised + emoji streak</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Open &amp; D7 retention</a:t>
                      </a:r>
                    </a:p>
                  </a:txBody>
                  <a:tcPr marL="76200" marR="76200" marT="38100" marB="38100" anchor="ctr">
                    <a:solidFill>
                      <a:srgbClr val="FFFFFF"/>
                    </a:solidFill>
                  </a:tcPr>
                </a:tc>
                <a:tc>
                  <a:txBody>
                    <a:bodyPr/>
                    <a:lstStyle/>
                    <a:p>
                      <a:pPr>
                        <a:lnSpc>
                          <a:spcPct val="98000"/>
                        </a:lnSpc>
                      </a:pPr>
                      <a:r>
                        <a:rPr sz="1000" b="0">
                          <a:solidFill>
                            <a:srgbClr val="1A2A33"/>
                          </a:solidFill>
                          <a:latin typeface="Calibri"/>
                        </a:rPr>
                        <a:t>≥10% higher open &amp; D7 keep</a:t>
                      </a:r>
                    </a:p>
                  </a:txBody>
                  <a:tcPr marL="76200" marR="76200" marT="38100" marB="38100" anchor="ctr">
                    <a:solidFill>
                      <a:srgbClr val="FFFFFF"/>
                    </a:solidFill>
                  </a:tcPr>
                </a:tc>
              </a:tr>
            </a:tbl>
          </a:graphicData>
        </a:graphic>
      </p:graphicFrame>
      <p:sp>
        <p:nvSpPr>
          <p:cNvPr id="19" name="TextBox 18"/>
          <p:cNvSpPr txBox="1"/>
          <p:nvPr/>
        </p:nvSpPr>
        <p:spPr>
          <a:xfrm>
            <a:off x="640080" y="5989320"/>
            <a:ext cx="10972800"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0A86B"/>
                </a:solidFill>
                <a:latin typeface="Calibri"/>
              </a:rPr>
              <a:t>Discipline:  </a:t>
            </a:r>
            <a:r>
              <a:rPr sz="1200" b="0" i="0">
                <a:solidFill>
                  <a:srgbClr val="1A2A33"/>
                </a:solidFill>
                <a:latin typeface="Calibri"/>
              </a:rPr>
              <a:t>one variable per test, pre-declared KPI &amp; sample size, run to statistical significance before calling a winner — then fold the winner into the next test. Compounding small wins is how CAC falls week over week.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0" y="-1828800"/>
            <a:ext cx="5486400" cy="5486400"/>
          </a:xfrm>
          <a:prstGeom prst="ellipse">
            <a:avLst/>
          </a:prstGeom>
          <a:solidFill>
            <a:srgbClr val="1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164592" cy="310896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88720" y="1783080"/>
            <a:ext cx="1371600" cy="13716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6400" b="1">
                <a:solidFill>
                  <a:srgbClr val="FFFFFF"/>
                </a:solidFill>
                <a:latin typeface="Calibri"/>
              </a:rPr>
              <a:t>E</a:t>
            </a:r>
          </a:p>
        </p:txBody>
      </p:sp>
      <p:sp>
        <p:nvSpPr>
          <p:cNvPr id="7" name="TextBox 6"/>
          <p:cNvSpPr txBox="1"/>
          <p:nvPr/>
        </p:nvSpPr>
        <p:spPr>
          <a:xfrm>
            <a:off x="2834640" y="1828800"/>
            <a:ext cx="82296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D3A3"/>
                </a:solidFill>
                <a:latin typeface="Calibri"/>
              </a:rPr>
              <a:t>SECTION E   •   10 MARKS</a:t>
            </a:r>
          </a:p>
        </p:txBody>
      </p:sp>
      <p:sp>
        <p:nvSpPr>
          <p:cNvPr id="8" name="TextBox 7"/>
          <p:cNvSpPr txBox="1"/>
          <p:nvPr/>
        </p:nvSpPr>
        <p:spPr>
          <a:xfrm>
            <a:off x="2834640" y="2240280"/>
            <a:ext cx="8595360" cy="1097280"/>
          </a:xfrm>
          <a:prstGeom prst="rect">
            <a:avLst/>
          </a:prstGeom>
          <a:noFill/>
        </p:spPr>
        <p:txBody>
          <a:bodyPr wrap="square" anchor="t" lIns="0" rIns="0" tIns="0" bIns="0">
            <a:spAutoFit/>
          </a:bodyPr>
          <a:lstStyle/>
          <a:p>
            <a:pPr algn="l">
              <a:lnSpc>
                <a:spcPct val="100000"/>
              </a:lnSpc>
              <a:spcBef>
                <a:spcPts val="0"/>
              </a:spcBef>
              <a:spcAft>
                <a:spcPts val="400"/>
              </a:spcAft>
            </a:pPr>
            <a:r>
              <a:rPr sz="3400" b="1" i="0">
                <a:solidFill>
                  <a:srgbClr val="FFFFFF"/>
                </a:solidFill>
                <a:latin typeface="Calibri"/>
              </a:rPr>
              <a:t>Execution &amp; Stakeholder Management</a:t>
            </a:r>
          </a:p>
        </p:txBody>
      </p:sp>
      <p:sp>
        <p:nvSpPr>
          <p:cNvPr id="9" name="TextBox 8"/>
          <p:cNvSpPr txBox="1"/>
          <p:nvPr/>
        </p:nvSpPr>
        <p:spPr>
          <a:xfrm>
            <a:off x="2862072" y="3429000"/>
            <a:ext cx="8229600"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0" i="1">
                <a:solidFill>
                  <a:srgbClr val="D9E0DF"/>
                </a:solidFill>
                <a:latin typeface="Calibri"/>
              </a:rPr>
              <a:t>Turning strategy into a calendar, relationships and a reporting rhythm.</a:t>
            </a:r>
          </a:p>
        </p:txBody>
      </p:sp>
      <p:sp>
        <p:nvSpPr>
          <p:cNvPr id="10" name="Oval 9"/>
          <p:cNvSpPr/>
          <p:nvPr/>
        </p:nvSpPr>
        <p:spPr>
          <a:xfrm>
            <a:off x="2862072" y="4224528"/>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4160520"/>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A 2-week content &amp; editorial calendar</a:t>
            </a:r>
          </a:p>
        </p:txBody>
      </p:sp>
      <p:sp>
        <p:nvSpPr>
          <p:cNvPr id="12" name="Oval 11"/>
          <p:cNvSpPr/>
          <p:nvPr/>
        </p:nvSpPr>
        <p:spPr>
          <a:xfrm>
            <a:off x="2862072" y="4645152"/>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54680" y="4581144"/>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Stakeholder relationship management plan</a:t>
            </a:r>
          </a:p>
        </p:txBody>
      </p:sp>
      <p:sp>
        <p:nvSpPr>
          <p:cNvPr id="14" name="Oval 13"/>
          <p:cNvSpPr/>
          <p:nvPr/>
        </p:nvSpPr>
        <p:spPr>
          <a:xfrm>
            <a:off x="2862072" y="5065776"/>
            <a:ext cx="164592" cy="164592"/>
          </a:xfrm>
          <a:prstGeom prst="ellipse">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5001768"/>
            <a:ext cx="7863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0" i="0">
                <a:solidFill>
                  <a:srgbClr val="FFFFFF"/>
                </a:solidFill>
                <a:latin typeface="Calibri"/>
              </a:rPr>
              <a:t>Documentation &amp; reporting system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E11 · CONTENT STRATEGY</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2-Week Content Calendar — Week 1: Launch &amp; Awareness</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27</a:t>
            </a:r>
          </a:p>
        </p:txBody>
      </p:sp>
      <p:graphicFrame>
        <p:nvGraphicFramePr>
          <p:cNvPr id="9" name="Table 8"/>
          <p:cNvGraphicFramePr>
            <a:graphicFrameLocks noGrp="1"/>
          </p:cNvGraphicFramePr>
          <p:nvPr/>
        </p:nvGraphicFramePr>
        <p:xfrm>
          <a:off x="502920" y="1463040"/>
          <a:ext cx="11201398" cy="4590288"/>
        </p:xfrm>
        <a:graphic>
          <a:graphicData uri="http://schemas.openxmlformats.org/drawingml/2006/table">
            <a:tbl>
              <a:tblPr firstRow="1" bandRow="0">
                <a:tableStyleId>{5C22544A-7EE6-4342-B048-85BDC9FD1C3A}</a:tableStyleId>
              </a:tblPr>
              <a:tblGrid>
                <a:gridCol w="1150414"/>
                <a:gridCol w="1816443"/>
                <a:gridCol w="4964944"/>
                <a:gridCol w="1695347"/>
                <a:gridCol w="1574250"/>
              </a:tblGrid>
              <a:tr h="365760">
                <a:tc>
                  <a:txBody>
                    <a:bodyPr/>
                    <a:lstStyle/>
                    <a:p>
                      <a:pPr>
                        <a:lnSpc>
                          <a:spcPct val="98000"/>
                        </a:lnSpc>
                      </a:pPr>
                      <a:r>
                        <a:rPr sz="1050" b="1">
                          <a:solidFill>
                            <a:srgbClr val="FFFFFF"/>
                          </a:solidFill>
                          <a:latin typeface="Calibri"/>
                        </a:rPr>
                        <a:t>Day</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Theme</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Content idea / format</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Channel</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Goal</a:t>
                      </a:r>
                    </a:p>
                  </a:txBody>
                  <a:tcPr marL="76200" marR="76200" marT="38100" marB="38100" anchor="ctr">
                    <a:solidFill>
                      <a:srgbClr val="0B1F3A"/>
                    </a:solidFill>
                  </a:tcPr>
                </a:tc>
              </a:tr>
              <a:tr h="603504">
                <a:tc>
                  <a:txBody>
                    <a:bodyPr/>
                    <a:lstStyle/>
                    <a:p>
                      <a:pPr>
                        <a:lnSpc>
                          <a:spcPct val="98000"/>
                        </a:lnSpc>
                      </a:pPr>
                      <a:r>
                        <a:rPr sz="950" b="1">
                          <a:solidFill>
                            <a:srgbClr val="1A2A33"/>
                          </a:solidFill>
                          <a:latin typeface="Calibri"/>
                        </a:rPr>
                        <a:t>Mon</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Launch / Awareness</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Teaser reveal: '#MoniChallenge starts now' hype video</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TikTok, IG, X</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Awareness</a:t>
                      </a:r>
                    </a:p>
                  </a:txBody>
                  <a:tcPr marL="76200" marR="76200" marT="38100" marB="38100" anchor="ctr">
                    <a:solidFill>
                      <a:srgbClr val="FFFFFF"/>
                    </a:solidFill>
                  </a:tcPr>
                </a:tc>
              </a:tr>
              <a:tr h="603504">
                <a:tc>
                  <a:txBody>
                    <a:bodyPr/>
                    <a:lstStyle/>
                    <a:p>
                      <a:pPr>
                        <a:lnSpc>
                          <a:spcPct val="98000"/>
                        </a:lnSpc>
                      </a:pPr>
                      <a:r>
                        <a:rPr sz="950" b="1">
                          <a:solidFill>
                            <a:srgbClr val="1A2A33"/>
                          </a:solidFill>
                          <a:latin typeface="Calibri"/>
                        </a:rPr>
                        <a:t>Tue</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Education</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Carousel: '5 reasons you're broke before month-end' (+fix)</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IG, X</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Educate</a:t>
                      </a:r>
                    </a:p>
                  </a:txBody>
                  <a:tcPr marL="76200" marR="76200" marT="38100" marB="38100" anchor="ctr">
                    <a:solidFill>
                      <a:srgbClr val="E3F6ED"/>
                    </a:solidFill>
                  </a:tcPr>
                </a:tc>
              </a:tr>
              <a:tr h="603504">
                <a:tc>
                  <a:txBody>
                    <a:bodyPr/>
                    <a:lstStyle/>
                    <a:p>
                      <a:pPr>
                        <a:lnSpc>
                          <a:spcPct val="98000"/>
                        </a:lnSpc>
                      </a:pPr>
                      <a:r>
                        <a:rPr sz="950" b="1">
                          <a:solidFill>
                            <a:srgbClr val="1A2A33"/>
                          </a:solidFill>
                          <a:latin typeface="Calibri"/>
                        </a:rPr>
                        <a:t>Wed</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Influencer</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Comedy creator skit: 'POV: your money before vs after Moni'</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TikTok, IG</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Reach</a:t>
                      </a:r>
                    </a:p>
                  </a:txBody>
                  <a:tcPr marL="76200" marR="76200" marT="38100" marB="38100" anchor="ctr">
                    <a:solidFill>
                      <a:srgbClr val="FFFFFF"/>
                    </a:solidFill>
                  </a:tcPr>
                </a:tc>
              </a:tr>
              <a:tr h="603504">
                <a:tc>
                  <a:txBody>
                    <a:bodyPr/>
                    <a:lstStyle/>
                    <a:p>
                      <a:pPr>
                        <a:lnSpc>
                          <a:spcPct val="98000"/>
                        </a:lnSpc>
                      </a:pPr>
                      <a:r>
                        <a:rPr sz="950" b="1">
                          <a:solidFill>
                            <a:srgbClr val="1A2A33"/>
                          </a:solidFill>
                          <a:latin typeface="Calibri"/>
                        </a:rPr>
                        <a:t>Thu</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Community</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WhatsApp/Telegram group launch + Day-1 challenge prompt</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Community</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Activate</a:t>
                      </a:r>
                    </a:p>
                  </a:txBody>
                  <a:tcPr marL="76200" marR="76200" marT="38100" marB="38100" anchor="ctr">
                    <a:solidFill>
                      <a:srgbClr val="E3F6ED"/>
                    </a:solidFill>
                  </a:tcPr>
                </a:tc>
              </a:tr>
              <a:tr h="603504">
                <a:tc>
                  <a:txBody>
                    <a:bodyPr/>
                    <a:lstStyle/>
                    <a:p>
                      <a:pPr>
                        <a:lnSpc>
                          <a:spcPct val="98000"/>
                        </a:lnSpc>
                      </a:pPr>
                      <a:r>
                        <a:rPr sz="950" b="1">
                          <a:solidFill>
                            <a:srgbClr val="1A2A33"/>
                          </a:solidFill>
                          <a:latin typeface="Calibri"/>
                        </a:rPr>
                        <a:t>Fri</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Trust</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Founder talk: 'Your money is insured — here's how' explainer</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X, IG, PR</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Trust</a:t>
                      </a:r>
                    </a:p>
                  </a:txBody>
                  <a:tcPr marL="76200" marR="76200" marT="38100" marB="38100" anchor="ctr">
                    <a:solidFill>
                      <a:srgbClr val="FFFFFF"/>
                    </a:solidFill>
                  </a:tcPr>
                </a:tc>
              </a:tr>
              <a:tr h="603504">
                <a:tc>
                  <a:txBody>
                    <a:bodyPr/>
                    <a:lstStyle/>
                    <a:p>
                      <a:pPr>
                        <a:lnSpc>
                          <a:spcPct val="98000"/>
                        </a:lnSpc>
                      </a:pPr>
                      <a:r>
                        <a:rPr sz="950" b="1">
                          <a:solidFill>
                            <a:srgbClr val="1A2A33"/>
                          </a:solidFill>
                          <a:latin typeface="Calibri"/>
                        </a:rPr>
                        <a:t>Sat</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Engagement</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Poll + UGC repost: 'What are you saving for?'</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IG Stories, X</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Engage</a:t>
                      </a:r>
                    </a:p>
                  </a:txBody>
                  <a:tcPr marL="76200" marR="76200" marT="38100" marB="38100" anchor="ctr">
                    <a:solidFill>
                      <a:srgbClr val="E3F6ED"/>
                    </a:solidFill>
                  </a:tcPr>
                </a:tc>
              </a:tr>
              <a:tr h="603504">
                <a:tc>
                  <a:txBody>
                    <a:bodyPr/>
                    <a:lstStyle/>
                    <a:p>
                      <a:pPr>
                        <a:lnSpc>
                          <a:spcPct val="98000"/>
                        </a:lnSpc>
                      </a:pPr>
                      <a:r>
                        <a:rPr sz="950" b="1">
                          <a:solidFill>
                            <a:srgbClr val="1A2A33"/>
                          </a:solidFill>
                          <a:latin typeface="Calibri"/>
                        </a:rPr>
                        <a:t>Sun</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Inspiration</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Goal spotlight: real user's savings target &amp; streak</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IG, TikTok</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Retain</a:t>
                      </a:r>
                    </a:p>
                  </a:txBody>
                  <a:tcPr marL="76200" marR="76200" marT="38100" marB="38100"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E11 · CONTENT STRATEGY</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2-Week Content Calendar — Week 2: Momentum, Referral &amp; Proof</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28</a:t>
            </a:r>
          </a:p>
        </p:txBody>
      </p:sp>
      <p:graphicFrame>
        <p:nvGraphicFramePr>
          <p:cNvPr id="9" name="Table 8"/>
          <p:cNvGraphicFramePr>
            <a:graphicFrameLocks noGrp="1"/>
          </p:cNvGraphicFramePr>
          <p:nvPr/>
        </p:nvGraphicFramePr>
        <p:xfrm>
          <a:off x="502920" y="1463040"/>
          <a:ext cx="11201398" cy="4590288"/>
        </p:xfrm>
        <a:graphic>
          <a:graphicData uri="http://schemas.openxmlformats.org/drawingml/2006/table">
            <a:tbl>
              <a:tblPr firstRow="1" bandRow="0">
                <a:tableStyleId>{5C22544A-7EE6-4342-B048-85BDC9FD1C3A}</a:tableStyleId>
              </a:tblPr>
              <a:tblGrid>
                <a:gridCol w="1150414"/>
                <a:gridCol w="1816443"/>
                <a:gridCol w="4964944"/>
                <a:gridCol w="1695347"/>
                <a:gridCol w="1574250"/>
              </a:tblGrid>
              <a:tr h="365760">
                <a:tc>
                  <a:txBody>
                    <a:bodyPr/>
                    <a:lstStyle/>
                    <a:p>
                      <a:pPr>
                        <a:lnSpc>
                          <a:spcPct val="98000"/>
                        </a:lnSpc>
                      </a:pPr>
                      <a:r>
                        <a:rPr sz="1050" b="1">
                          <a:solidFill>
                            <a:srgbClr val="FFFFFF"/>
                          </a:solidFill>
                          <a:latin typeface="Calibri"/>
                        </a:rPr>
                        <a:t>Day</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Theme</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Content idea / format</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Channel</a:t>
                      </a:r>
                    </a:p>
                  </a:txBody>
                  <a:tcPr marL="76200" marR="76200" marT="38100" marB="38100" anchor="ctr">
                    <a:solidFill>
                      <a:srgbClr val="0B1F3A"/>
                    </a:solidFill>
                  </a:tcPr>
                </a:tc>
                <a:tc>
                  <a:txBody>
                    <a:bodyPr/>
                    <a:lstStyle/>
                    <a:p>
                      <a:pPr>
                        <a:lnSpc>
                          <a:spcPct val="98000"/>
                        </a:lnSpc>
                      </a:pPr>
                      <a:r>
                        <a:rPr sz="1050" b="1">
                          <a:solidFill>
                            <a:srgbClr val="FFFFFF"/>
                          </a:solidFill>
                          <a:latin typeface="Calibri"/>
                        </a:rPr>
                        <a:t>Goal</a:t>
                      </a:r>
                    </a:p>
                  </a:txBody>
                  <a:tcPr marL="76200" marR="76200" marT="38100" marB="38100" anchor="ctr">
                    <a:solidFill>
                      <a:srgbClr val="0B1F3A"/>
                    </a:solidFill>
                  </a:tcPr>
                </a:tc>
              </a:tr>
              <a:tr h="603504">
                <a:tc>
                  <a:txBody>
                    <a:bodyPr/>
                    <a:lstStyle/>
                    <a:p>
                      <a:pPr>
                        <a:lnSpc>
                          <a:spcPct val="98000"/>
                        </a:lnSpc>
                      </a:pPr>
                      <a:r>
                        <a:rPr sz="950" b="1">
                          <a:solidFill>
                            <a:srgbClr val="1A2A33"/>
                          </a:solidFill>
                          <a:latin typeface="Calibri"/>
                        </a:rPr>
                        <a:t>Mon</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Progress</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Leaderboard reveal + badge drops for top savers</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IG, TikTok</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Retain</a:t>
                      </a:r>
                    </a:p>
                  </a:txBody>
                  <a:tcPr marL="76200" marR="76200" marT="38100" marB="38100" anchor="ctr">
                    <a:solidFill>
                      <a:srgbClr val="FFFFFF"/>
                    </a:solidFill>
                  </a:tcPr>
                </a:tc>
              </a:tr>
              <a:tr h="603504">
                <a:tc>
                  <a:txBody>
                    <a:bodyPr/>
                    <a:lstStyle/>
                    <a:p>
                      <a:pPr>
                        <a:lnSpc>
                          <a:spcPct val="98000"/>
                        </a:lnSpc>
                      </a:pPr>
                      <a:r>
                        <a:rPr sz="950" b="1">
                          <a:solidFill>
                            <a:srgbClr val="1A2A33"/>
                          </a:solidFill>
                          <a:latin typeface="Calibri"/>
                        </a:rPr>
                        <a:t>Tue</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Education</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Reel: 'How auto-save round-ups actually work' (60s)</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TikTok, IG</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Educate</a:t>
                      </a:r>
                    </a:p>
                  </a:txBody>
                  <a:tcPr marL="76200" marR="76200" marT="38100" marB="38100" anchor="ctr">
                    <a:solidFill>
                      <a:srgbClr val="E3F6ED"/>
                    </a:solidFill>
                  </a:tcPr>
                </a:tc>
              </a:tr>
              <a:tr h="603504">
                <a:tc>
                  <a:txBody>
                    <a:bodyPr/>
                    <a:lstStyle/>
                    <a:p>
                      <a:pPr>
                        <a:lnSpc>
                          <a:spcPct val="98000"/>
                        </a:lnSpc>
                      </a:pPr>
                      <a:r>
                        <a:rPr sz="950" b="1">
                          <a:solidFill>
                            <a:srgbClr val="1A2A33"/>
                          </a:solidFill>
                          <a:latin typeface="Calibri"/>
                        </a:rPr>
                        <a:t>Wed</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Influencer</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Finance creator: 'I saved ₦50k on my stipend — here's how'</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X thread, IG</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Convert</a:t>
                      </a:r>
                    </a:p>
                  </a:txBody>
                  <a:tcPr marL="76200" marR="76200" marT="38100" marB="38100" anchor="ctr">
                    <a:solidFill>
                      <a:srgbClr val="FFFFFF"/>
                    </a:solidFill>
                  </a:tcPr>
                </a:tc>
              </a:tr>
              <a:tr h="603504">
                <a:tc>
                  <a:txBody>
                    <a:bodyPr/>
                    <a:lstStyle/>
                    <a:p>
                      <a:pPr>
                        <a:lnSpc>
                          <a:spcPct val="98000"/>
                        </a:lnSpc>
                      </a:pPr>
                      <a:r>
                        <a:rPr sz="950" b="1">
                          <a:solidFill>
                            <a:srgbClr val="1A2A33"/>
                          </a:solidFill>
                          <a:latin typeface="Calibri"/>
                        </a:rPr>
                        <a:t>Thu</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Referral push</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Referral week: 'Give ₦1k, Get ₦1k' shareable cards</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All channels</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Referral</a:t>
                      </a:r>
                    </a:p>
                  </a:txBody>
                  <a:tcPr marL="76200" marR="76200" marT="38100" marB="38100" anchor="ctr">
                    <a:solidFill>
                      <a:srgbClr val="E3F6ED"/>
                    </a:solidFill>
                  </a:tcPr>
                </a:tc>
              </a:tr>
              <a:tr h="603504">
                <a:tc>
                  <a:txBody>
                    <a:bodyPr/>
                    <a:lstStyle/>
                    <a:p>
                      <a:pPr>
                        <a:lnSpc>
                          <a:spcPct val="98000"/>
                        </a:lnSpc>
                      </a:pPr>
                      <a:r>
                        <a:rPr sz="950" b="1">
                          <a:solidFill>
                            <a:srgbClr val="1A2A33"/>
                          </a:solidFill>
                          <a:latin typeface="Calibri"/>
                        </a:rPr>
                        <a:t>Fri</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Trust / PR</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Press feature + user testimonials with real receipts</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PR, X, IG</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Trust</a:t>
                      </a:r>
                    </a:p>
                  </a:txBody>
                  <a:tcPr marL="76200" marR="76200" marT="38100" marB="38100" anchor="ctr">
                    <a:solidFill>
                      <a:srgbClr val="FFFFFF"/>
                    </a:solidFill>
                  </a:tcPr>
                </a:tc>
              </a:tr>
              <a:tr h="603504">
                <a:tc>
                  <a:txBody>
                    <a:bodyPr/>
                    <a:lstStyle/>
                    <a:p>
                      <a:pPr>
                        <a:lnSpc>
                          <a:spcPct val="98000"/>
                        </a:lnSpc>
                      </a:pPr>
                      <a:r>
                        <a:rPr sz="950" b="1">
                          <a:solidFill>
                            <a:srgbClr val="1A2A33"/>
                          </a:solidFill>
                          <a:latin typeface="Calibri"/>
                        </a:rPr>
                        <a:t>Sat</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Campus</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Campus activation recap + class-vs-class leaderboard</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TikTok, IG</a:t>
                      </a:r>
                    </a:p>
                  </a:txBody>
                  <a:tcPr marL="76200" marR="76200" marT="38100" marB="38100" anchor="ctr">
                    <a:solidFill>
                      <a:srgbClr val="E3F6ED"/>
                    </a:solidFill>
                  </a:tcPr>
                </a:tc>
                <a:tc>
                  <a:txBody>
                    <a:bodyPr/>
                    <a:lstStyle/>
                    <a:p>
                      <a:pPr>
                        <a:lnSpc>
                          <a:spcPct val="98000"/>
                        </a:lnSpc>
                      </a:pPr>
                      <a:r>
                        <a:rPr sz="950" b="0">
                          <a:solidFill>
                            <a:srgbClr val="1A2A33"/>
                          </a:solidFill>
                          <a:latin typeface="Calibri"/>
                        </a:rPr>
                        <a:t>Awareness</a:t>
                      </a:r>
                    </a:p>
                  </a:txBody>
                  <a:tcPr marL="76200" marR="76200" marT="38100" marB="38100" anchor="ctr">
                    <a:solidFill>
                      <a:srgbClr val="E3F6ED"/>
                    </a:solidFill>
                  </a:tcPr>
                </a:tc>
              </a:tr>
              <a:tr h="603504">
                <a:tc>
                  <a:txBody>
                    <a:bodyPr/>
                    <a:lstStyle/>
                    <a:p>
                      <a:pPr>
                        <a:lnSpc>
                          <a:spcPct val="98000"/>
                        </a:lnSpc>
                      </a:pPr>
                      <a:r>
                        <a:rPr sz="950" b="1">
                          <a:solidFill>
                            <a:srgbClr val="1A2A33"/>
                          </a:solidFill>
                          <a:latin typeface="Calibri"/>
                        </a:rPr>
                        <a:t>Sun</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Celebrate</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Day-30 'glow-up' winners + prize reveal, CTA to join next</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All channels</a:t>
                      </a:r>
                    </a:p>
                  </a:txBody>
                  <a:tcPr marL="76200" marR="76200" marT="38100" marB="38100" anchor="ctr">
                    <a:solidFill>
                      <a:srgbClr val="FFFFFF"/>
                    </a:solidFill>
                  </a:tcPr>
                </a:tc>
                <a:tc>
                  <a:txBody>
                    <a:bodyPr/>
                    <a:lstStyle/>
                    <a:p>
                      <a:pPr>
                        <a:lnSpc>
                          <a:spcPct val="98000"/>
                        </a:lnSpc>
                      </a:pPr>
                      <a:r>
                        <a:rPr sz="950" b="0">
                          <a:solidFill>
                            <a:srgbClr val="1A2A33"/>
                          </a:solidFill>
                          <a:latin typeface="Calibri"/>
                        </a:rPr>
                        <a:t>Loop</a:t>
                      </a:r>
                    </a:p>
                  </a:txBody>
                  <a:tcPr marL="76200" marR="76200" marT="38100" marB="38100"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E12 · STAKEHOLDER MANAGEMENT</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Managing Key Relationships</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29</a:t>
            </a:r>
          </a:p>
        </p:txBody>
      </p:sp>
      <p:sp>
        <p:nvSpPr>
          <p:cNvPr id="9" name="Rounded Rectangle 8"/>
          <p:cNvSpPr/>
          <p:nvPr/>
        </p:nvSpPr>
        <p:spPr>
          <a:xfrm>
            <a:off x="640080" y="1463040"/>
            <a:ext cx="3520440" cy="2057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463040"/>
            <a:ext cx="118872" cy="205740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609344"/>
            <a:ext cx="640080" cy="457200"/>
          </a:xfrm>
          <a:prstGeom prst="rect">
            <a:avLst/>
          </a:prstGeom>
          <a:noFill/>
        </p:spPr>
        <p:txBody>
          <a:bodyPr wrap="square" anchor="t" lIns="0" rIns="0" tIns="0" bIns="0">
            <a:spAutoFit/>
          </a:bodyPr>
          <a:lstStyle/>
          <a:p>
            <a:pPr algn="l">
              <a:lnSpc>
                <a:spcPct val="100000"/>
              </a:lnSpc>
              <a:spcBef>
                <a:spcPts val="0"/>
              </a:spcBef>
              <a:spcAft>
                <a:spcPts val="400"/>
              </a:spcAft>
            </a:pPr>
            <a:r>
              <a:rPr sz="2000" b="0" i="0">
                <a:solidFill>
                  <a:srgbClr val="1A2A33"/>
                </a:solidFill>
                <a:latin typeface="Calibri"/>
              </a:rPr>
              <a:t>🎤</a:t>
            </a:r>
          </a:p>
        </p:txBody>
      </p:sp>
      <p:sp>
        <p:nvSpPr>
          <p:cNvPr id="12" name="TextBox 11"/>
          <p:cNvSpPr txBox="1"/>
          <p:nvPr/>
        </p:nvSpPr>
        <p:spPr>
          <a:xfrm>
            <a:off x="1508760" y="1682496"/>
            <a:ext cx="260604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B1F3A"/>
                </a:solidFill>
                <a:latin typeface="Calibri"/>
              </a:rPr>
              <a:t>Influencers</a:t>
            </a:r>
          </a:p>
        </p:txBody>
      </p:sp>
      <p:sp>
        <p:nvSpPr>
          <p:cNvPr id="13" name="TextBox 12"/>
          <p:cNvSpPr txBox="1"/>
          <p:nvPr/>
        </p:nvSpPr>
        <p:spPr>
          <a:xfrm>
            <a:off x="914400" y="2240280"/>
            <a:ext cx="3108960" cy="1234440"/>
          </a:xfrm>
          <a:prstGeom prst="rect">
            <a:avLst/>
          </a:prstGeom>
          <a:noFill/>
        </p:spPr>
        <p:txBody>
          <a:bodyPr wrap="square" anchor="t" lIns="0" rIns="0" tIns="0" bIns="0">
            <a:spAutoFit/>
          </a:bodyPr>
          <a:lstStyle/>
          <a:p>
            <a:pPr algn="l">
              <a:lnSpc>
                <a:spcPct val="105000"/>
              </a:lnSpc>
              <a:spcBef>
                <a:spcPts val="0"/>
              </a:spcBef>
              <a:spcAft>
                <a:spcPts val="400"/>
              </a:spcAft>
            </a:pPr>
            <a:r>
              <a:rPr sz="1030" b="0" i="0">
                <a:solidFill>
                  <a:srgbClr val="5B6B73"/>
                </a:solidFill>
                <a:latin typeface="Calibri"/>
              </a:rPr>
              <a:t>Clear briefs + creative freedom; fair &amp; on-time pay; long-term partners over one-offs; track performance, reward top performers.</a:t>
            </a:r>
          </a:p>
        </p:txBody>
      </p:sp>
      <p:sp>
        <p:nvSpPr>
          <p:cNvPr id="14" name="Rounded Rectangle 13"/>
          <p:cNvSpPr/>
          <p:nvPr/>
        </p:nvSpPr>
        <p:spPr>
          <a:xfrm>
            <a:off x="4325112" y="1463040"/>
            <a:ext cx="3520440" cy="2057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5112" y="1463040"/>
            <a:ext cx="118872" cy="20574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144" y="1609344"/>
            <a:ext cx="640080" cy="457200"/>
          </a:xfrm>
          <a:prstGeom prst="rect">
            <a:avLst/>
          </a:prstGeom>
          <a:noFill/>
        </p:spPr>
        <p:txBody>
          <a:bodyPr wrap="square" anchor="t" lIns="0" rIns="0" tIns="0" bIns="0">
            <a:spAutoFit/>
          </a:bodyPr>
          <a:lstStyle/>
          <a:p>
            <a:pPr algn="l">
              <a:lnSpc>
                <a:spcPct val="100000"/>
              </a:lnSpc>
              <a:spcBef>
                <a:spcPts val="0"/>
              </a:spcBef>
              <a:spcAft>
                <a:spcPts val="400"/>
              </a:spcAft>
            </a:pPr>
            <a:r>
              <a:rPr sz="2000" b="0" i="0">
                <a:solidFill>
                  <a:srgbClr val="1A2A33"/>
                </a:solidFill>
                <a:latin typeface="Calibri"/>
              </a:rPr>
              <a:t>🎓</a:t>
            </a:r>
          </a:p>
        </p:txBody>
      </p:sp>
      <p:sp>
        <p:nvSpPr>
          <p:cNvPr id="17" name="TextBox 16"/>
          <p:cNvSpPr txBox="1"/>
          <p:nvPr/>
        </p:nvSpPr>
        <p:spPr>
          <a:xfrm>
            <a:off x="5193792" y="1682496"/>
            <a:ext cx="260604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B1F3A"/>
                </a:solidFill>
                <a:latin typeface="Calibri"/>
              </a:rPr>
              <a:t>Campus ambassadors</a:t>
            </a:r>
          </a:p>
        </p:txBody>
      </p:sp>
      <p:sp>
        <p:nvSpPr>
          <p:cNvPr id="18" name="TextBox 17"/>
          <p:cNvSpPr txBox="1"/>
          <p:nvPr/>
        </p:nvSpPr>
        <p:spPr>
          <a:xfrm>
            <a:off x="4599432" y="2240280"/>
            <a:ext cx="3108960" cy="1234440"/>
          </a:xfrm>
          <a:prstGeom prst="rect">
            <a:avLst/>
          </a:prstGeom>
          <a:noFill/>
        </p:spPr>
        <p:txBody>
          <a:bodyPr wrap="square" anchor="t" lIns="0" rIns="0" tIns="0" bIns="0">
            <a:spAutoFit/>
          </a:bodyPr>
          <a:lstStyle/>
          <a:p>
            <a:pPr algn="l">
              <a:lnSpc>
                <a:spcPct val="105000"/>
              </a:lnSpc>
              <a:spcBef>
                <a:spcPts val="0"/>
              </a:spcBef>
              <a:spcAft>
                <a:spcPts val="400"/>
              </a:spcAft>
            </a:pPr>
            <a:r>
              <a:rPr sz="1030" b="0" i="0">
                <a:solidFill>
                  <a:srgbClr val="5B6B73"/>
                </a:solidFill>
                <a:latin typeface="Calibri"/>
              </a:rPr>
              <a:t>Structured program, training &amp; swag; tiered incentives &amp; leaderboards; WhatsApp community; monthly recognition &amp; growth paths.</a:t>
            </a:r>
          </a:p>
        </p:txBody>
      </p:sp>
      <p:sp>
        <p:nvSpPr>
          <p:cNvPr id="19" name="Rounded Rectangle 18"/>
          <p:cNvSpPr/>
          <p:nvPr/>
        </p:nvSpPr>
        <p:spPr>
          <a:xfrm>
            <a:off x="8010144" y="1463040"/>
            <a:ext cx="3520440" cy="2057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0144" y="1463040"/>
            <a:ext cx="118872" cy="2057400"/>
          </a:xfrm>
          <a:prstGeom prst="rect">
            <a:avLst/>
          </a:prstGeom>
          <a:solidFill>
            <a:srgbClr val="F2B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6175" y="1609344"/>
            <a:ext cx="640080" cy="457200"/>
          </a:xfrm>
          <a:prstGeom prst="rect">
            <a:avLst/>
          </a:prstGeom>
          <a:noFill/>
        </p:spPr>
        <p:txBody>
          <a:bodyPr wrap="square" anchor="t" lIns="0" rIns="0" tIns="0" bIns="0">
            <a:spAutoFit/>
          </a:bodyPr>
          <a:lstStyle/>
          <a:p>
            <a:pPr algn="l">
              <a:lnSpc>
                <a:spcPct val="100000"/>
              </a:lnSpc>
              <a:spcBef>
                <a:spcPts val="0"/>
              </a:spcBef>
              <a:spcAft>
                <a:spcPts val="400"/>
              </a:spcAft>
            </a:pPr>
            <a:r>
              <a:rPr sz="2000" b="0" i="0">
                <a:solidFill>
                  <a:srgbClr val="1A2A33"/>
                </a:solidFill>
                <a:latin typeface="Calibri"/>
              </a:rPr>
              <a:t>📰</a:t>
            </a:r>
          </a:p>
        </p:txBody>
      </p:sp>
      <p:sp>
        <p:nvSpPr>
          <p:cNvPr id="22" name="TextBox 21"/>
          <p:cNvSpPr txBox="1"/>
          <p:nvPr/>
        </p:nvSpPr>
        <p:spPr>
          <a:xfrm>
            <a:off x="8878824" y="1682496"/>
            <a:ext cx="260604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B1F3A"/>
                </a:solidFill>
                <a:latin typeface="Calibri"/>
              </a:rPr>
              <a:t>Media platforms</a:t>
            </a:r>
          </a:p>
        </p:txBody>
      </p:sp>
      <p:sp>
        <p:nvSpPr>
          <p:cNvPr id="23" name="TextBox 22"/>
          <p:cNvSpPr txBox="1"/>
          <p:nvPr/>
        </p:nvSpPr>
        <p:spPr>
          <a:xfrm>
            <a:off x="8284464" y="2240280"/>
            <a:ext cx="3108960" cy="1234440"/>
          </a:xfrm>
          <a:prstGeom prst="rect">
            <a:avLst/>
          </a:prstGeom>
          <a:noFill/>
        </p:spPr>
        <p:txBody>
          <a:bodyPr wrap="square" anchor="t" lIns="0" rIns="0" tIns="0" bIns="0">
            <a:spAutoFit/>
          </a:bodyPr>
          <a:lstStyle/>
          <a:p>
            <a:pPr algn="l">
              <a:lnSpc>
                <a:spcPct val="105000"/>
              </a:lnSpc>
              <a:spcBef>
                <a:spcPts val="0"/>
              </a:spcBef>
              <a:spcAft>
                <a:spcPts val="400"/>
              </a:spcAft>
            </a:pPr>
            <a:r>
              <a:rPr sz="1030" b="0" i="0">
                <a:solidFill>
                  <a:srgbClr val="5B6B73"/>
                </a:solidFill>
                <a:latin typeface="Calibri"/>
              </a:rPr>
              <a:t>Build genuine PR relationships; exclusive data/stories; press kit ready; respond fast; pitch the 'trust-first fintech' angle.</a:t>
            </a:r>
          </a:p>
        </p:txBody>
      </p:sp>
      <p:sp>
        <p:nvSpPr>
          <p:cNvPr id="24" name="Rounded Rectangle 23"/>
          <p:cNvSpPr/>
          <p:nvPr/>
        </p:nvSpPr>
        <p:spPr>
          <a:xfrm>
            <a:off x="640080" y="3703320"/>
            <a:ext cx="3520440" cy="2057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3703320"/>
            <a:ext cx="118872" cy="205740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849624"/>
            <a:ext cx="640080" cy="457200"/>
          </a:xfrm>
          <a:prstGeom prst="rect">
            <a:avLst/>
          </a:prstGeom>
          <a:noFill/>
        </p:spPr>
        <p:txBody>
          <a:bodyPr wrap="square" anchor="t" lIns="0" rIns="0" tIns="0" bIns="0">
            <a:spAutoFit/>
          </a:bodyPr>
          <a:lstStyle/>
          <a:p>
            <a:pPr algn="l">
              <a:lnSpc>
                <a:spcPct val="100000"/>
              </a:lnSpc>
              <a:spcBef>
                <a:spcPts val="0"/>
              </a:spcBef>
              <a:spcAft>
                <a:spcPts val="400"/>
              </a:spcAft>
            </a:pPr>
            <a:r>
              <a:rPr sz="2000" b="0" i="0">
                <a:solidFill>
                  <a:srgbClr val="1A2A33"/>
                </a:solidFill>
                <a:latin typeface="Calibri"/>
              </a:rPr>
              <a:t>🛠️</a:t>
            </a:r>
          </a:p>
        </p:txBody>
      </p:sp>
      <p:sp>
        <p:nvSpPr>
          <p:cNvPr id="27" name="TextBox 26"/>
          <p:cNvSpPr txBox="1"/>
          <p:nvPr/>
        </p:nvSpPr>
        <p:spPr>
          <a:xfrm>
            <a:off x="1508760" y="3922776"/>
            <a:ext cx="260604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B1F3A"/>
                </a:solidFill>
                <a:latin typeface="Calibri"/>
              </a:rPr>
              <a:t>Internal product team</a:t>
            </a:r>
          </a:p>
        </p:txBody>
      </p:sp>
      <p:sp>
        <p:nvSpPr>
          <p:cNvPr id="28" name="TextBox 27"/>
          <p:cNvSpPr txBox="1"/>
          <p:nvPr/>
        </p:nvSpPr>
        <p:spPr>
          <a:xfrm>
            <a:off x="914400" y="4480560"/>
            <a:ext cx="3108960" cy="1234440"/>
          </a:xfrm>
          <a:prstGeom prst="rect">
            <a:avLst/>
          </a:prstGeom>
          <a:noFill/>
        </p:spPr>
        <p:txBody>
          <a:bodyPr wrap="square" anchor="t" lIns="0" rIns="0" tIns="0" bIns="0">
            <a:spAutoFit/>
          </a:bodyPr>
          <a:lstStyle/>
          <a:p>
            <a:pPr algn="l">
              <a:lnSpc>
                <a:spcPct val="105000"/>
              </a:lnSpc>
              <a:spcBef>
                <a:spcPts val="0"/>
              </a:spcBef>
              <a:spcAft>
                <a:spcPts val="400"/>
              </a:spcAft>
            </a:pPr>
            <a:r>
              <a:rPr sz="1030" b="0" i="0">
                <a:solidFill>
                  <a:srgbClr val="5B6B73"/>
                </a:solidFill>
                <a:latin typeface="Calibri"/>
              </a:rPr>
              <a:t>Shared roadmap &amp; weekly syncs; feed user/market insights back; align launch &amp; feature timing; one source of truth.</a:t>
            </a:r>
          </a:p>
        </p:txBody>
      </p:sp>
      <p:sp>
        <p:nvSpPr>
          <p:cNvPr id="29" name="Rounded Rectangle 28"/>
          <p:cNvSpPr/>
          <p:nvPr/>
        </p:nvSpPr>
        <p:spPr>
          <a:xfrm>
            <a:off x="4325112" y="3703320"/>
            <a:ext cx="3520440" cy="2057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25112" y="3703320"/>
            <a:ext cx="118872" cy="20574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81144" y="3849624"/>
            <a:ext cx="640080" cy="457200"/>
          </a:xfrm>
          <a:prstGeom prst="rect">
            <a:avLst/>
          </a:prstGeom>
          <a:noFill/>
        </p:spPr>
        <p:txBody>
          <a:bodyPr wrap="square" anchor="t" lIns="0" rIns="0" tIns="0" bIns="0">
            <a:spAutoFit/>
          </a:bodyPr>
          <a:lstStyle/>
          <a:p>
            <a:pPr algn="l">
              <a:lnSpc>
                <a:spcPct val="100000"/>
              </a:lnSpc>
              <a:spcBef>
                <a:spcPts val="0"/>
              </a:spcBef>
              <a:spcAft>
                <a:spcPts val="400"/>
              </a:spcAft>
            </a:pPr>
            <a:r>
              <a:rPr sz="2000" b="0" i="0">
                <a:solidFill>
                  <a:srgbClr val="1A2A33"/>
                </a:solidFill>
                <a:latin typeface="Calibri"/>
              </a:rPr>
              <a:t>💬</a:t>
            </a:r>
          </a:p>
        </p:txBody>
      </p:sp>
      <p:sp>
        <p:nvSpPr>
          <p:cNvPr id="32" name="TextBox 31"/>
          <p:cNvSpPr txBox="1"/>
          <p:nvPr/>
        </p:nvSpPr>
        <p:spPr>
          <a:xfrm>
            <a:off x="5193792" y="3922776"/>
            <a:ext cx="260604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B1F3A"/>
                </a:solidFill>
                <a:latin typeface="Calibri"/>
              </a:rPr>
              <a:t>Customer support</a:t>
            </a:r>
          </a:p>
        </p:txBody>
      </p:sp>
      <p:sp>
        <p:nvSpPr>
          <p:cNvPr id="33" name="TextBox 32"/>
          <p:cNvSpPr txBox="1"/>
          <p:nvPr/>
        </p:nvSpPr>
        <p:spPr>
          <a:xfrm>
            <a:off x="4599432" y="4480560"/>
            <a:ext cx="3108960" cy="1234440"/>
          </a:xfrm>
          <a:prstGeom prst="rect">
            <a:avLst/>
          </a:prstGeom>
          <a:noFill/>
        </p:spPr>
        <p:txBody>
          <a:bodyPr wrap="square" anchor="t" lIns="0" rIns="0" tIns="0" bIns="0">
            <a:spAutoFit/>
          </a:bodyPr>
          <a:lstStyle/>
          <a:p>
            <a:pPr algn="l">
              <a:lnSpc>
                <a:spcPct val="105000"/>
              </a:lnSpc>
              <a:spcBef>
                <a:spcPts val="0"/>
              </a:spcBef>
              <a:spcAft>
                <a:spcPts val="400"/>
              </a:spcAft>
            </a:pPr>
            <a:r>
              <a:rPr sz="1030" b="0" i="0">
                <a:solidFill>
                  <a:srgbClr val="5B6B73"/>
                </a:solidFill>
                <a:latin typeface="Calibri"/>
              </a:rPr>
              <a:t>Equip with FAQs &amp; macros; tight feedback loop to product; SLA on response; support is a trust-builder, not a cost centre.</a:t>
            </a:r>
          </a:p>
        </p:txBody>
      </p:sp>
      <p:sp>
        <p:nvSpPr>
          <p:cNvPr id="34" name="Rounded Rectangle 33"/>
          <p:cNvSpPr/>
          <p:nvPr/>
        </p:nvSpPr>
        <p:spPr>
          <a:xfrm>
            <a:off x="8010144" y="3703320"/>
            <a:ext cx="3520440" cy="2057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10144" y="3703320"/>
            <a:ext cx="118872" cy="2057400"/>
          </a:xfrm>
          <a:prstGeom prst="rect">
            <a:avLst/>
          </a:prstGeom>
          <a:solidFill>
            <a:srgbClr val="F2B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66175" y="3849624"/>
            <a:ext cx="640080" cy="457200"/>
          </a:xfrm>
          <a:prstGeom prst="rect">
            <a:avLst/>
          </a:prstGeom>
          <a:noFill/>
        </p:spPr>
        <p:txBody>
          <a:bodyPr wrap="square" anchor="t" lIns="0" rIns="0" tIns="0" bIns="0">
            <a:spAutoFit/>
          </a:bodyPr>
          <a:lstStyle/>
          <a:p>
            <a:pPr algn="l">
              <a:lnSpc>
                <a:spcPct val="100000"/>
              </a:lnSpc>
              <a:spcBef>
                <a:spcPts val="0"/>
              </a:spcBef>
              <a:spcAft>
                <a:spcPts val="400"/>
              </a:spcAft>
            </a:pPr>
            <a:r>
              <a:rPr sz="2000" b="0" i="0">
                <a:solidFill>
                  <a:srgbClr val="1A2A33"/>
                </a:solidFill>
                <a:latin typeface="Calibri"/>
              </a:rPr>
              <a:t>📈</a:t>
            </a:r>
          </a:p>
        </p:txBody>
      </p:sp>
      <p:sp>
        <p:nvSpPr>
          <p:cNvPr id="37" name="TextBox 36"/>
          <p:cNvSpPr txBox="1"/>
          <p:nvPr/>
        </p:nvSpPr>
        <p:spPr>
          <a:xfrm>
            <a:off x="8878824" y="3922776"/>
            <a:ext cx="260604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B1F3A"/>
                </a:solidFill>
                <a:latin typeface="Calibri"/>
              </a:rPr>
              <a:t>Investors</a:t>
            </a:r>
          </a:p>
        </p:txBody>
      </p:sp>
      <p:sp>
        <p:nvSpPr>
          <p:cNvPr id="38" name="TextBox 37"/>
          <p:cNvSpPr txBox="1"/>
          <p:nvPr/>
        </p:nvSpPr>
        <p:spPr>
          <a:xfrm>
            <a:off x="8284464" y="4480560"/>
            <a:ext cx="3108960" cy="1234440"/>
          </a:xfrm>
          <a:prstGeom prst="rect">
            <a:avLst/>
          </a:prstGeom>
          <a:noFill/>
        </p:spPr>
        <p:txBody>
          <a:bodyPr wrap="square" anchor="t" lIns="0" rIns="0" tIns="0" bIns="0">
            <a:spAutoFit/>
          </a:bodyPr>
          <a:lstStyle/>
          <a:p>
            <a:pPr algn="l">
              <a:lnSpc>
                <a:spcPct val="105000"/>
              </a:lnSpc>
              <a:spcBef>
                <a:spcPts val="0"/>
              </a:spcBef>
              <a:spcAft>
                <a:spcPts val="400"/>
              </a:spcAft>
            </a:pPr>
            <a:r>
              <a:rPr sz="1030" b="0" i="0">
                <a:solidFill>
                  <a:srgbClr val="5B6B73"/>
                </a:solidFill>
                <a:latin typeface="Calibri"/>
              </a:rPr>
              <a:t>Monthly KPI updates (CAC, retention, LTV:CAC); transparent on wins &amp; misses; tie spend to metrics; manage expectations honestly.</a:t>
            </a:r>
          </a:p>
        </p:txBody>
      </p:sp>
      <p:sp>
        <p:nvSpPr>
          <p:cNvPr id="39" name="TextBox 38"/>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E13 · DOCUMENTATION &amp; REPORTING</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How We Document &amp; Report</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30</a:t>
            </a:r>
          </a:p>
        </p:txBody>
      </p:sp>
      <p:sp>
        <p:nvSpPr>
          <p:cNvPr id="9" name="Rounded Rectangle 8"/>
          <p:cNvSpPr/>
          <p:nvPr/>
        </p:nvSpPr>
        <p:spPr>
          <a:xfrm>
            <a:off x="640080" y="1508760"/>
            <a:ext cx="5349240" cy="12801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508760"/>
            <a:ext cx="118872" cy="128016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664207"/>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B1F3A"/>
                </a:solidFill>
                <a:latin typeface="Calibri"/>
              </a:rPr>
              <a:t>Campaign performance</a:t>
            </a:r>
          </a:p>
        </p:txBody>
      </p:sp>
      <p:sp>
        <p:nvSpPr>
          <p:cNvPr id="12" name="TextBox 11"/>
          <p:cNvSpPr txBox="1"/>
          <p:nvPr/>
        </p:nvSpPr>
        <p:spPr>
          <a:xfrm>
            <a:off x="914400" y="2057400"/>
            <a:ext cx="4937760" cy="640080"/>
          </a:xfrm>
          <a:prstGeom prst="rect">
            <a:avLst/>
          </a:prstGeom>
          <a:noFill/>
        </p:spPr>
        <p:txBody>
          <a:bodyPr wrap="square" anchor="t" lIns="0" rIns="0" tIns="0" bIns="0">
            <a:spAutoFit/>
          </a:bodyPr>
          <a:lstStyle/>
          <a:p>
            <a:pPr algn="l">
              <a:lnSpc>
                <a:spcPct val="104000"/>
              </a:lnSpc>
              <a:spcBef>
                <a:spcPts val="0"/>
              </a:spcBef>
              <a:spcAft>
                <a:spcPts val="400"/>
              </a:spcAft>
            </a:pPr>
            <a:r>
              <a:rPr sz="1080" b="0" i="0">
                <a:solidFill>
                  <a:srgbClr val="5B6B73"/>
                </a:solidFill>
                <a:latin typeface="Calibri"/>
              </a:rPr>
              <a:t>Live Looker Studio dashboard + weekly one-pager: spend, CAC, installs, conversions by channel.</a:t>
            </a:r>
          </a:p>
        </p:txBody>
      </p:sp>
      <p:sp>
        <p:nvSpPr>
          <p:cNvPr id="13" name="Rounded Rectangle 12"/>
          <p:cNvSpPr/>
          <p:nvPr/>
        </p:nvSpPr>
        <p:spPr>
          <a:xfrm>
            <a:off x="6172200" y="1508760"/>
            <a:ext cx="5349240" cy="12801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508760"/>
            <a:ext cx="118872" cy="12801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664207"/>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B1F3A"/>
                </a:solidFill>
                <a:latin typeface="Calibri"/>
              </a:rPr>
              <a:t>Research findings</a:t>
            </a:r>
          </a:p>
        </p:txBody>
      </p:sp>
      <p:sp>
        <p:nvSpPr>
          <p:cNvPr id="16" name="TextBox 15"/>
          <p:cNvSpPr txBox="1"/>
          <p:nvPr/>
        </p:nvSpPr>
        <p:spPr>
          <a:xfrm>
            <a:off x="6446520" y="2057400"/>
            <a:ext cx="4937760" cy="640080"/>
          </a:xfrm>
          <a:prstGeom prst="rect">
            <a:avLst/>
          </a:prstGeom>
          <a:noFill/>
        </p:spPr>
        <p:txBody>
          <a:bodyPr wrap="square" anchor="t" lIns="0" rIns="0" tIns="0" bIns="0">
            <a:spAutoFit/>
          </a:bodyPr>
          <a:lstStyle/>
          <a:p>
            <a:pPr algn="l">
              <a:lnSpc>
                <a:spcPct val="104000"/>
              </a:lnSpc>
              <a:spcBef>
                <a:spcPts val="0"/>
              </a:spcBef>
              <a:spcAft>
                <a:spcPts val="400"/>
              </a:spcAft>
            </a:pPr>
            <a:r>
              <a:rPr sz="1080" b="0" i="0">
                <a:solidFill>
                  <a:srgbClr val="5B6B73"/>
                </a:solidFill>
                <a:latin typeface="Calibri"/>
              </a:rPr>
              <a:t>Central research repo (Notion): interview notes, survey results, insight summaries, persona updates.</a:t>
            </a:r>
          </a:p>
        </p:txBody>
      </p:sp>
      <p:sp>
        <p:nvSpPr>
          <p:cNvPr id="17" name="Rounded Rectangle 16"/>
          <p:cNvSpPr/>
          <p:nvPr/>
        </p:nvSpPr>
        <p:spPr>
          <a:xfrm>
            <a:off x="640080" y="2926080"/>
            <a:ext cx="5349240" cy="12801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2926080"/>
            <a:ext cx="118872" cy="1280160"/>
          </a:xfrm>
          <a:prstGeom prst="rect">
            <a:avLst/>
          </a:prstGeom>
          <a:solidFill>
            <a:srgbClr val="F2B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081528"/>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B1F3A"/>
                </a:solidFill>
                <a:latin typeface="Calibri"/>
              </a:rPr>
              <a:t>Marketing learnings</a:t>
            </a:r>
          </a:p>
        </p:txBody>
      </p:sp>
      <p:sp>
        <p:nvSpPr>
          <p:cNvPr id="20" name="TextBox 19"/>
          <p:cNvSpPr txBox="1"/>
          <p:nvPr/>
        </p:nvSpPr>
        <p:spPr>
          <a:xfrm>
            <a:off x="914400" y="3474720"/>
            <a:ext cx="4937760" cy="640080"/>
          </a:xfrm>
          <a:prstGeom prst="rect">
            <a:avLst/>
          </a:prstGeom>
          <a:noFill/>
        </p:spPr>
        <p:txBody>
          <a:bodyPr wrap="square" anchor="t" lIns="0" rIns="0" tIns="0" bIns="0">
            <a:spAutoFit/>
          </a:bodyPr>
          <a:lstStyle/>
          <a:p>
            <a:pPr algn="l">
              <a:lnSpc>
                <a:spcPct val="104000"/>
              </a:lnSpc>
              <a:spcBef>
                <a:spcPts val="0"/>
              </a:spcBef>
              <a:spcAft>
                <a:spcPts val="400"/>
              </a:spcAft>
            </a:pPr>
            <a:r>
              <a:rPr sz="1080" b="0" i="0">
                <a:solidFill>
                  <a:srgbClr val="5B6B73"/>
                </a:solidFill>
                <a:latin typeface="Calibri"/>
              </a:rPr>
              <a:t>A/B test log: hypothesis, result, decision, next step — a growing 'what works' playbook.</a:t>
            </a:r>
          </a:p>
        </p:txBody>
      </p:sp>
      <p:sp>
        <p:nvSpPr>
          <p:cNvPr id="21" name="Rounded Rectangle 20"/>
          <p:cNvSpPr/>
          <p:nvPr/>
        </p:nvSpPr>
        <p:spPr>
          <a:xfrm>
            <a:off x="6172200" y="2926080"/>
            <a:ext cx="5349240" cy="12801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2926080"/>
            <a:ext cx="118872" cy="128016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3081528"/>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B1F3A"/>
                </a:solidFill>
                <a:latin typeface="Calibri"/>
              </a:rPr>
              <a:t>Customer feedback</a:t>
            </a:r>
          </a:p>
        </p:txBody>
      </p:sp>
      <p:sp>
        <p:nvSpPr>
          <p:cNvPr id="24" name="TextBox 23"/>
          <p:cNvSpPr txBox="1"/>
          <p:nvPr/>
        </p:nvSpPr>
        <p:spPr>
          <a:xfrm>
            <a:off x="6446520" y="3474720"/>
            <a:ext cx="4937760" cy="640080"/>
          </a:xfrm>
          <a:prstGeom prst="rect">
            <a:avLst/>
          </a:prstGeom>
          <a:noFill/>
        </p:spPr>
        <p:txBody>
          <a:bodyPr wrap="square" anchor="t" lIns="0" rIns="0" tIns="0" bIns="0">
            <a:spAutoFit/>
          </a:bodyPr>
          <a:lstStyle/>
          <a:p>
            <a:pPr algn="l">
              <a:lnSpc>
                <a:spcPct val="104000"/>
              </a:lnSpc>
              <a:spcBef>
                <a:spcPts val="0"/>
              </a:spcBef>
              <a:spcAft>
                <a:spcPts val="400"/>
              </a:spcAft>
            </a:pPr>
            <a:r>
              <a:rPr sz="1080" b="0" i="0">
                <a:solidFill>
                  <a:srgbClr val="5B6B73"/>
                </a:solidFill>
                <a:latin typeface="Calibri"/>
              </a:rPr>
              <a:t>Tagged feedback from support, reviews &amp; social, routed to product; closed-loop tracking.</a:t>
            </a:r>
          </a:p>
        </p:txBody>
      </p:sp>
      <p:sp>
        <p:nvSpPr>
          <p:cNvPr id="25" name="Rounded Rectangle 24"/>
          <p:cNvSpPr/>
          <p:nvPr/>
        </p:nvSpPr>
        <p:spPr>
          <a:xfrm>
            <a:off x="640080" y="4526280"/>
            <a:ext cx="10972800" cy="155448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663440"/>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5FD3A3"/>
                </a:solidFill>
                <a:latin typeface="Calibri"/>
              </a:rPr>
              <a:t>REPORTING RHYTHM</a:t>
            </a:r>
          </a:p>
        </p:txBody>
      </p:sp>
      <p:sp>
        <p:nvSpPr>
          <p:cNvPr id="27" name="Rounded Rectangle 26"/>
          <p:cNvSpPr/>
          <p:nvPr/>
        </p:nvSpPr>
        <p:spPr>
          <a:xfrm>
            <a:off x="914400" y="5029200"/>
            <a:ext cx="1371600" cy="384048"/>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200" b="1">
                <a:solidFill>
                  <a:srgbClr val="FFFFFF"/>
                </a:solidFill>
                <a:latin typeface="Calibri"/>
              </a:rPr>
              <a:t>Daily</a:t>
            </a:r>
          </a:p>
        </p:txBody>
      </p:sp>
      <p:sp>
        <p:nvSpPr>
          <p:cNvPr id="28" name="TextBox 27"/>
          <p:cNvSpPr txBox="1"/>
          <p:nvPr/>
        </p:nvSpPr>
        <p:spPr>
          <a:xfrm>
            <a:off x="914400" y="5504688"/>
            <a:ext cx="3291840" cy="502920"/>
          </a:xfrm>
          <a:prstGeom prst="rect">
            <a:avLst/>
          </a:prstGeom>
          <a:noFill/>
        </p:spPr>
        <p:txBody>
          <a:bodyPr wrap="square" anchor="t" lIns="0" rIns="0" tIns="0" bIns="0">
            <a:spAutoFit/>
          </a:bodyPr>
          <a:lstStyle/>
          <a:p>
            <a:pPr algn="l">
              <a:lnSpc>
                <a:spcPct val="100000"/>
              </a:lnSpc>
              <a:spcBef>
                <a:spcPts val="0"/>
              </a:spcBef>
              <a:spcAft>
                <a:spcPts val="400"/>
              </a:spcAft>
            </a:pPr>
            <a:r>
              <a:rPr sz="1030" b="0" i="0">
                <a:solidFill>
                  <a:srgbClr val="FFFFFF"/>
                </a:solidFill>
                <a:latin typeface="Calibri"/>
              </a:rPr>
              <a:t>Auto dashboard check: spend pacing, CAC, anomalies</a:t>
            </a:r>
          </a:p>
        </p:txBody>
      </p:sp>
      <p:sp>
        <p:nvSpPr>
          <p:cNvPr id="29" name="Rounded Rectangle 28"/>
          <p:cNvSpPr/>
          <p:nvPr/>
        </p:nvSpPr>
        <p:spPr>
          <a:xfrm>
            <a:off x="4480560" y="5029200"/>
            <a:ext cx="1371600" cy="384048"/>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200" b="1">
                <a:solidFill>
                  <a:srgbClr val="FFFFFF"/>
                </a:solidFill>
                <a:latin typeface="Calibri"/>
              </a:rPr>
              <a:t>Weekly</a:t>
            </a:r>
          </a:p>
        </p:txBody>
      </p:sp>
      <p:sp>
        <p:nvSpPr>
          <p:cNvPr id="30" name="TextBox 29"/>
          <p:cNvSpPr txBox="1"/>
          <p:nvPr/>
        </p:nvSpPr>
        <p:spPr>
          <a:xfrm>
            <a:off x="4480560" y="5504688"/>
            <a:ext cx="3291840" cy="502920"/>
          </a:xfrm>
          <a:prstGeom prst="rect">
            <a:avLst/>
          </a:prstGeom>
          <a:noFill/>
        </p:spPr>
        <p:txBody>
          <a:bodyPr wrap="square" anchor="t" lIns="0" rIns="0" tIns="0" bIns="0">
            <a:spAutoFit/>
          </a:bodyPr>
          <a:lstStyle/>
          <a:p>
            <a:pPr algn="l">
              <a:lnSpc>
                <a:spcPct val="100000"/>
              </a:lnSpc>
              <a:spcBef>
                <a:spcPts val="0"/>
              </a:spcBef>
              <a:spcAft>
                <a:spcPts val="400"/>
              </a:spcAft>
            </a:pPr>
            <a:r>
              <a:rPr sz="1030" b="0" i="0">
                <a:solidFill>
                  <a:srgbClr val="FFFFFF"/>
                </a:solidFill>
                <a:latin typeface="Calibri"/>
              </a:rPr>
              <a:t>Growth review: KPIs vs target, A/B results, reallocate budget</a:t>
            </a:r>
          </a:p>
        </p:txBody>
      </p:sp>
      <p:sp>
        <p:nvSpPr>
          <p:cNvPr id="31" name="Rounded Rectangle 30"/>
          <p:cNvSpPr/>
          <p:nvPr/>
        </p:nvSpPr>
        <p:spPr>
          <a:xfrm>
            <a:off x="8046720" y="5029200"/>
            <a:ext cx="1371600" cy="384048"/>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200" b="1">
                <a:solidFill>
                  <a:srgbClr val="FFFFFF"/>
                </a:solidFill>
                <a:latin typeface="Calibri"/>
              </a:rPr>
              <a:t>Monthly</a:t>
            </a:r>
          </a:p>
        </p:txBody>
      </p:sp>
      <p:sp>
        <p:nvSpPr>
          <p:cNvPr id="32" name="TextBox 31"/>
          <p:cNvSpPr txBox="1"/>
          <p:nvPr/>
        </p:nvSpPr>
        <p:spPr>
          <a:xfrm>
            <a:off x="8046720" y="5504688"/>
            <a:ext cx="3291840" cy="502920"/>
          </a:xfrm>
          <a:prstGeom prst="rect">
            <a:avLst/>
          </a:prstGeom>
          <a:noFill/>
        </p:spPr>
        <p:txBody>
          <a:bodyPr wrap="square" anchor="t" lIns="0" rIns="0" tIns="0" bIns="0">
            <a:spAutoFit/>
          </a:bodyPr>
          <a:lstStyle/>
          <a:p>
            <a:pPr algn="l">
              <a:lnSpc>
                <a:spcPct val="100000"/>
              </a:lnSpc>
              <a:spcBef>
                <a:spcPts val="0"/>
              </a:spcBef>
              <a:spcAft>
                <a:spcPts val="400"/>
              </a:spcAft>
            </a:pPr>
            <a:r>
              <a:rPr sz="1030" b="0" i="0">
                <a:solidFill>
                  <a:srgbClr val="FFFFFF"/>
                </a:solidFill>
                <a:latin typeface="Calibri"/>
              </a:rPr>
              <a:t>Stakeholder + investor report: trends, learnings, next-month plan</a:t>
            </a:r>
          </a:p>
        </p:txBody>
      </p:sp>
      <p:sp>
        <p:nvSpPr>
          <p:cNvPr id="33" name="TextBox 32"/>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RETENTION</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The Retention Engine (Fixing the 18%)</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31</a:t>
            </a:r>
          </a:p>
        </p:txBody>
      </p:sp>
      <p:sp>
        <p:nvSpPr>
          <p:cNvPr id="9" name="TextBox 8"/>
          <p:cNvSpPr txBox="1"/>
          <p:nvPr/>
        </p:nvSpPr>
        <p:spPr>
          <a:xfrm>
            <a:off x="640080" y="1371600"/>
            <a:ext cx="10972800" cy="41148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1A2A33"/>
                </a:solidFill>
                <a:latin typeface="Calibri"/>
              </a:rPr>
              <a:t>Retention is Moni's #1 problem — and its biggest growth lever. We attack it across the full lifecycle.</a:t>
            </a:r>
          </a:p>
        </p:txBody>
      </p:sp>
      <p:sp>
        <p:nvSpPr>
          <p:cNvPr id="10" name="Rounded Rectangle 9"/>
          <p:cNvSpPr/>
          <p:nvPr/>
        </p:nvSpPr>
        <p:spPr>
          <a:xfrm>
            <a:off x="640080" y="2011680"/>
            <a:ext cx="2670048" cy="3200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2011680"/>
            <a:ext cx="2670048" cy="502920"/>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240280"/>
            <a:ext cx="2670048" cy="27432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103120"/>
            <a:ext cx="2670048" cy="36576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FFFFFF"/>
                </a:solidFill>
                <a:latin typeface="Calibri"/>
              </a:rPr>
              <a:t>ONBOARD</a:t>
            </a:r>
          </a:p>
        </p:txBody>
      </p:sp>
      <p:sp>
        <p:nvSpPr>
          <p:cNvPr id="14" name="TextBox 13"/>
          <p:cNvSpPr txBox="1"/>
          <p:nvPr/>
        </p:nvSpPr>
        <p:spPr>
          <a:xfrm>
            <a:off x="841247" y="2697480"/>
            <a:ext cx="2331720" cy="2377440"/>
          </a:xfrm>
          <a:prstGeom prst="rect">
            <a:avLst/>
          </a:prstGeom>
          <a:noFill/>
        </p:spPr>
        <p:txBody>
          <a:bodyPr wrap="square" lIns="0" rIns="0" tIns="0" bIns="0">
            <a:spAutoFit/>
          </a:bodyPr>
          <a:lstStyle/>
          <a:p>
            <a:pPr>
              <a:lnSpc>
                <a:spcPct val="104000"/>
              </a:lnSpc>
              <a:spcAft>
                <a:spcPts val="600"/>
              </a:spcAft>
            </a:pPr>
            <a:r>
              <a:rPr sz="1030" b="1">
                <a:solidFill>
                  <a:srgbClr val="00A86B"/>
                </a:solidFill>
                <a:latin typeface="Calibri"/>
              </a:rPr>
              <a:t>▸  </a:t>
            </a:r>
            <a:r>
              <a:rPr sz="1030">
                <a:solidFill>
                  <a:srgbClr val="1A2A33"/>
                </a:solidFill>
                <a:latin typeface="Calibri"/>
              </a:rPr>
              <a:t>Get to first save in &lt;3 mins</a:t>
            </a:r>
          </a:p>
          <a:p>
            <a:pPr>
              <a:lnSpc>
                <a:spcPct val="104000"/>
              </a:lnSpc>
              <a:spcAft>
                <a:spcPts val="600"/>
              </a:spcAft>
            </a:pPr>
            <a:r>
              <a:rPr sz="1030" b="1">
                <a:solidFill>
                  <a:srgbClr val="00A86B"/>
                </a:solidFill>
                <a:latin typeface="Calibri"/>
              </a:rPr>
              <a:t>▸  </a:t>
            </a:r>
            <a:r>
              <a:rPr sz="1030">
                <a:solidFill>
                  <a:srgbClr val="1A2A33"/>
                </a:solidFill>
                <a:latin typeface="Calibri"/>
              </a:rPr>
              <a:t>₦500 instant save bonus</a:t>
            </a:r>
          </a:p>
          <a:p>
            <a:pPr>
              <a:lnSpc>
                <a:spcPct val="104000"/>
              </a:lnSpc>
              <a:spcAft>
                <a:spcPts val="600"/>
              </a:spcAft>
            </a:pPr>
            <a:r>
              <a:rPr sz="1030" b="1">
                <a:solidFill>
                  <a:srgbClr val="00A86B"/>
                </a:solidFill>
                <a:latin typeface="Calibri"/>
              </a:rPr>
              <a:t>▸  </a:t>
            </a:r>
            <a:r>
              <a:rPr sz="1030">
                <a:solidFill>
                  <a:srgbClr val="1A2A33"/>
                </a:solidFill>
                <a:latin typeface="Calibri"/>
              </a:rPr>
              <a:t>Pick a goal during signup</a:t>
            </a:r>
          </a:p>
          <a:p>
            <a:pPr>
              <a:lnSpc>
                <a:spcPct val="104000"/>
              </a:lnSpc>
              <a:spcAft>
                <a:spcPts val="600"/>
              </a:spcAft>
            </a:pPr>
            <a:r>
              <a:rPr sz="1030" b="1">
                <a:solidFill>
                  <a:srgbClr val="00A86B"/>
                </a:solidFill>
                <a:latin typeface="Calibri"/>
              </a:rPr>
              <a:t>▸  </a:t>
            </a:r>
            <a:r>
              <a:rPr sz="1030">
                <a:solidFill>
                  <a:srgbClr val="1A2A33"/>
                </a:solidFill>
                <a:latin typeface="Calibri"/>
              </a:rPr>
              <a:t>Plain-language trust screen</a:t>
            </a:r>
          </a:p>
        </p:txBody>
      </p:sp>
      <p:sp>
        <p:nvSpPr>
          <p:cNvPr id="15" name="TextBox 14"/>
          <p:cNvSpPr txBox="1"/>
          <p:nvPr/>
        </p:nvSpPr>
        <p:spPr>
          <a:xfrm>
            <a:off x="3182111" y="3291840"/>
            <a:ext cx="3200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600" b="1" i="0">
                <a:solidFill>
                  <a:srgbClr val="00A86B"/>
                </a:solidFill>
                <a:latin typeface="Calibri"/>
              </a:rPr>
              <a:t>→</a:t>
            </a:r>
          </a:p>
        </p:txBody>
      </p:sp>
      <p:sp>
        <p:nvSpPr>
          <p:cNvPr id="16" name="Rounded Rectangle 15"/>
          <p:cNvSpPr/>
          <p:nvPr/>
        </p:nvSpPr>
        <p:spPr>
          <a:xfrm>
            <a:off x="3429000" y="2011680"/>
            <a:ext cx="2670048" cy="3200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29000" y="2011680"/>
            <a:ext cx="2670048" cy="50292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29000" y="2240280"/>
            <a:ext cx="2670048"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29000" y="2103120"/>
            <a:ext cx="2670048" cy="36576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FFFFFF"/>
                </a:solidFill>
                <a:latin typeface="Calibri"/>
              </a:rPr>
              <a:t>HABIT (D1–D7)</a:t>
            </a:r>
          </a:p>
        </p:txBody>
      </p:sp>
      <p:sp>
        <p:nvSpPr>
          <p:cNvPr id="20" name="TextBox 19"/>
          <p:cNvSpPr txBox="1"/>
          <p:nvPr/>
        </p:nvSpPr>
        <p:spPr>
          <a:xfrm>
            <a:off x="3630168" y="2697480"/>
            <a:ext cx="2331720" cy="2377440"/>
          </a:xfrm>
          <a:prstGeom prst="rect">
            <a:avLst/>
          </a:prstGeom>
          <a:noFill/>
        </p:spPr>
        <p:txBody>
          <a:bodyPr wrap="square" lIns="0" rIns="0" tIns="0" bIns="0">
            <a:spAutoFit/>
          </a:bodyPr>
          <a:lstStyle/>
          <a:p>
            <a:pPr>
              <a:lnSpc>
                <a:spcPct val="104000"/>
              </a:lnSpc>
              <a:spcAft>
                <a:spcPts val="600"/>
              </a:spcAft>
            </a:pPr>
            <a:r>
              <a:rPr sz="1030" b="1">
                <a:solidFill>
                  <a:srgbClr val="0B1F3A"/>
                </a:solidFill>
                <a:latin typeface="Calibri"/>
              </a:rPr>
              <a:t>▸  </a:t>
            </a:r>
            <a:r>
              <a:rPr sz="1030">
                <a:solidFill>
                  <a:srgbClr val="1A2A33"/>
                </a:solidFill>
                <a:latin typeface="Calibri"/>
              </a:rPr>
              <a:t>Smart push at payday/spend</a:t>
            </a:r>
          </a:p>
          <a:p>
            <a:pPr>
              <a:lnSpc>
                <a:spcPct val="104000"/>
              </a:lnSpc>
              <a:spcAft>
                <a:spcPts val="600"/>
              </a:spcAft>
            </a:pPr>
            <a:r>
              <a:rPr sz="1030" b="1">
                <a:solidFill>
                  <a:srgbClr val="0B1F3A"/>
                </a:solidFill>
                <a:latin typeface="Calibri"/>
              </a:rPr>
              <a:t>▸  </a:t>
            </a:r>
            <a:r>
              <a:rPr sz="1030">
                <a:solidFill>
                  <a:srgbClr val="1A2A33"/>
                </a:solidFill>
                <a:latin typeface="Calibri"/>
              </a:rPr>
              <a:t>7-day streak challenge</a:t>
            </a:r>
          </a:p>
          <a:p>
            <a:pPr>
              <a:lnSpc>
                <a:spcPct val="104000"/>
              </a:lnSpc>
              <a:spcAft>
                <a:spcPts val="600"/>
              </a:spcAft>
            </a:pPr>
            <a:r>
              <a:rPr sz="1030" b="1">
                <a:solidFill>
                  <a:srgbClr val="0B1F3A"/>
                </a:solidFill>
                <a:latin typeface="Calibri"/>
              </a:rPr>
              <a:t>▸  </a:t>
            </a:r>
            <a:r>
              <a:rPr sz="1030">
                <a:solidFill>
                  <a:srgbClr val="1A2A33"/>
                </a:solidFill>
                <a:latin typeface="Calibri"/>
              </a:rPr>
              <a:t>Round-up auto-save on</a:t>
            </a:r>
          </a:p>
          <a:p>
            <a:pPr>
              <a:lnSpc>
                <a:spcPct val="104000"/>
              </a:lnSpc>
              <a:spcAft>
                <a:spcPts val="600"/>
              </a:spcAft>
            </a:pPr>
            <a:r>
              <a:rPr sz="1030" b="1">
                <a:solidFill>
                  <a:srgbClr val="0B1F3A"/>
                </a:solidFill>
                <a:latin typeface="Calibri"/>
              </a:rPr>
              <a:t>▸  </a:t>
            </a:r>
            <a:r>
              <a:rPr sz="1030">
                <a:solidFill>
                  <a:srgbClr val="1A2A33"/>
                </a:solidFill>
                <a:latin typeface="Calibri"/>
              </a:rPr>
              <a:t>Bill reminder quick-wins</a:t>
            </a:r>
          </a:p>
        </p:txBody>
      </p:sp>
      <p:sp>
        <p:nvSpPr>
          <p:cNvPr id="21" name="TextBox 20"/>
          <p:cNvSpPr txBox="1"/>
          <p:nvPr/>
        </p:nvSpPr>
        <p:spPr>
          <a:xfrm>
            <a:off x="5971031" y="3291840"/>
            <a:ext cx="3200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600" b="1" i="0">
                <a:solidFill>
                  <a:srgbClr val="00A86B"/>
                </a:solidFill>
                <a:latin typeface="Calibri"/>
              </a:rPr>
              <a:t>→</a:t>
            </a:r>
          </a:p>
        </p:txBody>
      </p:sp>
      <p:sp>
        <p:nvSpPr>
          <p:cNvPr id="22" name="Rounded Rectangle 21"/>
          <p:cNvSpPr/>
          <p:nvPr/>
        </p:nvSpPr>
        <p:spPr>
          <a:xfrm>
            <a:off x="6217920" y="2011680"/>
            <a:ext cx="2670048" cy="3200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0" y="2011680"/>
            <a:ext cx="2670048" cy="502920"/>
          </a:xfrm>
          <a:prstGeom prst="roundRect">
            <a:avLst/>
          </a:prstGeom>
          <a:solidFill>
            <a:srgbClr val="F2B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240280"/>
            <a:ext cx="2670048" cy="274320"/>
          </a:xfrm>
          <a:prstGeom prst="rect">
            <a:avLst/>
          </a:prstGeom>
          <a:solidFill>
            <a:srgbClr val="F2B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2103120"/>
            <a:ext cx="2670048" cy="36576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FFFFFF"/>
                </a:solidFill>
                <a:latin typeface="Calibri"/>
              </a:rPr>
              <a:t>ENGAGE (D7–D30)</a:t>
            </a:r>
          </a:p>
        </p:txBody>
      </p:sp>
      <p:sp>
        <p:nvSpPr>
          <p:cNvPr id="26" name="TextBox 25"/>
          <p:cNvSpPr txBox="1"/>
          <p:nvPr/>
        </p:nvSpPr>
        <p:spPr>
          <a:xfrm>
            <a:off x="6419088" y="2697480"/>
            <a:ext cx="2331720" cy="2377440"/>
          </a:xfrm>
          <a:prstGeom prst="rect">
            <a:avLst/>
          </a:prstGeom>
          <a:noFill/>
        </p:spPr>
        <p:txBody>
          <a:bodyPr wrap="square" lIns="0" rIns="0" tIns="0" bIns="0">
            <a:spAutoFit/>
          </a:bodyPr>
          <a:lstStyle/>
          <a:p>
            <a:pPr>
              <a:lnSpc>
                <a:spcPct val="104000"/>
              </a:lnSpc>
              <a:spcAft>
                <a:spcPts val="600"/>
              </a:spcAft>
            </a:pPr>
            <a:r>
              <a:rPr sz="1030" b="1">
                <a:solidFill>
                  <a:srgbClr val="F2B02E"/>
                </a:solidFill>
                <a:latin typeface="Calibri"/>
              </a:rPr>
              <a:t>▸  </a:t>
            </a:r>
            <a:r>
              <a:rPr sz="1030">
                <a:solidFill>
                  <a:srgbClr val="1A2A33"/>
                </a:solidFill>
                <a:latin typeface="Calibri"/>
              </a:rPr>
              <a:t>Goal challenges &amp; badges</a:t>
            </a:r>
          </a:p>
          <a:p>
            <a:pPr>
              <a:lnSpc>
                <a:spcPct val="104000"/>
              </a:lnSpc>
              <a:spcAft>
                <a:spcPts val="600"/>
              </a:spcAft>
            </a:pPr>
            <a:r>
              <a:rPr sz="1030" b="1">
                <a:solidFill>
                  <a:srgbClr val="F2B02E"/>
                </a:solidFill>
                <a:latin typeface="Calibri"/>
              </a:rPr>
              <a:t>▸  </a:t>
            </a:r>
            <a:r>
              <a:rPr sz="1030">
                <a:solidFill>
                  <a:srgbClr val="1A2A33"/>
                </a:solidFill>
                <a:latin typeface="Calibri"/>
              </a:rPr>
              <a:t>Community leaderboards</a:t>
            </a:r>
          </a:p>
          <a:p>
            <a:pPr>
              <a:lnSpc>
                <a:spcPct val="104000"/>
              </a:lnSpc>
              <a:spcAft>
                <a:spcPts val="600"/>
              </a:spcAft>
            </a:pPr>
            <a:r>
              <a:rPr sz="1030" b="1">
                <a:solidFill>
                  <a:srgbClr val="F2B02E"/>
                </a:solidFill>
                <a:latin typeface="Calibri"/>
              </a:rPr>
              <a:t>▸  </a:t>
            </a:r>
            <a:r>
              <a:rPr sz="1030">
                <a:solidFill>
                  <a:srgbClr val="1A2A33"/>
                </a:solidFill>
                <a:latin typeface="Calibri"/>
              </a:rPr>
              <a:t>Weekly progress recap</a:t>
            </a:r>
          </a:p>
          <a:p>
            <a:pPr>
              <a:lnSpc>
                <a:spcPct val="104000"/>
              </a:lnSpc>
              <a:spcAft>
                <a:spcPts val="600"/>
              </a:spcAft>
            </a:pPr>
            <a:r>
              <a:rPr sz="1030" b="1">
                <a:solidFill>
                  <a:srgbClr val="F2B02E"/>
                </a:solidFill>
                <a:latin typeface="Calibri"/>
              </a:rPr>
              <a:t>▸  </a:t>
            </a:r>
            <a:r>
              <a:rPr sz="1030">
                <a:solidFill>
                  <a:srgbClr val="1A2A33"/>
                </a:solidFill>
                <a:latin typeface="Calibri"/>
              </a:rPr>
              <a:t>Unlock advance eligibility</a:t>
            </a:r>
          </a:p>
        </p:txBody>
      </p:sp>
      <p:sp>
        <p:nvSpPr>
          <p:cNvPr id="27" name="TextBox 26"/>
          <p:cNvSpPr txBox="1"/>
          <p:nvPr/>
        </p:nvSpPr>
        <p:spPr>
          <a:xfrm>
            <a:off x="8759952" y="3291840"/>
            <a:ext cx="3200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600" b="1" i="0">
                <a:solidFill>
                  <a:srgbClr val="00A86B"/>
                </a:solidFill>
                <a:latin typeface="Calibri"/>
              </a:rPr>
              <a:t>→</a:t>
            </a:r>
          </a:p>
        </p:txBody>
      </p:sp>
      <p:sp>
        <p:nvSpPr>
          <p:cNvPr id="28" name="Rounded Rectangle 27"/>
          <p:cNvSpPr/>
          <p:nvPr/>
        </p:nvSpPr>
        <p:spPr>
          <a:xfrm>
            <a:off x="9006839" y="2011680"/>
            <a:ext cx="2670048" cy="320040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06839" y="2011680"/>
            <a:ext cx="2670048" cy="502920"/>
          </a:xfrm>
          <a:prstGeom prst="round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06839" y="2240280"/>
            <a:ext cx="2670048" cy="274320"/>
          </a:xfrm>
          <a:prstGeom prst="rect">
            <a:avLst/>
          </a:prstGeom>
          <a:solidFill>
            <a:srgbClr val="E86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06839" y="2103120"/>
            <a:ext cx="2670048" cy="36576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FFFFFF"/>
                </a:solidFill>
                <a:latin typeface="Calibri"/>
              </a:rPr>
              <a:t>LOYAL (D30+)</a:t>
            </a:r>
          </a:p>
        </p:txBody>
      </p:sp>
      <p:sp>
        <p:nvSpPr>
          <p:cNvPr id="32" name="TextBox 31"/>
          <p:cNvSpPr txBox="1"/>
          <p:nvPr/>
        </p:nvSpPr>
        <p:spPr>
          <a:xfrm>
            <a:off x="9208007" y="2697480"/>
            <a:ext cx="2331720" cy="2377440"/>
          </a:xfrm>
          <a:prstGeom prst="rect">
            <a:avLst/>
          </a:prstGeom>
          <a:noFill/>
        </p:spPr>
        <p:txBody>
          <a:bodyPr wrap="square" lIns="0" rIns="0" tIns="0" bIns="0">
            <a:spAutoFit/>
          </a:bodyPr>
          <a:lstStyle/>
          <a:p>
            <a:pPr>
              <a:lnSpc>
                <a:spcPct val="104000"/>
              </a:lnSpc>
              <a:spcAft>
                <a:spcPts val="600"/>
              </a:spcAft>
            </a:pPr>
            <a:r>
              <a:rPr sz="1030" b="1">
                <a:solidFill>
                  <a:srgbClr val="E86A5C"/>
                </a:solidFill>
                <a:latin typeface="Calibri"/>
              </a:rPr>
              <a:t>▸  </a:t>
            </a:r>
            <a:r>
              <a:rPr sz="1030">
                <a:solidFill>
                  <a:srgbClr val="1A2A33"/>
                </a:solidFill>
                <a:latin typeface="Calibri"/>
              </a:rPr>
              <a:t>Referral rewards</a:t>
            </a:r>
          </a:p>
          <a:p>
            <a:pPr>
              <a:lnSpc>
                <a:spcPct val="104000"/>
              </a:lnSpc>
              <a:spcAft>
                <a:spcPts val="600"/>
              </a:spcAft>
            </a:pPr>
            <a:r>
              <a:rPr sz="1030" b="1">
                <a:solidFill>
                  <a:srgbClr val="E86A5C"/>
                </a:solidFill>
                <a:latin typeface="Calibri"/>
              </a:rPr>
              <a:t>▸  </a:t>
            </a:r>
            <a:r>
              <a:rPr sz="1030">
                <a:solidFill>
                  <a:srgbClr val="1A2A33"/>
                </a:solidFill>
                <a:latin typeface="Calibri"/>
              </a:rPr>
              <a:t>Premium perks &amp; streaks</a:t>
            </a:r>
          </a:p>
          <a:p>
            <a:pPr>
              <a:lnSpc>
                <a:spcPct val="104000"/>
              </a:lnSpc>
              <a:spcAft>
                <a:spcPts val="600"/>
              </a:spcAft>
            </a:pPr>
            <a:r>
              <a:rPr sz="1030" b="1">
                <a:solidFill>
                  <a:srgbClr val="E86A5C"/>
                </a:solidFill>
                <a:latin typeface="Calibri"/>
              </a:rPr>
              <a:t>▸  </a:t>
            </a:r>
            <a:r>
              <a:rPr sz="1030">
                <a:solidFill>
                  <a:srgbClr val="1A2A33"/>
                </a:solidFill>
                <a:latin typeface="Calibri"/>
              </a:rPr>
              <a:t>Milestone celebrations</a:t>
            </a:r>
          </a:p>
          <a:p>
            <a:pPr>
              <a:lnSpc>
                <a:spcPct val="104000"/>
              </a:lnSpc>
              <a:spcAft>
                <a:spcPts val="600"/>
              </a:spcAft>
            </a:pPr>
            <a:r>
              <a:rPr sz="1030" b="1">
                <a:solidFill>
                  <a:srgbClr val="E86A5C"/>
                </a:solidFill>
                <a:latin typeface="Calibri"/>
              </a:rPr>
              <a:t>▸  </a:t>
            </a:r>
            <a:r>
              <a:rPr sz="1030">
                <a:solidFill>
                  <a:srgbClr val="1A2A33"/>
                </a:solidFill>
                <a:latin typeface="Calibri"/>
              </a:rPr>
              <a:t>Resurrect lapsed via offers</a:t>
            </a:r>
          </a:p>
        </p:txBody>
      </p:sp>
      <p:sp>
        <p:nvSpPr>
          <p:cNvPr id="33" name="Rounded Rectangle 32"/>
          <p:cNvSpPr/>
          <p:nvPr/>
        </p:nvSpPr>
        <p:spPr>
          <a:xfrm>
            <a:off x="640080" y="5440680"/>
            <a:ext cx="10972800" cy="658368"/>
          </a:xfrm>
          <a:prstGeom prst="round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5541264"/>
            <a:ext cx="10607040" cy="45720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B1F3A"/>
                </a:solidFill>
                <a:latin typeface="Calibri"/>
              </a:rPr>
              <a:t>Habit beats willpower:  </a:t>
            </a:r>
            <a:r>
              <a:rPr sz="1250" b="0" i="0">
                <a:solidFill>
                  <a:srgbClr val="FFFFFF"/>
                </a:solidFill>
                <a:latin typeface="Calibri"/>
              </a:rPr>
              <a:t>automation + streaks + community + emotional reward turn a one-time saver into a daily user — moving D30 retention from 18% toward 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CLOSE</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Final Recommendations</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32</a:t>
            </a:r>
          </a:p>
        </p:txBody>
      </p:sp>
      <p:sp>
        <p:nvSpPr>
          <p:cNvPr id="9" name="Rounded Rectangle 8"/>
          <p:cNvSpPr/>
          <p:nvPr/>
        </p:nvSpPr>
        <p:spPr>
          <a:xfrm>
            <a:off x="640080" y="1508760"/>
            <a:ext cx="5349240" cy="12801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1" y="1920240"/>
            <a:ext cx="457200" cy="4572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800" b="1">
                <a:solidFill>
                  <a:srgbClr val="FFFFFF"/>
                </a:solidFill>
                <a:latin typeface="Calibri"/>
              </a:rPr>
              <a:t>1</a:t>
            </a:r>
          </a:p>
        </p:txBody>
      </p:sp>
      <p:sp>
        <p:nvSpPr>
          <p:cNvPr id="11" name="TextBox 10"/>
          <p:cNvSpPr txBox="1"/>
          <p:nvPr/>
        </p:nvSpPr>
        <p:spPr>
          <a:xfrm>
            <a:off x="1417319" y="1655063"/>
            <a:ext cx="4434840" cy="457200"/>
          </a:xfrm>
          <a:prstGeom prst="rect">
            <a:avLst/>
          </a:prstGeom>
          <a:noFill/>
        </p:spPr>
        <p:txBody>
          <a:bodyPr wrap="square" anchor="t" lIns="0" rIns="0" tIns="0" bIns="0">
            <a:spAutoFit/>
          </a:bodyPr>
          <a:lstStyle/>
          <a:p>
            <a:pPr algn="l">
              <a:lnSpc>
                <a:spcPct val="100000"/>
              </a:lnSpc>
              <a:spcBef>
                <a:spcPts val="0"/>
              </a:spcBef>
              <a:spcAft>
                <a:spcPts val="400"/>
              </a:spcAft>
            </a:pPr>
            <a:r>
              <a:rPr sz="1280" b="1" i="0">
                <a:solidFill>
                  <a:srgbClr val="0B1F3A"/>
                </a:solidFill>
                <a:latin typeface="Calibri"/>
              </a:rPr>
              <a:t>Fix the funnel before scaling spend</a:t>
            </a:r>
          </a:p>
        </p:txBody>
      </p:sp>
      <p:sp>
        <p:nvSpPr>
          <p:cNvPr id="12" name="TextBox 11"/>
          <p:cNvSpPr txBox="1"/>
          <p:nvPr/>
        </p:nvSpPr>
        <p:spPr>
          <a:xfrm>
            <a:off x="1417319" y="2075688"/>
            <a:ext cx="4434840" cy="640080"/>
          </a:xfrm>
          <a:prstGeom prst="rect">
            <a:avLst/>
          </a:prstGeom>
          <a:noFill/>
        </p:spPr>
        <p:txBody>
          <a:bodyPr wrap="square" anchor="t" lIns="0" rIns="0" tIns="0" bIns="0">
            <a:spAutoFit/>
          </a:bodyPr>
          <a:lstStyle/>
          <a:p>
            <a:pPr algn="l">
              <a:lnSpc>
                <a:spcPct val="103000"/>
              </a:lnSpc>
              <a:spcBef>
                <a:spcPts val="0"/>
              </a:spcBef>
              <a:spcAft>
                <a:spcPts val="400"/>
              </a:spcAft>
            </a:pPr>
            <a:r>
              <a:rPr sz="1030" b="0" i="0">
                <a:solidFill>
                  <a:srgbClr val="5B6B73"/>
                </a:solidFill>
                <a:latin typeface="Calibri"/>
              </a:rPr>
              <a:t>Prioritise activation (first save) &amp; D30 retention — pour budget into a leaky bucket and CAC stays high.</a:t>
            </a:r>
          </a:p>
        </p:txBody>
      </p:sp>
      <p:sp>
        <p:nvSpPr>
          <p:cNvPr id="13" name="Rounded Rectangle 12"/>
          <p:cNvSpPr/>
          <p:nvPr/>
        </p:nvSpPr>
        <p:spPr>
          <a:xfrm>
            <a:off x="6172200" y="1508760"/>
            <a:ext cx="5349240" cy="12801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36792" y="1920240"/>
            <a:ext cx="457200" cy="457200"/>
          </a:xfrm>
          <a:prstGeom prst="roundRect">
            <a:avLst>
              <a:gd name="adj" fmla="val 3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800" b="1">
                <a:solidFill>
                  <a:srgbClr val="FFFFFF"/>
                </a:solidFill>
                <a:latin typeface="Calibri"/>
              </a:rPr>
              <a:t>2</a:t>
            </a:r>
          </a:p>
        </p:txBody>
      </p:sp>
      <p:sp>
        <p:nvSpPr>
          <p:cNvPr id="15" name="TextBox 14"/>
          <p:cNvSpPr txBox="1"/>
          <p:nvPr/>
        </p:nvSpPr>
        <p:spPr>
          <a:xfrm>
            <a:off x="6949440" y="1655063"/>
            <a:ext cx="4434840" cy="457200"/>
          </a:xfrm>
          <a:prstGeom prst="rect">
            <a:avLst/>
          </a:prstGeom>
          <a:noFill/>
        </p:spPr>
        <p:txBody>
          <a:bodyPr wrap="square" anchor="t" lIns="0" rIns="0" tIns="0" bIns="0">
            <a:spAutoFit/>
          </a:bodyPr>
          <a:lstStyle/>
          <a:p>
            <a:pPr algn="l">
              <a:lnSpc>
                <a:spcPct val="100000"/>
              </a:lnSpc>
              <a:spcBef>
                <a:spcPts val="0"/>
              </a:spcBef>
              <a:spcAft>
                <a:spcPts val="400"/>
              </a:spcAft>
            </a:pPr>
            <a:r>
              <a:rPr sz="1280" b="1" i="0">
                <a:solidFill>
                  <a:srgbClr val="0B1F3A"/>
                </a:solidFill>
                <a:latin typeface="Calibri"/>
              </a:rPr>
              <a:t>Win on trust &amp; habit, not features</a:t>
            </a:r>
          </a:p>
        </p:txBody>
      </p:sp>
      <p:sp>
        <p:nvSpPr>
          <p:cNvPr id="16" name="TextBox 15"/>
          <p:cNvSpPr txBox="1"/>
          <p:nvPr/>
        </p:nvSpPr>
        <p:spPr>
          <a:xfrm>
            <a:off x="6949440" y="2075688"/>
            <a:ext cx="4434840" cy="640080"/>
          </a:xfrm>
          <a:prstGeom prst="rect">
            <a:avLst/>
          </a:prstGeom>
          <a:noFill/>
        </p:spPr>
        <p:txBody>
          <a:bodyPr wrap="square" anchor="t" lIns="0" rIns="0" tIns="0" bIns="0">
            <a:spAutoFit/>
          </a:bodyPr>
          <a:lstStyle/>
          <a:p>
            <a:pPr algn="l">
              <a:lnSpc>
                <a:spcPct val="103000"/>
              </a:lnSpc>
              <a:spcBef>
                <a:spcPts val="0"/>
              </a:spcBef>
              <a:spcAft>
                <a:spcPts val="400"/>
              </a:spcAft>
            </a:pPr>
            <a:r>
              <a:rPr sz="1030" b="0" i="0">
                <a:solidFill>
                  <a:srgbClr val="5B6B73"/>
                </a:solidFill>
                <a:latin typeface="Calibri"/>
              </a:rPr>
              <a:t>Own the 'everyday companion + transparent, insured' narrative no competitor holds.</a:t>
            </a:r>
          </a:p>
        </p:txBody>
      </p:sp>
      <p:sp>
        <p:nvSpPr>
          <p:cNvPr id="17" name="Rounded Rectangle 16"/>
          <p:cNvSpPr/>
          <p:nvPr/>
        </p:nvSpPr>
        <p:spPr>
          <a:xfrm>
            <a:off x="640080" y="2926080"/>
            <a:ext cx="5349240" cy="12801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1" y="3337560"/>
            <a:ext cx="457200" cy="4572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800" b="1">
                <a:solidFill>
                  <a:srgbClr val="FFFFFF"/>
                </a:solidFill>
                <a:latin typeface="Calibri"/>
              </a:rPr>
              <a:t>3</a:t>
            </a:r>
          </a:p>
        </p:txBody>
      </p:sp>
      <p:sp>
        <p:nvSpPr>
          <p:cNvPr id="19" name="TextBox 18"/>
          <p:cNvSpPr txBox="1"/>
          <p:nvPr/>
        </p:nvSpPr>
        <p:spPr>
          <a:xfrm>
            <a:off x="1417319" y="3072384"/>
            <a:ext cx="4434840" cy="457200"/>
          </a:xfrm>
          <a:prstGeom prst="rect">
            <a:avLst/>
          </a:prstGeom>
          <a:noFill/>
        </p:spPr>
        <p:txBody>
          <a:bodyPr wrap="square" anchor="t" lIns="0" rIns="0" tIns="0" bIns="0">
            <a:spAutoFit/>
          </a:bodyPr>
          <a:lstStyle/>
          <a:p>
            <a:pPr algn="l">
              <a:lnSpc>
                <a:spcPct val="100000"/>
              </a:lnSpc>
              <a:spcBef>
                <a:spcPts val="0"/>
              </a:spcBef>
              <a:spcAft>
                <a:spcPts val="400"/>
              </a:spcAft>
            </a:pPr>
            <a:r>
              <a:rPr sz="1280" b="1" i="0">
                <a:solidFill>
                  <a:srgbClr val="0B1F3A"/>
                </a:solidFill>
                <a:latin typeface="Calibri"/>
              </a:rPr>
              <a:t>Spend where it compounds</a:t>
            </a:r>
          </a:p>
        </p:txBody>
      </p:sp>
      <p:sp>
        <p:nvSpPr>
          <p:cNvPr id="20" name="TextBox 19"/>
          <p:cNvSpPr txBox="1"/>
          <p:nvPr/>
        </p:nvSpPr>
        <p:spPr>
          <a:xfrm>
            <a:off x="1417319" y="3493008"/>
            <a:ext cx="4434840" cy="640080"/>
          </a:xfrm>
          <a:prstGeom prst="rect">
            <a:avLst/>
          </a:prstGeom>
          <a:noFill/>
        </p:spPr>
        <p:txBody>
          <a:bodyPr wrap="square" anchor="t" lIns="0" rIns="0" tIns="0" bIns="0">
            <a:spAutoFit/>
          </a:bodyPr>
          <a:lstStyle/>
          <a:p>
            <a:pPr algn="l">
              <a:lnSpc>
                <a:spcPct val="103000"/>
              </a:lnSpc>
              <a:spcBef>
                <a:spcPts val="0"/>
              </a:spcBef>
              <a:spcAft>
                <a:spcPts val="400"/>
              </a:spcAft>
            </a:pPr>
            <a:r>
              <a:rPr sz="1030" b="0" i="0">
                <a:solidFill>
                  <a:srgbClr val="5B6B73"/>
                </a:solidFill>
                <a:latin typeface="Calibri"/>
              </a:rPr>
              <a:t>61% of the ₦12m into referral, influencers, campus &amp; community; paid social as accelerant.</a:t>
            </a:r>
          </a:p>
        </p:txBody>
      </p:sp>
      <p:sp>
        <p:nvSpPr>
          <p:cNvPr id="21" name="Rounded Rectangle 20"/>
          <p:cNvSpPr/>
          <p:nvPr/>
        </p:nvSpPr>
        <p:spPr>
          <a:xfrm>
            <a:off x="6172200" y="2926080"/>
            <a:ext cx="5349240" cy="12801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36792" y="3337560"/>
            <a:ext cx="457200" cy="457200"/>
          </a:xfrm>
          <a:prstGeom prst="roundRect">
            <a:avLst>
              <a:gd name="adj" fmla="val 3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800" b="1">
                <a:solidFill>
                  <a:srgbClr val="FFFFFF"/>
                </a:solidFill>
                <a:latin typeface="Calibri"/>
              </a:rPr>
              <a:t>4</a:t>
            </a:r>
          </a:p>
        </p:txBody>
      </p:sp>
      <p:sp>
        <p:nvSpPr>
          <p:cNvPr id="23" name="TextBox 22"/>
          <p:cNvSpPr txBox="1"/>
          <p:nvPr/>
        </p:nvSpPr>
        <p:spPr>
          <a:xfrm>
            <a:off x="6949440" y="3072384"/>
            <a:ext cx="4434840" cy="457200"/>
          </a:xfrm>
          <a:prstGeom prst="rect">
            <a:avLst/>
          </a:prstGeom>
          <a:noFill/>
        </p:spPr>
        <p:txBody>
          <a:bodyPr wrap="square" anchor="t" lIns="0" rIns="0" tIns="0" bIns="0">
            <a:spAutoFit/>
          </a:bodyPr>
          <a:lstStyle/>
          <a:p>
            <a:pPr algn="l">
              <a:lnSpc>
                <a:spcPct val="100000"/>
              </a:lnSpc>
              <a:spcBef>
                <a:spcPts val="0"/>
              </a:spcBef>
              <a:spcAft>
                <a:spcPts val="400"/>
              </a:spcAft>
            </a:pPr>
            <a:r>
              <a:rPr sz="1280" b="1" i="0">
                <a:solidFill>
                  <a:srgbClr val="0B1F3A"/>
                </a:solidFill>
                <a:latin typeface="Calibri"/>
              </a:rPr>
              <a:t>Make saving social &amp; fun</a:t>
            </a:r>
          </a:p>
        </p:txBody>
      </p:sp>
      <p:sp>
        <p:nvSpPr>
          <p:cNvPr id="24" name="TextBox 23"/>
          <p:cNvSpPr txBox="1"/>
          <p:nvPr/>
        </p:nvSpPr>
        <p:spPr>
          <a:xfrm>
            <a:off x="6949440" y="3493008"/>
            <a:ext cx="4434840" cy="640080"/>
          </a:xfrm>
          <a:prstGeom prst="rect">
            <a:avLst/>
          </a:prstGeom>
          <a:noFill/>
        </p:spPr>
        <p:txBody>
          <a:bodyPr wrap="square" anchor="t" lIns="0" rIns="0" tIns="0" bIns="0">
            <a:spAutoFit/>
          </a:bodyPr>
          <a:lstStyle/>
          <a:p>
            <a:pPr algn="l">
              <a:lnSpc>
                <a:spcPct val="103000"/>
              </a:lnSpc>
              <a:spcBef>
                <a:spcPts val="0"/>
              </a:spcBef>
              <a:spcAft>
                <a:spcPts val="400"/>
              </a:spcAft>
            </a:pPr>
            <a:r>
              <a:rPr sz="1030" b="0" i="0">
                <a:solidFill>
                  <a:srgbClr val="5B6B73"/>
                </a:solidFill>
                <a:latin typeface="Calibri"/>
              </a:rPr>
              <a:t>#MoniChallenge turns a private struggle into a public glow-up — built-in virality.</a:t>
            </a:r>
          </a:p>
        </p:txBody>
      </p:sp>
      <p:sp>
        <p:nvSpPr>
          <p:cNvPr id="25" name="Rounded Rectangle 24"/>
          <p:cNvSpPr/>
          <p:nvPr/>
        </p:nvSpPr>
        <p:spPr>
          <a:xfrm>
            <a:off x="640080" y="4343400"/>
            <a:ext cx="5349240" cy="12801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4671" y="4754880"/>
            <a:ext cx="457200" cy="45720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800" b="1">
                <a:solidFill>
                  <a:srgbClr val="FFFFFF"/>
                </a:solidFill>
                <a:latin typeface="Calibri"/>
              </a:rPr>
              <a:t>5</a:t>
            </a:r>
          </a:p>
        </p:txBody>
      </p:sp>
      <p:sp>
        <p:nvSpPr>
          <p:cNvPr id="27" name="TextBox 26"/>
          <p:cNvSpPr txBox="1"/>
          <p:nvPr/>
        </p:nvSpPr>
        <p:spPr>
          <a:xfrm>
            <a:off x="1417319" y="4489704"/>
            <a:ext cx="4434840" cy="457200"/>
          </a:xfrm>
          <a:prstGeom prst="rect">
            <a:avLst/>
          </a:prstGeom>
          <a:noFill/>
        </p:spPr>
        <p:txBody>
          <a:bodyPr wrap="square" anchor="t" lIns="0" rIns="0" tIns="0" bIns="0">
            <a:spAutoFit/>
          </a:bodyPr>
          <a:lstStyle/>
          <a:p>
            <a:pPr algn="l">
              <a:lnSpc>
                <a:spcPct val="100000"/>
              </a:lnSpc>
              <a:spcBef>
                <a:spcPts val="0"/>
              </a:spcBef>
              <a:spcAft>
                <a:spcPts val="400"/>
              </a:spcAft>
            </a:pPr>
            <a:r>
              <a:rPr sz="1280" b="1" i="0">
                <a:solidFill>
                  <a:srgbClr val="0B1F3A"/>
                </a:solidFill>
                <a:latin typeface="Calibri"/>
              </a:rPr>
              <a:t>Test relentlessly</a:t>
            </a:r>
          </a:p>
        </p:txBody>
      </p:sp>
      <p:sp>
        <p:nvSpPr>
          <p:cNvPr id="28" name="TextBox 27"/>
          <p:cNvSpPr txBox="1"/>
          <p:nvPr/>
        </p:nvSpPr>
        <p:spPr>
          <a:xfrm>
            <a:off x="1417319" y="4910328"/>
            <a:ext cx="4434840" cy="640080"/>
          </a:xfrm>
          <a:prstGeom prst="rect">
            <a:avLst/>
          </a:prstGeom>
          <a:noFill/>
        </p:spPr>
        <p:txBody>
          <a:bodyPr wrap="square" anchor="t" lIns="0" rIns="0" tIns="0" bIns="0">
            <a:spAutoFit/>
          </a:bodyPr>
          <a:lstStyle/>
          <a:p>
            <a:pPr algn="l">
              <a:lnSpc>
                <a:spcPct val="103000"/>
              </a:lnSpc>
              <a:spcBef>
                <a:spcPts val="0"/>
              </a:spcBef>
              <a:spcAft>
                <a:spcPts val="400"/>
              </a:spcAft>
            </a:pPr>
            <a:r>
              <a:rPr sz="1030" b="0" i="0">
                <a:solidFill>
                  <a:srgbClr val="5B6B73"/>
                </a:solidFill>
                <a:latin typeface="Calibri"/>
              </a:rPr>
              <a:t>An always-on A/B engine drives CAC from ₦4,200 toward ₦2,600 through compounding wins.</a:t>
            </a:r>
          </a:p>
        </p:txBody>
      </p:sp>
      <p:sp>
        <p:nvSpPr>
          <p:cNvPr id="29" name="Rounded Rectangle 28"/>
          <p:cNvSpPr/>
          <p:nvPr/>
        </p:nvSpPr>
        <p:spPr>
          <a:xfrm>
            <a:off x="6172200" y="4343400"/>
            <a:ext cx="5349240" cy="128016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36792" y="4754880"/>
            <a:ext cx="457200" cy="457200"/>
          </a:xfrm>
          <a:prstGeom prst="roundRect">
            <a:avLst>
              <a:gd name="adj" fmla="val 3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800" b="1">
                <a:solidFill>
                  <a:srgbClr val="FFFFFF"/>
                </a:solidFill>
                <a:latin typeface="Calibri"/>
              </a:rPr>
              <a:t>6</a:t>
            </a:r>
          </a:p>
        </p:txBody>
      </p:sp>
      <p:sp>
        <p:nvSpPr>
          <p:cNvPr id="31" name="TextBox 30"/>
          <p:cNvSpPr txBox="1"/>
          <p:nvPr/>
        </p:nvSpPr>
        <p:spPr>
          <a:xfrm>
            <a:off x="6949440" y="4489704"/>
            <a:ext cx="4434840" cy="457200"/>
          </a:xfrm>
          <a:prstGeom prst="rect">
            <a:avLst/>
          </a:prstGeom>
          <a:noFill/>
        </p:spPr>
        <p:txBody>
          <a:bodyPr wrap="square" anchor="t" lIns="0" rIns="0" tIns="0" bIns="0">
            <a:spAutoFit/>
          </a:bodyPr>
          <a:lstStyle/>
          <a:p>
            <a:pPr algn="l">
              <a:lnSpc>
                <a:spcPct val="100000"/>
              </a:lnSpc>
              <a:spcBef>
                <a:spcPts val="0"/>
              </a:spcBef>
              <a:spcAft>
                <a:spcPts val="400"/>
              </a:spcAft>
            </a:pPr>
            <a:r>
              <a:rPr sz="1280" b="1" i="0">
                <a:solidFill>
                  <a:srgbClr val="0B1F3A"/>
                </a:solidFill>
                <a:latin typeface="Calibri"/>
              </a:rPr>
              <a:t>Report on what matters</a:t>
            </a:r>
          </a:p>
        </p:txBody>
      </p:sp>
      <p:sp>
        <p:nvSpPr>
          <p:cNvPr id="32" name="TextBox 31"/>
          <p:cNvSpPr txBox="1"/>
          <p:nvPr/>
        </p:nvSpPr>
        <p:spPr>
          <a:xfrm>
            <a:off x="6949440" y="4910328"/>
            <a:ext cx="4434840" cy="640080"/>
          </a:xfrm>
          <a:prstGeom prst="rect">
            <a:avLst/>
          </a:prstGeom>
          <a:noFill/>
        </p:spPr>
        <p:txBody>
          <a:bodyPr wrap="square" anchor="t" lIns="0" rIns="0" tIns="0" bIns="0">
            <a:spAutoFit/>
          </a:bodyPr>
          <a:lstStyle/>
          <a:p>
            <a:pPr algn="l">
              <a:lnSpc>
                <a:spcPct val="103000"/>
              </a:lnSpc>
              <a:spcBef>
                <a:spcPts val="0"/>
              </a:spcBef>
              <a:spcAft>
                <a:spcPts val="400"/>
              </a:spcAft>
            </a:pPr>
            <a:r>
              <a:rPr sz="1030" b="0" i="0">
                <a:solidFill>
                  <a:srgbClr val="5B6B73"/>
                </a:solidFill>
                <a:latin typeface="Calibri"/>
              </a:rPr>
              <a:t>Run the business on activation, retention, referral &amp; LTV:CAC — not vanity installs.</a:t>
            </a:r>
          </a:p>
        </p:txBody>
      </p:sp>
      <p:sp>
        <p:nvSpPr>
          <p:cNvPr id="33" name="TextBox 32"/>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91695" cy="54864"/>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9728" cy="64008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D3A3"/>
                </a:solidFill>
                <a:latin typeface="Calibri"/>
              </a:rPr>
              <a:t>APPENDIX</a:t>
            </a:r>
          </a:p>
        </p:txBody>
      </p:sp>
      <p:sp>
        <p:nvSpPr>
          <p:cNvPr id="7" name="TextBox 6"/>
          <p:cNvSpPr txBox="1"/>
          <p:nvPr/>
        </p:nvSpPr>
        <p:spPr>
          <a:xfrm>
            <a:off x="777240" y="502920"/>
            <a:ext cx="10607040" cy="64008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FFFFFF"/>
                </a:solidFill>
                <a:latin typeface="Calibri"/>
              </a:rPr>
              <a:t>Methodology, Assumptions &amp; Sources</a:t>
            </a:r>
          </a:p>
        </p:txBody>
      </p:sp>
      <p:sp>
        <p:nvSpPr>
          <p:cNvPr id="8" name="TextBox 7"/>
          <p:cNvSpPr txBox="1"/>
          <p:nvPr/>
        </p:nvSpPr>
        <p:spPr>
          <a:xfrm>
            <a:off x="11155680" y="411480"/>
            <a:ext cx="82296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1" i="0">
                <a:solidFill>
                  <a:srgbClr val="5FD3A3"/>
                </a:solidFill>
                <a:latin typeface="Calibri"/>
              </a:rPr>
              <a:t>33</a:t>
            </a:r>
          </a:p>
        </p:txBody>
      </p:sp>
      <p:sp>
        <p:nvSpPr>
          <p:cNvPr id="9" name="Rounded Rectangle 8"/>
          <p:cNvSpPr/>
          <p:nvPr/>
        </p:nvSpPr>
        <p:spPr>
          <a:xfrm>
            <a:off x="640080" y="1463040"/>
            <a:ext cx="5349240" cy="429768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463040"/>
            <a:ext cx="5349240" cy="9144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627632"/>
            <a:ext cx="493776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0A86B"/>
                </a:solidFill>
                <a:latin typeface="Calibri"/>
              </a:rPr>
              <a:t>DATA &amp; ASSUMPTIONS</a:t>
            </a:r>
          </a:p>
        </p:txBody>
      </p:sp>
      <p:sp>
        <p:nvSpPr>
          <p:cNvPr id="12" name="TextBox 11"/>
          <p:cNvSpPr txBox="1"/>
          <p:nvPr/>
        </p:nvSpPr>
        <p:spPr>
          <a:xfrm>
            <a:off x="868680" y="2057400"/>
            <a:ext cx="4937760" cy="3566160"/>
          </a:xfrm>
          <a:prstGeom prst="rect">
            <a:avLst/>
          </a:prstGeom>
          <a:noFill/>
        </p:spPr>
        <p:txBody>
          <a:bodyPr wrap="square" lIns="0" rIns="0" tIns="0" bIns="0">
            <a:spAutoFit/>
          </a:bodyPr>
          <a:lstStyle/>
          <a:p>
            <a:pPr>
              <a:lnSpc>
                <a:spcPct val="104000"/>
              </a:lnSpc>
              <a:spcAft>
                <a:spcPts val="800"/>
              </a:spcAft>
            </a:pPr>
            <a:r>
              <a:rPr sz="1100" b="1">
                <a:solidFill>
                  <a:srgbClr val="00A86B"/>
                </a:solidFill>
                <a:latin typeface="Calibri"/>
              </a:rPr>
              <a:t>▸  </a:t>
            </a:r>
            <a:r>
              <a:rPr sz="1100">
                <a:solidFill>
                  <a:srgbClr val="1A2A33"/>
                </a:solidFill>
                <a:latin typeface="Calibri"/>
              </a:rPr>
              <a:t>Baseline figures (2,350 users, 640 WAU, ₦4,200 CAC, 18% D30, ₦12m budget) are taken directly from the brief.</a:t>
            </a:r>
          </a:p>
          <a:p>
            <a:pPr>
              <a:lnSpc>
                <a:spcPct val="104000"/>
              </a:lnSpc>
              <a:spcAft>
                <a:spcPts val="800"/>
              </a:spcAft>
            </a:pPr>
            <a:r>
              <a:rPr sz="1100" b="1">
                <a:solidFill>
                  <a:srgbClr val="00A86B"/>
                </a:solidFill>
                <a:latin typeface="Calibri"/>
              </a:rPr>
              <a:t>▸  </a:t>
            </a:r>
            <a:r>
              <a:rPr sz="1100">
                <a:solidFill>
                  <a:srgbClr val="1A2A33"/>
                </a:solidFill>
                <a:latin typeface="Calibri"/>
              </a:rPr>
              <a:t>Targets, reach estimates, conversion rates and market-context stats are illustrative planning assumptions, clearly labelled, to be validated with live data post-launch.</a:t>
            </a:r>
          </a:p>
          <a:p>
            <a:pPr>
              <a:lnSpc>
                <a:spcPct val="104000"/>
              </a:lnSpc>
              <a:spcAft>
                <a:spcPts val="800"/>
              </a:spcAft>
            </a:pPr>
            <a:r>
              <a:rPr sz="1100" b="1">
                <a:solidFill>
                  <a:srgbClr val="00A86B"/>
                </a:solidFill>
                <a:latin typeface="Calibri"/>
              </a:rPr>
              <a:t>▸  </a:t>
            </a:r>
            <a:r>
              <a:rPr sz="1100">
                <a:solidFill>
                  <a:srgbClr val="1A2A33"/>
                </a:solidFill>
                <a:latin typeface="Calibri"/>
              </a:rPr>
              <a:t>Budget split is a starting allocation; ~20% is held flexible to shift weekly toward the lowest-CAC channels.</a:t>
            </a:r>
          </a:p>
          <a:p>
            <a:pPr>
              <a:lnSpc>
                <a:spcPct val="104000"/>
              </a:lnSpc>
              <a:spcAft>
                <a:spcPts val="800"/>
              </a:spcAft>
            </a:pPr>
            <a:r>
              <a:rPr sz="1100" b="1">
                <a:solidFill>
                  <a:srgbClr val="00A86B"/>
                </a:solidFill>
                <a:latin typeface="Calibri"/>
              </a:rPr>
              <a:t>▸  </a:t>
            </a:r>
            <a:r>
              <a:rPr sz="1100">
                <a:solidFill>
                  <a:srgbClr val="1A2A33"/>
                </a:solidFill>
                <a:latin typeface="Calibri"/>
              </a:rPr>
              <a:t>Benchmarks (LTV:CAC ≥ 3:1, ~35% retention, K-factor) reflect typical fintech/consumer-app standards.</a:t>
            </a:r>
          </a:p>
        </p:txBody>
      </p:sp>
      <p:sp>
        <p:nvSpPr>
          <p:cNvPr id="13" name="Rounded Rectangle 12"/>
          <p:cNvSpPr/>
          <p:nvPr/>
        </p:nvSpPr>
        <p:spPr>
          <a:xfrm>
            <a:off x="6172200" y="1463040"/>
            <a:ext cx="5394960" cy="4297680"/>
          </a:xfrm>
          <a:prstGeom prst="roundRect">
            <a:avLst>
              <a:gd name="adj" fmla="val 6000"/>
            </a:avLst>
          </a:prstGeom>
          <a:solidFill>
            <a:srgbClr val="FFFFFF"/>
          </a:solidFill>
          <a:ln w="12700">
            <a:solidFill>
              <a:srgbClr val="D9E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63040"/>
            <a:ext cx="5394960" cy="91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627632"/>
            <a:ext cx="50292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B1F3A"/>
                </a:solidFill>
                <a:latin typeface="Calibri"/>
              </a:rPr>
              <a:t>RESEARCH SOURCES (SECONDARY)</a:t>
            </a:r>
          </a:p>
        </p:txBody>
      </p:sp>
      <p:sp>
        <p:nvSpPr>
          <p:cNvPr id="16" name="TextBox 15"/>
          <p:cNvSpPr txBox="1"/>
          <p:nvPr/>
        </p:nvSpPr>
        <p:spPr>
          <a:xfrm>
            <a:off x="6400800" y="2057400"/>
            <a:ext cx="4983480" cy="3566160"/>
          </a:xfrm>
          <a:prstGeom prst="rect">
            <a:avLst/>
          </a:prstGeom>
          <a:noFill/>
        </p:spPr>
        <p:txBody>
          <a:bodyPr wrap="square" lIns="0" rIns="0" tIns="0" bIns="0">
            <a:spAutoFit/>
          </a:bodyPr>
          <a:lstStyle/>
          <a:p>
            <a:pPr>
              <a:lnSpc>
                <a:spcPct val="104000"/>
              </a:lnSpc>
              <a:spcAft>
                <a:spcPts val="700"/>
              </a:spcAft>
            </a:pPr>
            <a:r>
              <a:rPr sz="1100" b="1">
                <a:solidFill>
                  <a:srgbClr val="0B1F3A"/>
                </a:solidFill>
                <a:latin typeface="Calibri"/>
              </a:rPr>
              <a:t>▸  </a:t>
            </a:r>
            <a:r>
              <a:rPr sz="1100">
                <a:solidFill>
                  <a:srgbClr val="1A2A33"/>
                </a:solidFill>
                <a:latin typeface="Calibri"/>
              </a:rPr>
              <a:t>EFInA Access to Financial Services in Nigeria surveys</a:t>
            </a:r>
          </a:p>
          <a:p>
            <a:pPr>
              <a:lnSpc>
                <a:spcPct val="104000"/>
              </a:lnSpc>
              <a:spcAft>
                <a:spcPts val="700"/>
              </a:spcAft>
            </a:pPr>
            <a:r>
              <a:rPr sz="1100" b="1">
                <a:solidFill>
                  <a:srgbClr val="0B1F3A"/>
                </a:solidFill>
                <a:latin typeface="Calibri"/>
              </a:rPr>
              <a:t>▸  </a:t>
            </a:r>
            <a:r>
              <a:rPr sz="1100">
                <a:solidFill>
                  <a:srgbClr val="1A2A33"/>
                </a:solidFill>
                <a:latin typeface="Calibri"/>
              </a:rPr>
              <a:t>Central Bank of Nigeria (CBN) financial-inclusion data</a:t>
            </a:r>
          </a:p>
          <a:p>
            <a:pPr>
              <a:lnSpc>
                <a:spcPct val="104000"/>
              </a:lnSpc>
              <a:spcAft>
                <a:spcPts val="700"/>
              </a:spcAft>
            </a:pPr>
            <a:r>
              <a:rPr sz="1100" b="1">
                <a:solidFill>
                  <a:srgbClr val="0B1F3A"/>
                </a:solidFill>
                <a:latin typeface="Calibri"/>
              </a:rPr>
              <a:t>▸  </a:t>
            </a:r>
            <a:r>
              <a:rPr sz="1100">
                <a:solidFill>
                  <a:srgbClr val="1A2A33"/>
                </a:solidFill>
                <a:latin typeface="Calibri"/>
              </a:rPr>
              <a:t>National Bureau of Statistics (NBS) — youth &amp; income data</a:t>
            </a:r>
          </a:p>
          <a:p>
            <a:pPr>
              <a:lnSpc>
                <a:spcPct val="104000"/>
              </a:lnSpc>
              <a:spcAft>
                <a:spcPts val="700"/>
              </a:spcAft>
            </a:pPr>
            <a:r>
              <a:rPr sz="1100" b="1">
                <a:solidFill>
                  <a:srgbClr val="0B1F3A"/>
                </a:solidFill>
                <a:latin typeface="Calibri"/>
              </a:rPr>
              <a:t>▸  </a:t>
            </a:r>
            <a:r>
              <a:rPr sz="1100">
                <a:solidFill>
                  <a:srgbClr val="1A2A33"/>
                </a:solidFill>
                <a:latin typeface="Calibri"/>
              </a:rPr>
              <a:t>GSMA State of Mobile Money in Sub-Saharan Africa</a:t>
            </a:r>
          </a:p>
          <a:p>
            <a:pPr>
              <a:lnSpc>
                <a:spcPct val="104000"/>
              </a:lnSpc>
              <a:spcAft>
                <a:spcPts val="700"/>
              </a:spcAft>
            </a:pPr>
            <a:r>
              <a:rPr sz="1100" b="1">
                <a:solidFill>
                  <a:srgbClr val="0B1F3A"/>
                </a:solidFill>
                <a:latin typeface="Calibri"/>
              </a:rPr>
              <a:t>▸  </a:t>
            </a:r>
            <a:r>
              <a:rPr sz="1100">
                <a:solidFill>
                  <a:srgbClr val="1A2A33"/>
                </a:solidFill>
                <a:latin typeface="Calibri"/>
              </a:rPr>
              <a:t>Disrupt Africa &amp; TechCabal Nigerian fintech reporting</a:t>
            </a:r>
          </a:p>
          <a:p>
            <a:pPr>
              <a:lnSpc>
                <a:spcPct val="104000"/>
              </a:lnSpc>
              <a:spcAft>
                <a:spcPts val="700"/>
              </a:spcAft>
            </a:pPr>
            <a:r>
              <a:rPr sz="1100" b="1">
                <a:solidFill>
                  <a:srgbClr val="0B1F3A"/>
                </a:solidFill>
                <a:latin typeface="Calibri"/>
              </a:rPr>
              <a:t>▸  </a:t>
            </a:r>
            <a:r>
              <a:rPr sz="1100">
                <a:solidFill>
                  <a:srgbClr val="1A2A33"/>
                </a:solidFill>
                <a:latin typeface="Calibri"/>
              </a:rPr>
              <a:t>Public competitor app-store reviews &amp; social listening</a:t>
            </a:r>
          </a:p>
          <a:p>
            <a:pPr>
              <a:lnSpc>
                <a:spcPct val="104000"/>
              </a:lnSpc>
              <a:spcAft>
                <a:spcPts val="700"/>
              </a:spcAft>
            </a:pPr>
            <a:r>
              <a:rPr sz="1100" b="1">
                <a:solidFill>
                  <a:srgbClr val="0B1F3A"/>
                </a:solidFill>
                <a:latin typeface="Calibri"/>
              </a:rPr>
              <a:t>▸  </a:t>
            </a:r>
            <a:r>
              <a:rPr sz="1100">
                <a:solidFill>
                  <a:srgbClr val="1A2A33"/>
                </a:solidFill>
                <a:latin typeface="Calibri"/>
              </a:rPr>
              <a:t>Google Trends, TikTok &amp; X trend data</a:t>
            </a:r>
          </a:p>
        </p:txBody>
      </p:sp>
      <p:sp>
        <p:nvSpPr>
          <p:cNvPr id="17" name="TextBox 16"/>
          <p:cNvSpPr txBox="1"/>
          <p:nvPr/>
        </p:nvSpPr>
        <p:spPr>
          <a:xfrm>
            <a:off x="640080" y="5943600"/>
            <a:ext cx="109728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A86B"/>
                </a:solidFill>
                <a:latin typeface="Calibri"/>
              </a:rPr>
              <a:t>Note:  </a:t>
            </a:r>
            <a:r>
              <a:rPr sz="1150" b="0" i="1">
                <a:solidFill>
                  <a:srgbClr val="5B6B73"/>
                </a:solidFill>
                <a:latin typeface="Calibri"/>
              </a:rPr>
              <a:t>AI tools assisted research and ideation; the strategic framework, prioritisation and creative direction are original to this submission.</a:t>
            </a:r>
          </a:p>
        </p:txBody>
      </p:sp>
      <p:sp>
        <p:nvSpPr>
          <p:cNvPr id="18" name="TextBox 1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5B6B73"/>
                </a:solidFill>
                <a:latin typeface="Calibri"/>
              </a:rPr>
              <a:t>Moni  |  The everyday money companion for ambitious young Nigerians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686800" y="-2011680"/>
            <a:ext cx="5943600" cy="5943600"/>
          </a:xfrm>
          <a:prstGeom prst="ellipse">
            <a:avLst/>
          </a:prstGeom>
          <a:solidFill>
            <a:srgbClr val="1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286000"/>
            <a:ext cx="164592" cy="2103120"/>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88720" y="2240280"/>
            <a:ext cx="1371600" cy="548640"/>
          </a:xfrm>
          <a:prstGeom prst="roundRect">
            <a:avLst>
              <a:gd name="adj" fmla="val 35000"/>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2200" b="1">
                <a:solidFill>
                  <a:srgbClr val="FFFFFF"/>
                </a:solidFill>
                <a:latin typeface="Calibri"/>
              </a:rPr>
              <a:t>moni</a:t>
            </a:r>
          </a:p>
        </p:txBody>
      </p:sp>
      <p:sp>
        <p:nvSpPr>
          <p:cNvPr id="7" name="TextBox 6"/>
          <p:cNvSpPr txBox="1"/>
          <p:nvPr/>
        </p:nvSpPr>
        <p:spPr>
          <a:xfrm>
            <a:off x="1188720" y="2971800"/>
            <a:ext cx="9601200" cy="914400"/>
          </a:xfrm>
          <a:prstGeom prst="rect">
            <a:avLst/>
          </a:prstGeom>
          <a:noFill/>
        </p:spPr>
        <p:txBody>
          <a:bodyPr wrap="square" anchor="t" lIns="0" rIns="0" tIns="0" bIns="0">
            <a:spAutoFit/>
          </a:bodyPr>
          <a:lstStyle/>
          <a:p>
            <a:pPr algn="l">
              <a:lnSpc>
                <a:spcPct val="100000"/>
              </a:lnSpc>
              <a:spcBef>
                <a:spcPts val="0"/>
              </a:spcBef>
              <a:spcAft>
                <a:spcPts val="400"/>
              </a:spcAft>
            </a:pPr>
            <a:r>
              <a:rPr sz="4600" b="1" i="0">
                <a:solidFill>
                  <a:srgbClr val="FFFFFF"/>
                </a:solidFill>
                <a:latin typeface="Calibri"/>
              </a:rPr>
              <a:t>Thank You.</a:t>
            </a:r>
          </a:p>
        </p:txBody>
      </p:sp>
      <p:sp>
        <p:nvSpPr>
          <p:cNvPr id="8" name="TextBox 7"/>
          <p:cNvSpPr txBox="1"/>
          <p:nvPr/>
        </p:nvSpPr>
        <p:spPr>
          <a:xfrm>
            <a:off x="1216152" y="3977639"/>
            <a:ext cx="9601200" cy="457200"/>
          </a:xfrm>
          <a:prstGeom prst="rect">
            <a:avLst/>
          </a:prstGeom>
          <a:noFill/>
        </p:spPr>
        <p:txBody>
          <a:bodyPr wrap="square" anchor="t" lIns="0" rIns="0" tIns="0" bIns="0">
            <a:spAutoFit/>
          </a:bodyPr>
          <a:lstStyle/>
          <a:p>
            <a:pPr algn="l">
              <a:lnSpc>
                <a:spcPct val="100000"/>
              </a:lnSpc>
              <a:spcBef>
                <a:spcPts val="0"/>
              </a:spcBef>
              <a:spcAft>
                <a:spcPts val="400"/>
              </a:spcAft>
            </a:pPr>
            <a:r>
              <a:rPr sz="1600" b="0" i="1">
                <a:solidFill>
                  <a:srgbClr val="5FD3A3"/>
                </a:solidFill>
                <a:latin typeface="Calibri"/>
              </a:rPr>
              <a:t>“Moni Don Set You.”  The everyday money companion for ambitious young Nigerians.</a:t>
            </a:r>
          </a:p>
        </p:txBody>
      </p:sp>
      <p:sp>
        <p:nvSpPr>
          <p:cNvPr id="9" name="Rectangle 8"/>
          <p:cNvSpPr/>
          <p:nvPr/>
        </p:nvSpPr>
        <p:spPr>
          <a:xfrm>
            <a:off x="1216152" y="4709160"/>
            <a:ext cx="5029200" cy="18288"/>
          </a:xfrm>
          <a:prstGeom prst="rect">
            <a:avLst/>
          </a:prstGeom>
          <a:solidFill>
            <a:srgbClr val="00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6152" y="4892040"/>
            <a:ext cx="10058400" cy="9144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FFFFFF"/>
                </a:solidFill>
                <a:latin typeface="Calibri"/>
              </a:rPr>
              <a:t>Samuel Oluwafemi Afariogun</a:t>
            </a:r>
          </a:p>
          <a:p>
            <a:pPr algn="l">
              <a:lnSpc>
                <a:spcPct val="100000"/>
              </a:lnSpc>
              <a:spcBef>
                <a:spcPts val="0"/>
              </a:spcBef>
              <a:spcAft>
                <a:spcPts val="400"/>
              </a:spcAft>
            </a:pPr>
            <a:r>
              <a:rPr sz="1250" b="0" i="0">
                <a:solidFill>
                  <a:srgbClr val="D9E0DF"/>
                </a:solidFill>
                <a:latin typeface="Calibri"/>
              </a:rPr>
              <a:t>Product Marketing Consultant  ·  AltSchool of Product Marketing, Karatu 2025</a:t>
            </a:r>
          </a:p>
          <a:p>
            <a:pPr algn="l">
              <a:lnSpc>
                <a:spcPct val="100000"/>
              </a:lnSpc>
              <a:spcBef>
                <a:spcPts val="0"/>
              </a:spcBef>
              <a:spcAft>
                <a:spcPts val="400"/>
              </a:spcAft>
            </a:pPr>
            <a:r>
              <a:rPr sz="1150" b="0" i="0">
                <a:solidFill>
                  <a:srgbClr val="5FD3A3"/>
                </a:solidFill>
                <a:latin typeface="Calibri"/>
              </a:rPr>
              <a:t>Capstone Final Assessment  ·  60 Marks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